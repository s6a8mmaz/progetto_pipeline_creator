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72" r:id="rId4"/>
    <p:sldId id="276" r:id="rId5"/>
    <p:sldId id="273" r:id="rId6"/>
    <p:sldId id="259" r:id="rId7"/>
    <p:sldId id="260" r:id="rId8"/>
    <p:sldId id="261" r:id="rId9"/>
    <p:sldId id="264" r:id="rId10"/>
    <p:sldId id="271" r:id="rId11"/>
    <p:sldId id="265" r:id="rId12"/>
    <p:sldId id="266" r:id="rId13"/>
    <p:sldId id="269" r:id="rId14"/>
    <p:sldId id="270" r:id="rId1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501B"/>
    <a:srgbClr val="FFFFFF"/>
    <a:srgbClr val="4FB5E3"/>
    <a:srgbClr val="215F9A"/>
    <a:srgbClr val="C00000"/>
    <a:srgbClr val="FFC000"/>
    <a:srgbClr val="000000"/>
    <a:srgbClr val="E9EDF4"/>
    <a:srgbClr val="FAF3E8"/>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68627" autoAdjust="0"/>
  </p:normalViewPr>
  <p:slideViewPr>
    <p:cSldViewPr snapToGrid="0">
      <p:cViewPr varScale="1">
        <p:scale>
          <a:sx n="76" d="100"/>
          <a:sy n="76" d="100"/>
        </p:scale>
        <p:origin x="196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FC0B8-3B40-4AD2-845E-69FE739A8E95}" type="datetimeFigureOut">
              <a:rPr lang="it-IT" smtClean="0"/>
              <a:t>03/06/2026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7E117-EBF1-460D-8248-BB8B63D5F63B}" type="slidenum">
              <a:rPr lang="it-IT" smtClean="0"/>
              <a:t>‹N›</a:t>
            </a:fld>
            <a:endParaRPr lang="it-IT"/>
          </a:p>
        </p:txBody>
      </p:sp>
    </p:spTree>
    <p:extLst>
      <p:ext uri="{BB962C8B-B14F-4D97-AF65-F5344CB8AC3E}">
        <p14:creationId xmlns:p14="http://schemas.microsoft.com/office/powerpoint/2010/main" val="228491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dirty="0"/>
              <a:t>Questo progetto ha avuto il principale obbiettivo di progettare e sviluppare un sistema software finalizzato a supportare la costruzione guidata di pipeline di processamento dei dati.  </a:t>
            </a:r>
          </a:p>
          <a:p>
            <a:r>
              <a:rPr lang="it-IT" sz="1200" dirty="0"/>
              <a:t>In particolare, i requisiti che si sono ricercati sono:</a:t>
            </a:r>
          </a:p>
          <a:p>
            <a:r>
              <a:rPr lang="it-IT" sz="1200" dirty="0"/>
              <a:t>- Inizialmente, la definizione di un modello astratto </a:t>
            </a:r>
          </a:p>
          <a:p>
            <a:r>
              <a:rPr lang="it-IT" sz="1200" dirty="0"/>
              <a:t>- Poi l’implementazione di un’architettura software in grado di:</a:t>
            </a:r>
          </a:p>
          <a:p>
            <a:r>
              <a:rPr lang="it-IT" sz="1200" dirty="0"/>
              <a:t>	- garantire la coerenza strutturale delle pipeline;</a:t>
            </a:r>
          </a:p>
          <a:p>
            <a:r>
              <a:rPr lang="it-IT" sz="1200" dirty="0"/>
              <a:t>	- guidare l’utente durante il processo di composizione; </a:t>
            </a:r>
          </a:p>
          <a:p>
            <a:r>
              <a:rPr lang="it-IT" sz="1200" dirty="0"/>
              <a:t>	- favorire il riutilizzo degli già elementi. </a:t>
            </a:r>
          </a:p>
        </p:txBody>
      </p:sp>
      <p:sp>
        <p:nvSpPr>
          <p:cNvPr id="4" name="Segnaposto numero diapositiva 3"/>
          <p:cNvSpPr>
            <a:spLocks noGrp="1"/>
          </p:cNvSpPr>
          <p:nvPr>
            <p:ph type="sldNum" sz="quarter" idx="5"/>
          </p:nvPr>
        </p:nvSpPr>
        <p:spPr/>
        <p:txBody>
          <a:bodyPr/>
          <a:lstStyle/>
          <a:p>
            <a:fld id="{7417E117-EBF1-460D-8248-BB8B63D5F63B}" type="slidenum">
              <a:rPr lang="it-IT" smtClean="0"/>
              <a:t>2</a:t>
            </a:fld>
            <a:endParaRPr lang="it-IT"/>
          </a:p>
        </p:txBody>
      </p:sp>
    </p:spTree>
    <p:extLst>
      <p:ext uri="{BB962C8B-B14F-4D97-AF65-F5344CB8AC3E}">
        <p14:creationId xmlns:p14="http://schemas.microsoft.com/office/powerpoint/2010/main" val="163579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218FC-1927-8551-7053-F393C81E74E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4829AEE-D3D4-44AE-782D-7469328511BF}"/>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742F8D1-42BB-FABC-D6A4-BC7FAB0766E5}"/>
              </a:ext>
            </a:extLst>
          </p:cNvPr>
          <p:cNvSpPr>
            <a:spLocks noGrp="1"/>
          </p:cNvSpPr>
          <p:nvPr>
            <p:ph type="body" idx="1"/>
          </p:nvPr>
        </p:nvSpPr>
        <p:spPr/>
        <p:txBody>
          <a:bodyPr/>
          <a:lstStyle/>
          <a:p>
            <a:r>
              <a:rPr lang="it-IT" sz="1200" dirty="0"/>
              <a:t>Per quello che riguarda il modello, il sistema introduce 4 entità fondamentali: </a:t>
            </a:r>
          </a:p>
          <a:p>
            <a:r>
              <a:rPr lang="it-IT" sz="1200" dirty="0"/>
              <a:t>• </a:t>
            </a:r>
            <a:r>
              <a:rPr lang="it-IT" sz="1200" dirty="0" err="1"/>
              <a:t>Context</a:t>
            </a:r>
            <a:r>
              <a:rPr lang="it-IT" sz="1200" dirty="0"/>
              <a:t>, che rappresenta l’ambiente logico di organizzazione e riutilizzo degli elementi (il contesto). </a:t>
            </a:r>
          </a:p>
          <a:p>
            <a:r>
              <a:rPr lang="it-IT" sz="1200" dirty="0"/>
              <a:t>• ObjectType, che rappresenta i tipi di dato. </a:t>
            </a:r>
          </a:p>
          <a:p>
            <a:r>
              <a:rPr lang="it-IT" sz="1200" dirty="0"/>
              <a:t>• </a:t>
            </a:r>
            <a:r>
              <a:rPr lang="it-IT" sz="1200" dirty="0" err="1"/>
              <a:t>Algorithm</a:t>
            </a:r>
            <a:r>
              <a:rPr lang="it-IT" sz="1200" dirty="0"/>
              <a:t>, che rappresenta le trasformazioni tra tipi di dato. </a:t>
            </a:r>
          </a:p>
          <a:p>
            <a:r>
              <a:rPr lang="it-IT" sz="1200" dirty="0"/>
              <a:t>• Pipeline, che rappresenta una sequenza ordinata di trasformazioni. </a:t>
            </a:r>
          </a:p>
          <a:p>
            <a:endParaRPr lang="it-IT" sz="1200" dirty="0"/>
          </a:p>
          <a:p>
            <a:r>
              <a:rPr lang="it-IT" sz="1200" dirty="0"/>
              <a:t>Tra queste entità, il concetto di contesto riveste un ruolo centrale dell’architettura del sistema, perchè i contesti sono organizzati in forma gerarchica e consentono di definire ambienti logici distinti all’interno dei quali vengono gestite le altre entità. </a:t>
            </a:r>
          </a:p>
        </p:txBody>
      </p:sp>
      <p:sp>
        <p:nvSpPr>
          <p:cNvPr id="4" name="Segnaposto numero diapositiva 3">
            <a:extLst>
              <a:ext uri="{FF2B5EF4-FFF2-40B4-BE49-F238E27FC236}">
                <a16:creationId xmlns:a16="http://schemas.microsoft.com/office/drawing/2014/main" id="{22BC4F35-D1AC-4344-6FD5-F86980BF12CA}"/>
              </a:ext>
            </a:extLst>
          </p:cNvPr>
          <p:cNvSpPr>
            <a:spLocks noGrp="1"/>
          </p:cNvSpPr>
          <p:nvPr>
            <p:ph type="sldNum" sz="quarter" idx="5"/>
          </p:nvPr>
        </p:nvSpPr>
        <p:spPr/>
        <p:txBody>
          <a:bodyPr/>
          <a:lstStyle/>
          <a:p>
            <a:fld id="{7417E117-EBF1-460D-8248-BB8B63D5F63B}" type="slidenum">
              <a:rPr lang="it-IT" smtClean="0"/>
              <a:t>3</a:t>
            </a:fld>
            <a:endParaRPr lang="it-IT"/>
          </a:p>
        </p:txBody>
      </p:sp>
    </p:spTree>
    <p:extLst>
      <p:ext uri="{BB962C8B-B14F-4D97-AF65-F5344CB8AC3E}">
        <p14:creationId xmlns:p14="http://schemas.microsoft.com/office/powerpoint/2010/main" val="2396900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E649C-0326-FEF1-430E-360C38EAFCB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DE4BD6-BE4A-BEE2-474A-410CE7EE170E}"/>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D88C1D3F-6BFB-50DD-5B81-D95DE3D5C41E}"/>
              </a:ext>
            </a:extLst>
          </p:cNvPr>
          <p:cNvSpPr>
            <a:spLocks noGrp="1"/>
          </p:cNvSpPr>
          <p:nvPr>
            <p:ph type="body" idx="1"/>
          </p:nvPr>
        </p:nvSpPr>
        <p:spPr/>
        <p:txBody>
          <a:bodyPr/>
          <a:lstStyle/>
          <a:p>
            <a:r>
              <a:rPr lang="it-IT" sz="1200" dirty="0"/>
              <a:t>Per quello che riguarda il modello, il sistema introduce 4 entità fondamentali: </a:t>
            </a:r>
          </a:p>
          <a:p>
            <a:r>
              <a:rPr lang="it-IT" sz="1200" dirty="0"/>
              <a:t>• </a:t>
            </a:r>
            <a:r>
              <a:rPr lang="it-IT" sz="1200" dirty="0" err="1"/>
              <a:t>Context</a:t>
            </a:r>
            <a:r>
              <a:rPr lang="it-IT" sz="1200" dirty="0"/>
              <a:t>, che rappresenta l’ambiente logico di organizzazione e riutilizzo degli elementi (il contesto). </a:t>
            </a:r>
          </a:p>
          <a:p>
            <a:r>
              <a:rPr lang="it-IT" sz="1200" dirty="0"/>
              <a:t>• ObjectType, che rappresenta i tipi di dato. </a:t>
            </a:r>
          </a:p>
          <a:p>
            <a:r>
              <a:rPr lang="it-IT" sz="1200" dirty="0"/>
              <a:t>• </a:t>
            </a:r>
            <a:r>
              <a:rPr lang="it-IT" sz="1200" dirty="0" err="1"/>
              <a:t>Algorithm</a:t>
            </a:r>
            <a:r>
              <a:rPr lang="it-IT" sz="1200" dirty="0"/>
              <a:t>, che rappresenta le trasformazioni tra tipi di dato. </a:t>
            </a:r>
          </a:p>
          <a:p>
            <a:r>
              <a:rPr lang="it-IT" sz="1200" dirty="0"/>
              <a:t>• Pipeline, che rappresenta una sequenza ordinata di trasformazioni. </a:t>
            </a:r>
          </a:p>
          <a:p>
            <a:endParaRPr lang="it-IT" sz="1200" dirty="0"/>
          </a:p>
          <a:p>
            <a:r>
              <a:rPr lang="it-IT" sz="1200" dirty="0"/>
              <a:t>Tra queste entità, il concetto di contesto riveste un ruolo centrale dell’architettura del sistema, perchè i contesti sono organizzati in forma gerarchica e consentono di definire ambienti logici distinti all’interno dei quali vengono gestite le altre entità. </a:t>
            </a:r>
          </a:p>
        </p:txBody>
      </p:sp>
      <p:sp>
        <p:nvSpPr>
          <p:cNvPr id="4" name="Segnaposto numero diapositiva 3">
            <a:extLst>
              <a:ext uri="{FF2B5EF4-FFF2-40B4-BE49-F238E27FC236}">
                <a16:creationId xmlns:a16="http://schemas.microsoft.com/office/drawing/2014/main" id="{E1CCDFB0-FA77-C98D-964F-E3B9BE0BA9AC}"/>
              </a:ext>
            </a:extLst>
          </p:cNvPr>
          <p:cNvSpPr>
            <a:spLocks noGrp="1"/>
          </p:cNvSpPr>
          <p:nvPr>
            <p:ph type="sldNum" sz="quarter" idx="5"/>
          </p:nvPr>
        </p:nvSpPr>
        <p:spPr/>
        <p:txBody>
          <a:bodyPr/>
          <a:lstStyle/>
          <a:p>
            <a:fld id="{7417E117-EBF1-460D-8248-BB8B63D5F63B}" type="slidenum">
              <a:rPr lang="it-IT" smtClean="0"/>
              <a:t>4</a:t>
            </a:fld>
            <a:endParaRPr lang="it-IT"/>
          </a:p>
        </p:txBody>
      </p:sp>
    </p:spTree>
    <p:extLst>
      <p:ext uri="{BB962C8B-B14F-4D97-AF65-F5344CB8AC3E}">
        <p14:creationId xmlns:p14="http://schemas.microsoft.com/office/powerpoint/2010/main" val="2133859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B02B3-18BC-7F34-E884-0CDA56148FF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F68D2D9-389A-97F0-4F54-C0B66F26C050}"/>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54F70A86-5B9F-A8CC-9CE1-89C646ABB3BC}"/>
              </a:ext>
            </a:extLst>
          </p:cNvPr>
          <p:cNvSpPr>
            <a:spLocks noGrp="1"/>
          </p:cNvSpPr>
          <p:nvPr>
            <p:ph type="body" idx="1"/>
          </p:nvPr>
        </p:nvSpPr>
        <p:spPr/>
        <p:txBody>
          <a:bodyPr/>
          <a:lstStyle/>
          <a:p>
            <a:r>
              <a:rPr lang="it-IT" sz="1200" dirty="0"/>
              <a:t>Dal punto di vista concettuale, il modello adottato costruisce dei grafi orientati, in cui i nodi corrispondono ai tipi di dato (ObjectType), gli archi alle trasformazioni (</a:t>
            </a:r>
            <a:r>
              <a:rPr lang="it-IT" sz="1200" dirty="0" err="1"/>
              <a:t>Algorithm</a:t>
            </a:r>
            <a:r>
              <a:rPr lang="it-IT" sz="1200" dirty="0"/>
              <a:t>) e le pipeline a un percorso valido all’interno di tale grafo. </a:t>
            </a:r>
          </a:p>
          <a:p>
            <a:r>
              <a:rPr lang="it-IT" sz="1200" dirty="0"/>
              <a:t>Su questo modello vengono definiti meccanismi di validazione che consentono di garantire la compatibilità tra input e output dei diversi step, evitando la costruzione di pipeline non corrette.</a:t>
            </a:r>
          </a:p>
          <a:p>
            <a:endParaRPr lang="it-IT" dirty="0"/>
          </a:p>
        </p:txBody>
      </p:sp>
      <p:sp>
        <p:nvSpPr>
          <p:cNvPr id="4" name="Segnaposto numero diapositiva 3">
            <a:extLst>
              <a:ext uri="{FF2B5EF4-FFF2-40B4-BE49-F238E27FC236}">
                <a16:creationId xmlns:a16="http://schemas.microsoft.com/office/drawing/2014/main" id="{CE6C159C-5AC9-3E21-8EA8-7467778087CA}"/>
              </a:ext>
            </a:extLst>
          </p:cNvPr>
          <p:cNvSpPr>
            <a:spLocks noGrp="1"/>
          </p:cNvSpPr>
          <p:nvPr>
            <p:ph type="sldNum" sz="quarter" idx="5"/>
          </p:nvPr>
        </p:nvSpPr>
        <p:spPr/>
        <p:txBody>
          <a:bodyPr/>
          <a:lstStyle/>
          <a:p>
            <a:fld id="{7417E117-EBF1-460D-8248-BB8B63D5F63B}" type="slidenum">
              <a:rPr lang="it-IT" smtClean="0"/>
              <a:t>5</a:t>
            </a:fld>
            <a:endParaRPr lang="it-IT"/>
          </a:p>
        </p:txBody>
      </p:sp>
    </p:spTree>
    <p:extLst>
      <p:ext uri="{BB962C8B-B14F-4D97-AF65-F5344CB8AC3E}">
        <p14:creationId xmlns:p14="http://schemas.microsoft.com/office/powerpoint/2010/main" val="2492298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b="0" dirty="0"/>
              <a:t>Dal punto di vista delle tecnologie, il sistema è stato sviluppato utilizzando tecnologie Python: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0" dirty="0" err="1"/>
              <a:t>Streamlit</a:t>
            </a:r>
            <a:r>
              <a:rPr lang="it-IT" b="0" dirty="0"/>
              <a:t> </a:t>
            </a:r>
            <a:r>
              <a:rPr lang="it-IT" dirty="0"/>
              <a:t>per lo sviluppo dell’interfaccia utente.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0" dirty="0" err="1"/>
              <a:t>FastAPI</a:t>
            </a:r>
            <a:r>
              <a:rPr lang="it-IT" b="0" dirty="0"/>
              <a:t> per la realizzazione del </a:t>
            </a:r>
            <a:r>
              <a:rPr lang="it-IT" b="0" dirty="0" err="1"/>
              <a:t>backend</a:t>
            </a:r>
            <a:r>
              <a:rPr lang="it-IT" b="0" dirty="0"/>
              <a:t> e l’esposizione delle API REST </a:t>
            </a:r>
            <a:r>
              <a:rPr lang="it-IT" b="0" dirty="0">
                <a:sym typeface="Wingdings" panose="05000000000000000000" pitchFamily="2" charset="2"/>
              </a:rPr>
              <a:t> per r</a:t>
            </a:r>
            <a:r>
              <a:rPr lang="it-IT" b="0" dirty="0"/>
              <a:t>endere le funzionalità del sistema accessibili in modo strutturato e indipendente dall’interfaccia utente.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0" dirty="0" err="1"/>
              <a:t>SQLAlchemy</a:t>
            </a:r>
            <a:r>
              <a:rPr lang="it-IT" b="0" dirty="0"/>
              <a:t>, insieme a </a:t>
            </a:r>
            <a:r>
              <a:rPr lang="it-IT" b="0" dirty="0" err="1"/>
              <a:t>SQLite</a:t>
            </a:r>
            <a:r>
              <a:rPr lang="it-IT" b="0" dirty="0"/>
              <a:t>, per la gestione della persistenza </a:t>
            </a:r>
            <a:r>
              <a:rPr lang="it-IT" b="0" dirty="0">
                <a:sym typeface="Wingdings" panose="05000000000000000000" pitchFamily="2" charset="2"/>
              </a:rPr>
              <a:t></a:t>
            </a:r>
            <a:r>
              <a:rPr lang="it-IT" b="0" dirty="0"/>
              <a:t> </a:t>
            </a:r>
            <a:r>
              <a:rPr lang="it-IT" b="0" dirty="0" err="1"/>
              <a:t>SQLAlchemy</a:t>
            </a:r>
            <a:r>
              <a:rPr lang="it-IT" b="0" dirty="0"/>
              <a:t> consente di lavorare con il database tramite modelli ORM (</a:t>
            </a:r>
            <a:r>
              <a:rPr lang="it-IT" dirty="0"/>
              <a:t>Object-</a:t>
            </a:r>
            <a:r>
              <a:rPr lang="it-IT" dirty="0" err="1"/>
              <a:t>Relational</a:t>
            </a:r>
            <a:r>
              <a:rPr lang="it-IT" dirty="0"/>
              <a:t> Mapper</a:t>
            </a:r>
            <a:r>
              <a:rPr lang="it-IT" b="0" dirty="0"/>
              <a:t>), separando la logica applicativa dalla struttura delle tabelle, mentre </a:t>
            </a:r>
            <a:r>
              <a:rPr lang="it-IT" b="0" dirty="0" err="1"/>
              <a:t>SQLite</a:t>
            </a:r>
            <a:r>
              <a:rPr lang="it-IT" b="0" dirty="0"/>
              <a:t> è stato scelto per la sua semplicità di configurazione.</a:t>
            </a:r>
          </a:p>
        </p:txBody>
      </p:sp>
      <p:sp>
        <p:nvSpPr>
          <p:cNvPr id="4" name="Segnaposto numero diapositiva 3"/>
          <p:cNvSpPr>
            <a:spLocks noGrp="1"/>
          </p:cNvSpPr>
          <p:nvPr>
            <p:ph type="sldNum" sz="quarter" idx="5"/>
          </p:nvPr>
        </p:nvSpPr>
        <p:spPr/>
        <p:txBody>
          <a:bodyPr/>
          <a:lstStyle/>
          <a:p>
            <a:fld id="{7417E117-EBF1-460D-8248-BB8B63D5F63B}" type="slidenum">
              <a:rPr lang="it-IT" smtClean="0"/>
              <a:t>6</a:t>
            </a:fld>
            <a:endParaRPr lang="it-IT"/>
          </a:p>
        </p:txBody>
      </p:sp>
    </p:spTree>
    <p:extLst>
      <p:ext uri="{BB962C8B-B14F-4D97-AF65-F5344CB8AC3E}">
        <p14:creationId xmlns:p14="http://schemas.microsoft.com/office/powerpoint/2010/main" val="3316144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Entrando più nella struttura dell’architettura software invece, le tecnologie utilizzate hanno permesso di realizzare un’architettura a livelli, separando presentazione, logica applicativa e persistenza, con vantaggi in termini di modularità, manutenibilità ed estendibilità.</a:t>
            </a:r>
          </a:p>
        </p:txBody>
      </p:sp>
      <p:sp>
        <p:nvSpPr>
          <p:cNvPr id="4" name="Segnaposto numero diapositiva 3"/>
          <p:cNvSpPr>
            <a:spLocks noGrp="1"/>
          </p:cNvSpPr>
          <p:nvPr>
            <p:ph type="sldNum" sz="quarter" idx="5"/>
          </p:nvPr>
        </p:nvSpPr>
        <p:spPr/>
        <p:txBody>
          <a:bodyPr/>
          <a:lstStyle/>
          <a:p>
            <a:fld id="{7417E117-EBF1-460D-8248-BB8B63D5F63B}" type="slidenum">
              <a:rPr lang="it-IT" smtClean="0"/>
              <a:t>7</a:t>
            </a:fld>
            <a:endParaRPr lang="it-IT"/>
          </a:p>
        </p:txBody>
      </p:sp>
    </p:spTree>
    <p:extLst>
      <p:ext uri="{BB962C8B-B14F-4D97-AF65-F5344CB8AC3E}">
        <p14:creationId xmlns:p14="http://schemas.microsoft.com/office/powerpoint/2010/main" val="2770485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Il livello API rappresenta il punto di accesso principale al sistema, che coordina l’interfaccia utente con la logica applicativa e il database, garantendo coerenza nelle operazioni del sistema.</a:t>
            </a:r>
          </a:p>
          <a:p>
            <a:r>
              <a:rPr lang="it-IT" dirty="0"/>
              <a:t>Infatti, riceve le richieste provenienti dall’interfaccia utente, controllare che i dati inseriti siano corretti e poi indirizzare ogni operazione verso la parte del sistema più adatta.</a:t>
            </a:r>
          </a:p>
          <a:p>
            <a:r>
              <a:rPr lang="it-IT" dirty="0"/>
              <a:t>Le API sono organizzate in moduli separati, ognuno dedicato a una specifica area: </a:t>
            </a:r>
          </a:p>
          <a:p>
            <a:r>
              <a:rPr lang="it-IT" dirty="0"/>
              <a:t>- GestoreAPI.py</a:t>
            </a:r>
          </a:p>
          <a:p>
            <a:r>
              <a:rPr lang="it-IT" dirty="0"/>
              <a:t>- ObjectTypeAPI.py</a:t>
            </a:r>
          </a:p>
          <a:p>
            <a:r>
              <a:rPr lang="it-IT" dirty="0"/>
              <a:t>- AlgorithmsAPI.py</a:t>
            </a:r>
          </a:p>
          <a:p>
            <a:r>
              <a:rPr lang="it-IT" dirty="0"/>
              <a:t>- ContextAPI.py</a:t>
            </a:r>
          </a:p>
          <a:p>
            <a:r>
              <a:rPr lang="it-IT" dirty="0"/>
              <a:t>- PipelineAPI.py</a:t>
            </a:r>
          </a:p>
          <a:p>
            <a:r>
              <a:rPr lang="it-IT" dirty="0"/>
              <a:t>Particolare importanza hanno le API inerenti alle pipeline, poiché coordinano la costruzione guidata delle pipeline. A differenza degli altri moduli API, che gestiscono principalmente operazioni CRUD, questo componente mantiene lo stato temporaneo della composizione, interroga il catalogo degli algoritmi disponibili e restituisce all’interfaccia utente solo le trasformazioni compatibili con lo stato corrente della pipeline.</a:t>
            </a:r>
          </a:p>
          <a:p>
            <a:endParaRPr lang="it-IT" dirty="0"/>
          </a:p>
          <a:p>
            <a:r>
              <a:rPr lang="it-IT" dirty="0"/>
              <a:t>Il catalogo degli algoritmi è una componente di supporto alla costruzione delle pipeline, che organizza gli algoritmi disponibili in modo efficiente, così da proporre all’utente quali trasformazioni possono essere applicate a un determinato tipo di dato.</a:t>
            </a:r>
          </a:p>
          <a:p>
            <a:r>
              <a:rPr lang="it-IT" dirty="0"/>
              <a:t>Questo componente viene costruito a partire dai dati salvati nel database, tiene conto del contesto selezionato ed è usato a runtime (mentre sei costruisce la pipeline), garantendo che la costruzione sia guidata e evitando scelte non valide.</a:t>
            </a:r>
          </a:p>
        </p:txBody>
      </p:sp>
      <p:sp>
        <p:nvSpPr>
          <p:cNvPr id="4" name="Segnaposto numero diapositiva 3"/>
          <p:cNvSpPr>
            <a:spLocks noGrp="1"/>
          </p:cNvSpPr>
          <p:nvPr>
            <p:ph type="sldNum" sz="quarter" idx="5"/>
          </p:nvPr>
        </p:nvSpPr>
        <p:spPr/>
        <p:txBody>
          <a:bodyPr/>
          <a:lstStyle/>
          <a:p>
            <a:fld id="{7417E117-EBF1-460D-8248-BB8B63D5F63B}" type="slidenum">
              <a:rPr lang="it-IT" smtClean="0"/>
              <a:t>8</a:t>
            </a:fld>
            <a:endParaRPr lang="it-IT"/>
          </a:p>
        </p:txBody>
      </p:sp>
    </p:spTree>
    <p:extLst>
      <p:ext uri="{BB962C8B-B14F-4D97-AF65-F5344CB8AC3E}">
        <p14:creationId xmlns:p14="http://schemas.microsoft.com/office/powerpoint/2010/main" val="289948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Il livello di persistenza, gestisce tutta la parte di salvataggio, recupero e organizzazione dei dati del sistema, separando la logica applicativa dalla gestione fisica dei dati.</a:t>
            </a:r>
            <a:br>
              <a:rPr lang="it-IT" dirty="0"/>
            </a:br>
            <a:r>
              <a:rPr lang="it-IT" dirty="0"/>
              <a:t>In questa sezione vengono definiti sia la configurazione del database sia le strutture che rappresentano le entità salvate, quindi contesti, tipi di dato, algoritmi, pipeline e step.</a:t>
            </a:r>
          </a:p>
          <a:p>
            <a:pPr marL="171450" indent="-171450">
              <a:buFont typeface="Arial" panose="020B0604020202020204" pitchFamily="34" charset="0"/>
              <a:buChar char="•"/>
            </a:pPr>
            <a:r>
              <a:rPr lang="it-IT" dirty="0"/>
              <a:t>La configurazione del database (</a:t>
            </a:r>
            <a:r>
              <a:rPr lang="it-IT" b="1" dirty="0"/>
              <a:t>ConfigDB.py</a:t>
            </a:r>
            <a:r>
              <a:rPr lang="it-IT" dirty="0"/>
              <a:t>) stabilisce la connessione a </a:t>
            </a:r>
            <a:r>
              <a:rPr lang="it-IT" dirty="0" err="1"/>
              <a:t>SQLite</a:t>
            </a:r>
            <a:r>
              <a:rPr lang="it-IT" dirty="0"/>
              <a:t> e fornisce le sessioni usate dalle API per accedere ai dati.</a:t>
            </a:r>
          </a:p>
          <a:p>
            <a:pPr marL="171450" indent="-171450">
              <a:buFont typeface="Arial" panose="020B0604020202020204" pitchFamily="34" charset="0"/>
              <a:buChar char="•"/>
            </a:pPr>
            <a:r>
              <a:rPr lang="it-IT" dirty="0"/>
              <a:t>I modelli ORM (</a:t>
            </a:r>
            <a:r>
              <a:rPr lang="it-IT" b="1" dirty="0"/>
              <a:t>EntitaSQL_db.py</a:t>
            </a:r>
            <a:r>
              <a:rPr lang="it-IT" dirty="0"/>
              <a:t>) descrivono le tabelle del database e le relazioni tra le entità. Qui sono presenti anche vincoli utili per mantenere i dati coerenti, ad esempio evitando duplicati o valori non validi.</a:t>
            </a:r>
          </a:p>
          <a:p>
            <a:pPr marL="171450" indent="-171450">
              <a:buFont typeface="Arial" panose="020B0604020202020204" pitchFamily="34" charset="0"/>
              <a:buChar char="•"/>
            </a:pPr>
            <a:r>
              <a:rPr lang="it-IT" dirty="0"/>
              <a:t>I moduli operativi (</a:t>
            </a:r>
            <a:r>
              <a:rPr lang="it-IT" b="1" dirty="0"/>
              <a:t>OpDB_Context.py</a:t>
            </a:r>
            <a:r>
              <a:rPr lang="it-IT" dirty="0"/>
              <a:t>, </a:t>
            </a:r>
            <a:r>
              <a:rPr lang="it-IT" b="1" dirty="0"/>
              <a:t>OpDB_ObjectType.py</a:t>
            </a:r>
            <a:r>
              <a:rPr lang="it-IT" dirty="0"/>
              <a:t>, </a:t>
            </a:r>
            <a:r>
              <a:rPr lang="it-IT" b="1" dirty="0"/>
              <a:t>OpDB_Algorithm.py</a:t>
            </a:r>
            <a:r>
              <a:rPr lang="it-IT" dirty="0"/>
              <a:t>, </a:t>
            </a:r>
            <a:r>
              <a:rPr lang="it-IT" b="1" dirty="0"/>
              <a:t>OpDB_Pipeline.py</a:t>
            </a:r>
            <a:r>
              <a:rPr lang="it-IT" dirty="0"/>
              <a:t>) raccolgono le funzioni che eseguono le principali operazioni sui dati: </a:t>
            </a:r>
          </a:p>
          <a:p>
            <a:pPr marL="171450" indent="-171450">
              <a:buFont typeface="Arial" panose="020B0604020202020204" pitchFamily="34" charset="0"/>
              <a:buChar char="•"/>
            </a:pPr>
            <a:r>
              <a:rPr lang="it-IT" dirty="0"/>
              <a:t>_ creazione, lettura, cancellazione di elementi</a:t>
            </a:r>
          </a:p>
          <a:p>
            <a:pPr marL="171450" indent="-171450">
              <a:buFont typeface="Arial" panose="020B0604020202020204" pitchFamily="34" charset="0"/>
              <a:buChar char="•"/>
            </a:pPr>
            <a:r>
              <a:rPr lang="it-IT" dirty="0"/>
              <a:t>_ recupero del contesto</a:t>
            </a:r>
          </a:p>
          <a:p>
            <a:pPr marL="171450" indent="-171450">
              <a:buFont typeface="Arial" panose="020B0604020202020204" pitchFamily="34" charset="0"/>
              <a:buChar char="•"/>
            </a:pPr>
            <a:r>
              <a:rPr lang="it-IT" dirty="0"/>
              <a:t>_ ricostruzione delle pipeline.</a:t>
            </a:r>
          </a:p>
        </p:txBody>
      </p:sp>
      <p:sp>
        <p:nvSpPr>
          <p:cNvPr id="4" name="Segnaposto numero diapositiva 3"/>
          <p:cNvSpPr>
            <a:spLocks noGrp="1"/>
          </p:cNvSpPr>
          <p:nvPr>
            <p:ph type="sldNum" sz="quarter" idx="5"/>
          </p:nvPr>
        </p:nvSpPr>
        <p:spPr/>
        <p:txBody>
          <a:bodyPr/>
          <a:lstStyle/>
          <a:p>
            <a:fld id="{7417E117-EBF1-460D-8248-BB8B63D5F63B}" type="slidenum">
              <a:rPr lang="it-IT" smtClean="0"/>
              <a:t>9</a:t>
            </a:fld>
            <a:endParaRPr lang="it-IT"/>
          </a:p>
        </p:txBody>
      </p:sp>
    </p:spTree>
    <p:extLst>
      <p:ext uri="{BB962C8B-B14F-4D97-AF65-F5344CB8AC3E}">
        <p14:creationId xmlns:p14="http://schemas.microsoft.com/office/powerpoint/2010/main" val="4045102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La sezione dei modelli runtime descrive le classi usate dalla logica applicativa durante la costruzione delle pipeline. Questi modelli rappresentano le entità principali del sistema in memoria, separandole dalla loro rappresentazione nel database.</a:t>
            </a:r>
          </a:p>
          <a:p>
            <a:r>
              <a:rPr lang="it-IT" dirty="0"/>
              <a:t>Il tipo di dato (</a:t>
            </a:r>
            <a:r>
              <a:rPr lang="it-IT" b="1" dirty="0"/>
              <a:t>ObjectType.py</a:t>
            </a:r>
            <a:r>
              <a:rPr lang="it-IT" dirty="0"/>
              <a:t>) rappresenta un nodo della pipeline, cioè un possibile formato o stato del dato.</a:t>
            </a:r>
          </a:p>
          <a:p>
            <a:r>
              <a:rPr lang="it-IT" dirty="0"/>
              <a:t>L’algoritmo (</a:t>
            </a:r>
            <a:r>
              <a:rPr lang="it-IT" b="1" dirty="0"/>
              <a:t>Algorithm.py</a:t>
            </a:r>
            <a:r>
              <a:rPr lang="it-IT" dirty="0"/>
              <a:t>) rappresenta una trasformazione tra due tipi di dato, quindi il collegamento tra un input e un output.</a:t>
            </a:r>
          </a:p>
          <a:p>
            <a:r>
              <a:rPr lang="it-IT" dirty="0"/>
              <a:t>La pipeline (</a:t>
            </a:r>
            <a:r>
              <a:rPr lang="it-IT" b="1" dirty="0"/>
              <a:t>Pipeline.py</a:t>
            </a:r>
            <a:r>
              <a:rPr lang="it-IT" dirty="0"/>
              <a:t>) rappresenta una sequenza ordinata di trasformazioni. Si occupa di aggiungere nuovi step, controllare la compatibilità tra gli elementi e calcolare informazioni utili, come il tipo corrente e il costo totale.</a:t>
            </a:r>
          </a:p>
        </p:txBody>
      </p:sp>
      <p:sp>
        <p:nvSpPr>
          <p:cNvPr id="4" name="Segnaposto numero diapositiva 3"/>
          <p:cNvSpPr>
            <a:spLocks noGrp="1"/>
          </p:cNvSpPr>
          <p:nvPr>
            <p:ph type="sldNum" sz="quarter" idx="5"/>
          </p:nvPr>
        </p:nvSpPr>
        <p:spPr/>
        <p:txBody>
          <a:bodyPr/>
          <a:lstStyle/>
          <a:p>
            <a:fld id="{7417E117-EBF1-460D-8248-BB8B63D5F63B}" type="slidenum">
              <a:rPr lang="it-IT" smtClean="0"/>
              <a:t>10</a:t>
            </a:fld>
            <a:endParaRPr lang="it-IT"/>
          </a:p>
        </p:txBody>
      </p:sp>
    </p:spTree>
    <p:extLst>
      <p:ext uri="{BB962C8B-B14F-4D97-AF65-F5344CB8AC3E}">
        <p14:creationId xmlns:p14="http://schemas.microsoft.com/office/powerpoint/2010/main" val="647726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La sezione degli schemi descrive le strutture usate per controllare i dati scambiati tra interfaccia utente e API. Il loro obiettivo è garantire che le richieste ricevute dal sistema siano corrette e che le risposte abbiano una forma chiara e coerente.</a:t>
            </a:r>
          </a:p>
          <a:p>
            <a:r>
              <a:rPr lang="it-IT" dirty="0"/>
              <a:t>Gli schemi degli ObjectType (</a:t>
            </a:r>
            <a:r>
              <a:rPr lang="it-IT" b="1" dirty="0"/>
              <a:t>ObjectType_schema.py</a:t>
            </a:r>
            <a:r>
              <a:rPr lang="it-IT" dirty="0"/>
              <a:t>) definiscono i dati necessari per creare e restituire un tipo di dato.</a:t>
            </a:r>
          </a:p>
          <a:p>
            <a:r>
              <a:rPr lang="it-IT" dirty="0"/>
              <a:t>Gli schemi degli </a:t>
            </a:r>
            <a:r>
              <a:rPr lang="it-IT" dirty="0" err="1"/>
              <a:t>Algorithm</a:t>
            </a:r>
            <a:r>
              <a:rPr lang="it-IT" dirty="0"/>
              <a:t> (</a:t>
            </a:r>
            <a:r>
              <a:rPr lang="it-IT" b="1" dirty="0"/>
              <a:t>Algorithm_schema.py</a:t>
            </a:r>
            <a:r>
              <a:rPr lang="it-IT" dirty="0"/>
              <a:t>) controllano le informazioni relative agli algoritmi, come nome, input, output e costo.</a:t>
            </a:r>
          </a:p>
          <a:p>
            <a:r>
              <a:rPr lang="it-IT" dirty="0"/>
              <a:t>Gli schemi delle Pipeline (</a:t>
            </a:r>
            <a:r>
              <a:rPr lang="it-IT" b="1" dirty="0"/>
              <a:t>Pipeline_schema.py</a:t>
            </a:r>
            <a:r>
              <a:rPr lang="it-IT" dirty="0"/>
              <a:t>) descrivono le richieste e le risposte legate alla costruzione, selezione degli step, salvataggio e recupero delle pipeline.</a:t>
            </a:r>
          </a:p>
        </p:txBody>
      </p:sp>
      <p:sp>
        <p:nvSpPr>
          <p:cNvPr id="4" name="Segnaposto numero diapositiva 3"/>
          <p:cNvSpPr>
            <a:spLocks noGrp="1"/>
          </p:cNvSpPr>
          <p:nvPr>
            <p:ph type="sldNum" sz="quarter" idx="5"/>
          </p:nvPr>
        </p:nvSpPr>
        <p:spPr/>
        <p:txBody>
          <a:bodyPr/>
          <a:lstStyle/>
          <a:p>
            <a:fld id="{7417E117-EBF1-460D-8248-BB8B63D5F63B}" type="slidenum">
              <a:rPr lang="it-IT" smtClean="0"/>
              <a:t>11</a:t>
            </a:fld>
            <a:endParaRPr lang="it-IT"/>
          </a:p>
        </p:txBody>
      </p:sp>
    </p:spTree>
    <p:extLst>
      <p:ext uri="{BB962C8B-B14F-4D97-AF65-F5344CB8AC3E}">
        <p14:creationId xmlns:p14="http://schemas.microsoft.com/office/powerpoint/2010/main" val="3265317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L’interfaccia utente rappresenta il livello di presentazione del sistema. </a:t>
            </a:r>
          </a:p>
          <a:p>
            <a:endParaRPr lang="it-IT" dirty="0"/>
          </a:p>
          <a:p>
            <a:r>
              <a:rPr lang="it-IT" dirty="0"/>
              <a:t>Dal punto di vista tecnico, la UI non contiene direttamente la logica principale dell’applicazione, ma comunica con il </a:t>
            </a:r>
            <a:r>
              <a:rPr lang="it-IT" dirty="0" err="1"/>
              <a:t>backend</a:t>
            </a:r>
            <a:r>
              <a:rPr lang="it-IT" dirty="0"/>
              <a:t> tramite richieste alle API rimanendo separata dalla logica applicativa e dal database.</a:t>
            </a:r>
          </a:p>
          <a:p>
            <a:endParaRPr lang="it-IT" dirty="0"/>
          </a:p>
          <a:p>
            <a:r>
              <a:rPr lang="it-IT" dirty="0"/>
              <a:t>L’interfaccia gestisce lo stato della sessione utente, come il contesto attivo, la pagina corrente e la sessione di costruzione della pipeline, mantenendo continuità durante l’utilizzo del sistema.</a:t>
            </a:r>
          </a:p>
          <a:p>
            <a:r>
              <a:rPr lang="it-IT" dirty="0"/>
              <a:t>Attraverso la UI l’utente può gestire contesti, tipi di dato, algoritmi e pipeline salvate, ma le operazioni vengono sempre validate ed eseguite dal </a:t>
            </a:r>
            <a:r>
              <a:rPr lang="it-IT" dirty="0" err="1"/>
              <a:t>backend</a:t>
            </a:r>
            <a:r>
              <a:rPr lang="it-IT" dirty="0"/>
              <a:t>.</a:t>
            </a:r>
          </a:p>
          <a:p>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Nel caso di c</a:t>
            </a:r>
            <a:r>
              <a:rPr lang="it-IT" sz="1200" dirty="0"/>
              <a:t>ostruzione della pipeline: l’interfaccia accompagna l’utente nel processo </a:t>
            </a:r>
            <a:r>
              <a:rPr lang="it-IT" sz="1200" dirty="0" err="1"/>
              <a:t>step-by-step</a:t>
            </a:r>
            <a:r>
              <a:rPr lang="it-IT" dirty="0"/>
              <a:t>: invia le scelte al </a:t>
            </a:r>
            <a:r>
              <a:rPr lang="it-IT" dirty="0" err="1"/>
              <a:t>backend</a:t>
            </a:r>
            <a:r>
              <a:rPr lang="it-IT" dirty="0"/>
              <a:t>, riceve gli algoritmi compatibili e aggiorna dinamicamente la costruzione della pipeline.</a:t>
            </a:r>
          </a:p>
          <a:p>
            <a:endParaRPr lang="it-IT" dirty="0"/>
          </a:p>
          <a:p>
            <a:r>
              <a:rPr lang="it-IT" dirty="0"/>
              <a:t>---</a:t>
            </a:r>
          </a:p>
          <a:p>
            <a:endParaRPr lang="it-IT" dirty="0"/>
          </a:p>
          <a:p>
            <a:r>
              <a:rPr lang="it-IT" sz="1200" dirty="0"/>
              <a:t>È l’entry point del sistema, cioè il punto di avvio dell’applicazione.</a:t>
            </a:r>
          </a:p>
          <a:p>
            <a:br>
              <a:rPr lang="it-IT" sz="1200" dirty="0"/>
            </a:br>
            <a:r>
              <a:rPr lang="it-IT" sz="1200" dirty="0"/>
              <a:t>In questa parte viene:</a:t>
            </a:r>
          </a:p>
          <a:p>
            <a:pPr marL="285750" indent="-285750">
              <a:buFont typeface="Arial" panose="020B0604020202020204" pitchFamily="34" charset="0"/>
              <a:buChar char="•"/>
            </a:pPr>
            <a:r>
              <a:rPr lang="it-IT" sz="1200" dirty="0"/>
              <a:t>creata l’applicazione </a:t>
            </a:r>
            <a:r>
              <a:rPr lang="it-IT" sz="1200" dirty="0" err="1"/>
              <a:t>FastAPI</a:t>
            </a:r>
            <a:endParaRPr lang="it-IT" sz="1200" dirty="0"/>
          </a:p>
          <a:p>
            <a:pPr marL="285750" indent="-285750">
              <a:buFont typeface="Arial" panose="020B0604020202020204" pitchFamily="34" charset="0"/>
              <a:buChar char="•"/>
            </a:pPr>
            <a:r>
              <a:rPr lang="it-IT" sz="1200" dirty="0"/>
              <a:t>inizializzate le tabelle del database</a:t>
            </a:r>
          </a:p>
          <a:p>
            <a:pPr marL="285750" indent="-285750">
              <a:buFont typeface="Arial" panose="020B0604020202020204" pitchFamily="34" charset="0"/>
              <a:buChar char="•"/>
            </a:pPr>
            <a:r>
              <a:rPr lang="it-IT" sz="1200" dirty="0"/>
              <a:t>collegato il router principale che raccoglie tutti gli endpoint del sistema.</a:t>
            </a:r>
          </a:p>
        </p:txBody>
      </p:sp>
      <p:sp>
        <p:nvSpPr>
          <p:cNvPr id="4" name="Segnaposto numero diapositiva 3"/>
          <p:cNvSpPr>
            <a:spLocks noGrp="1"/>
          </p:cNvSpPr>
          <p:nvPr>
            <p:ph type="sldNum" sz="quarter" idx="5"/>
          </p:nvPr>
        </p:nvSpPr>
        <p:spPr/>
        <p:txBody>
          <a:bodyPr/>
          <a:lstStyle/>
          <a:p>
            <a:fld id="{7417E117-EBF1-460D-8248-BB8B63D5F63B}" type="slidenum">
              <a:rPr lang="it-IT" smtClean="0"/>
              <a:t>12</a:t>
            </a:fld>
            <a:endParaRPr lang="it-IT"/>
          </a:p>
        </p:txBody>
      </p:sp>
    </p:spTree>
    <p:extLst>
      <p:ext uri="{BB962C8B-B14F-4D97-AF65-F5344CB8AC3E}">
        <p14:creationId xmlns:p14="http://schemas.microsoft.com/office/powerpoint/2010/main" val="1142956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285750" indent="-285750">
              <a:buFont typeface="Arial" panose="020B0604020202020204" pitchFamily="34" charset="0"/>
              <a:buChar char="•"/>
            </a:pPr>
            <a:r>
              <a:rPr lang="it-IT" sz="1200" dirty="0"/>
              <a:t>L’integrazione di algoritmi realmente eseguibili all’interno dell’applicazione. Attualmente, gli algoritmi sono solo descrizioni (nome, tipo di input, tipo di output e costo), ma in futuro, ciascun algoritmo potrebbe essere associato a funzioni, script o moduli effettivamente eseguibili.</a:t>
            </a:r>
          </a:p>
          <a:p>
            <a:pPr marL="285750" indent="-285750">
              <a:buFont typeface="Arial" panose="020B0604020202020204" pitchFamily="34" charset="0"/>
              <a:buChar char="•"/>
            </a:pPr>
            <a:r>
              <a:rPr lang="it-IT" sz="1200" dirty="0"/>
              <a:t>Introdurre un motore di esecuzione della pipeline, con il compito di attraversare gli step e applicare in sequenza gli algoritmi selezionati, passando l’output di uno step come input dello step successivo. Quindi, supportare la gestione concreta dell’esecuzione della pipeline. </a:t>
            </a:r>
          </a:p>
          <a:p>
            <a:pPr marL="285750" indent="-285750">
              <a:buFont typeface="Arial" panose="020B0604020202020204" pitchFamily="34" charset="0"/>
              <a:buChar char="•"/>
            </a:pPr>
            <a:r>
              <a:rPr lang="it-IT" sz="1200" dirty="0"/>
              <a:t>Un ulteriore sviluppo riguarda la gestione di dati reali in ingresso e in uscita, anche in comunicazione con sistemi esterni. </a:t>
            </a:r>
          </a:p>
          <a:p>
            <a:pPr marL="285750" indent="-285750">
              <a:buFont typeface="Arial" panose="020B0604020202020204" pitchFamily="34" charset="0"/>
              <a:buChar char="•"/>
            </a:pPr>
            <a:r>
              <a:rPr lang="it-IT" sz="1200" dirty="0"/>
              <a:t>Potrebbe inoltre essere migliorata la rappresentazione grafica della gerarchia dei contesti. </a:t>
            </a:r>
          </a:p>
          <a:p>
            <a:pPr marL="285750" indent="-285750">
              <a:buFont typeface="Arial" panose="020B0604020202020204" pitchFamily="34" charset="0"/>
              <a:buChar char="•"/>
            </a:pPr>
            <a:r>
              <a:rPr lang="it-IT" sz="1200" dirty="0" err="1"/>
              <a:t>Refactoring</a:t>
            </a:r>
            <a:r>
              <a:rPr lang="it-IT" sz="1200" dirty="0"/>
              <a:t> del codice dell’interfaccia utente.</a:t>
            </a:r>
          </a:p>
        </p:txBody>
      </p:sp>
      <p:sp>
        <p:nvSpPr>
          <p:cNvPr id="4" name="Segnaposto numero diapositiva 3"/>
          <p:cNvSpPr>
            <a:spLocks noGrp="1"/>
          </p:cNvSpPr>
          <p:nvPr>
            <p:ph type="sldNum" sz="quarter" idx="5"/>
          </p:nvPr>
        </p:nvSpPr>
        <p:spPr/>
        <p:txBody>
          <a:bodyPr/>
          <a:lstStyle/>
          <a:p>
            <a:fld id="{7417E117-EBF1-460D-8248-BB8B63D5F63B}" type="slidenum">
              <a:rPr lang="it-IT" smtClean="0"/>
              <a:t>13</a:t>
            </a:fld>
            <a:endParaRPr lang="it-IT"/>
          </a:p>
        </p:txBody>
      </p:sp>
    </p:spTree>
    <p:extLst>
      <p:ext uri="{BB962C8B-B14F-4D97-AF65-F5344CB8AC3E}">
        <p14:creationId xmlns:p14="http://schemas.microsoft.com/office/powerpoint/2010/main" val="1786787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609508-AEB3-46DD-2710-917F0BB5EE7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F24F32C-A2B6-15D4-BEDA-34DE164D41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9BBF88A-951B-8D85-1746-353F20886E67}"/>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533CD17E-15B1-E4E8-B1A5-AF508A4BEA1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437AE59-4452-C724-714B-6D40A42CA0D8}"/>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40477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7DE8BC-7B8E-8213-A760-96AAF68E7B01}"/>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F7F5D84-82A5-0A39-49A7-1A5A31500F88}"/>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7CC9076-90A2-B3BC-F408-5122E9426B88}"/>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37B9534C-43A7-8CE4-2A7D-DD9ABF7A8AF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74E129D-D00A-7965-2C3D-01CCFDA6FF50}"/>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65661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FB2464-4D07-FFB7-4603-E13F932A2912}"/>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746765C1-DB8C-3535-9020-B1A624E523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7557AADA-7948-65D2-D386-54AFA690061A}"/>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F09D8DCC-8391-2883-F991-4269DE09F0F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D4E0BE6-A7EA-0149-14DF-ACAD6452503F}"/>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195035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64F83D-8590-981D-D213-06501D1B5848}"/>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2F793CF-A133-5985-CB84-F2295B49EB4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4641F779-8626-CC13-DA2B-B5008242F414}"/>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8D36CA32-FB89-9357-19E2-91B776005C2A}"/>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6" name="Segnaposto piè di pagina 5">
            <a:extLst>
              <a:ext uri="{FF2B5EF4-FFF2-40B4-BE49-F238E27FC236}">
                <a16:creationId xmlns:a16="http://schemas.microsoft.com/office/drawing/2014/main" id="{F096EF48-AD97-6FB9-A731-A4670CFA825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C6DF72E-D5A6-3B6C-4451-06C97C6893CE}"/>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32345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9C504-B390-1575-780F-9E2AA1DCDF6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4642F7D-794F-AA11-D74D-C09F5F5CF1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98A7A1A1-C952-1922-C024-FABC7EDD953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DE4CC5F-180E-D180-BF3D-A715F730D6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2E0C99D3-DF5E-C3F4-1FF7-9B92B3A4F169}"/>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FA6280D5-7EF7-2B16-B5CD-F7558C44D502}"/>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8" name="Segnaposto piè di pagina 7">
            <a:extLst>
              <a:ext uri="{FF2B5EF4-FFF2-40B4-BE49-F238E27FC236}">
                <a16:creationId xmlns:a16="http://schemas.microsoft.com/office/drawing/2014/main" id="{58F152D9-3344-4286-8C81-FD54871AEDF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19D75649-4B72-2EF5-3586-57EFBC2E2EFD}"/>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017195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B8D87D-E7D7-A5D2-A0BA-632E96E6123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544BD631-D00D-28A0-E9BD-4C3C30A71D1F}"/>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4" name="Segnaposto piè di pagina 3">
            <a:extLst>
              <a:ext uri="{FF2B5EF4-FFF2-40B4-BE49-F238E27FC236}">
                <a16:creationId xmlns:a16="http://schemas.microsoft.com/office/drawing/2014/main" id="{B74C2DBF-874F-0BDF-4E74-F58CDB47EE3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3AD4B7A5-78BA-FBF2-0F8E-A224610C4E4D}"/>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3932175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A2E53F92-F319-2AF9-DEA4-D57DEBF56361}"/>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3" name="Segnaposto piè di pagina 2">
            <a:extLst>
              <a:ext uri="{FF2B5EF4-FFF2-40B4-BE49-F238E27FC236}">
                <a16:creationId xmlns:a16="http://schemas.microsoft.com/office/drawing/2014/main" id="{B39E3B64-3B91-F841-D2CE-0D9BDF3A16FF}"/>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63254CA-6475-8B40-F15D-7ACE6FD9650A}"/>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644368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1AEE00-CA1F-EC66-B1CD-834C45EC87A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8F29947-8BDC-BB59-7652-C37E77AF7D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5E93FD9E-83DF-44E2-7E63-1876BA367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67D46CB0-5891-6685-73AA-D2BE5E7F2A1C}"/>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6" name="Segnaposto piè di pagina 5">
            <a:extLst>
              <a:ext uri="{FF2B5EF4-FFF2-40B4-BE49-F238E27FC236}">
                <a16:creationId xmlns:a16="http://schemas.microsoft.com/office/drawing/2014/main" id="{DBBBD6A2-4A71-6696-1EC9-A82D407C95F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6FE77D6-C0CB-021A-8780-5829B0D5E48F}"/>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4244282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28146A-2E34-F705-9FC3-6E43C9287B9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B68491A-383B-FB17-F2CD-9C4C8F2D40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7B5D269-4883-C0E3-E673-F8E3FFF6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7BF3ED29-4D40-0E72-79A7-B7C4DCDFCB48}"/>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6" name="Segnaposto piè di pagina 5">
            <a:extLst>
              <a:ext uri="{FF2B5EF4-FFF2-40B4-BE49-F238E27FC236}">
                <a16:creationId xmlns:a16="http://schemas.microsoft.com/office/drawing/2014/main" id="{23B0440F-4E6C-BC26-4CBE-2AA303D59C4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3D44821-8BEE-C428-6773-906D009BB6DC}"/>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2496963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795878-3876-0449-BB2D-C02927E2503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0EB1BAC-5111-FF6B-DD38-660F19E2D04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909F4E4-5412-A172-3DDA-93A6526DC8A2}"/>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D8C52F15-725F-BDEF-395D-60E80EB4EE2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D72F0BD-DE48-C22F-A731-E431266F8C65}"/>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3861997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68965A78-E74E-F687-3C53-5BF7865AECC8}"/>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D1C81AC1-4FC4-2C63-A22E-1B3AEAF1FEE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D206185-E0D7-7CE3-8CF0-B4E6678A2F61}"/>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60BF4BC1-C927-08B0-C566-01C656FC19E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FC8CA33-ABC6-5A82-72F3-DF9830D12CED}"/>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616164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F60ACF2-5E1F-B7C3-A1F2-4619593CE8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E96645E-017B-B7CB-8864-E9F89E8F6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53E4D22-7C13-10BC-9616-370D56E5E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2D22A0A9-AA05-476D-92C9-C4A9BE0DD7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463B344D-3064-7DF3-4CA5-2D0713FE36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C0E4D2-096C-44B6-99FE-DF29C2B8A82A}" type="slidenum">
              <a:rPr lang="it-IT" smtClean="0"/>
              <a:t>‹N›</a:t>
            </a:fld>
            <a:endParaRPr lang="it-IT"/>
          </a:p>
        </p:txBody>
      </p:sp>
    </p:spTree>
    <p:extLst>
      <p:ext uri="{BB962C8B-B14F-4D97-AF65-F5344CB8AC3E}">
        <p14:creationId xmlns:p14="http://schemas.microsoft.com/office/powerpoint/2010/main" val="581736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2E3FD58E-9CFD-7330-48E1-295FB90141B0}"/>
              </a:ext>
            </a:extLst>
          </p:cNvPr>
          <p:cNvPicPr>
            <a:picLocks noChangeAspect="1"/>
          </p:cNvPicPr>
          <p:nvPr/>
        </p:nvPicPr>
        <p:blipFill>
          <a:blip r:embed="rId2">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C4CDBBBD-7CD2-FABC-923C-BED6A013E42C}"/>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3EB6ED2E-227E-83A6-D416-9F3F2F051DED}"/>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6832E091-2E69-E9D7-55E5-6C0920858D92}"/>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47F6D6B4-4EB9-696D-2AC1-BD99E478B10D}"/>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F318295B-215C-4191-BC81-118C07F7D168}"/>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556AED0E-A2F3-6CCB-A24A-2116F759C9C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itolo 8">
            <a:extLst>
              <a:ext uri="{FF2B5EF4-FFF2-40B4-BE49-F238E27FC236}">
                <a16:creationId xmlns:a16="http://schemas.microsoft.com/office/drawing/2014/main" id="{A50FDD6B-36F0-99D4-D563-F8809C312A87}"/>
              </a:ext>
            </a:extLst>
          </p:cNvPr>
          <p:cNvSpPr>
            <a:spLocks noGrp="1"/>
          </p:cNvSpPr>
          <p:nvPr>
            <p:ph type="ctrTitle"/>
          </p:nvPr>
        </p:nvSpPr>
        <p:spPr/>
        <p:txBody>
          <a:bodyPr/>
          <a:lstStyle/>
          <a:p>
            <a:r>
              <a:rPr lang="it-IT" b="1" i="1" dirty="0"/>
              <a:t>Pipeline Builder</a:t>
            </a:r>
          </a:p>
        </p:txBody>
      </p:sp>
      <p:sp>
        <p:nvSpPr>
          <p:cNvPr id="10" name="Sottotitolo 9">
            <a:extLst>
              <a:ext uri="{FF2B5EF4-FFF2-40B4-BE49-F238E27FC236}">
                <a16:creationId xmlns:a16="http://schemas.microsoft.com/office/drawing/2014/main" id="{582CB0D5-CD65-0245-41BE-A8BF2E2DC48E}"/>
              </a:ext>
            </a:extLst>
          </p:cNvPr>
          <p:cNvSpPr>
            <a:spLocks noGrp="1"/>
          </p:cNvSpPr>
          <p:nvPr>
            <p:ph type="subTitle" idx="1"/>
          </p:nvPr>
        </p:nvSpPr>
        <p:spPr/>
        <p:txBody>
          <a:bodyPr/>
          <a:lstStyle/>
          <a:p>
            <a:r>
              <a:rPr lang="it-IT" i="1" dirty="0"/>
              <a:t>Author: Samuele Mazziotti</a:t>
            </a:r>
          </a:p>
        </p:txBody>
      </p:sp>
      <p:sp>
        <p:nvSpPr>
          <p:cNvPr id="12" name="CasellaDiTesto 11">
            <a:extLst>
              <a:ext uri="{FF2B5EF4-FFF2-40B4-BE49-F238E27FC236}">
                <a16:creationId xmlns:a16="http://schemas.microsoft.com/office/drawing/2014/main" id="{16785B2C-A571-5B8F-F9BB-6D9D24B0062F}"/>
              </a:ext>
            </a:extLst>
          </p:cNvPr>
          <p:cNvSpPr txBox="1"/>
          <p:nvPr/>
        </p:nvSpPr>
        <p:spPr>
          <a:xfrm>
            <a:off x="529138" y="5476583"/>
            <a:ext cx="5806151" cy="923330"/>
          </a:xfrm>
          <a:prstGeom prst="rect">
            <a:avLst/>
          </a:prstGeom>
          <a:noFill/>
        </p:spPr>
        <p:txBody>
          <a:bodyPr wrap="square" rtlCol="0">
            <a:spAutoFit/>
          </a:bodyPr>
          <a:lstStyle/>
          <a:p>
            <a:r>
              <a:rPr lang="it-IT" i="1" dirty="0"/>
              <a:t>Student ID: 0001132769</a:t>
            </a:r>
          </a:p>
          <a:p>
            <a:r>
              <a:rPr lang="it-IT" i="1" dirty="0"/>
              <a:t>Advisor: Prof. Marco Patella</a:t>
            </a:r>
          </a:p>
          <a:p>
            <a:r>
              <a:rPr lang="it-IT" i="1" dirty="0"/>
              <a:t>Academic Year: 2025-26</a:t>
            </a:r>
          </a:p>
        </p:txBody>
      </p:sp>
    </p:spTree>
    <p:extLst>
      <p:ext uri="{BB962C8B-B14F-4D97-AF65-F5344CB8AC3E}">
        <p14:creationId xmlns:p14="http://schemas.microsoft.com/office/powerpoint/2010/main" val="536383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01249-F733-C962-5DAD-D31E281F3EAB}"/>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3CA1FB1E-F3BC-669B-DACF-06C43E579A16}"/>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9C751482-DF03-8738-7565-A3089CDBB0DC}"/>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78ABA437-B504-2094-B030-6056A2176ADA}"/>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028393D1-5616-5156-D20D-2357149DF82D}"/>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F5303085-B2C3-B7D7-4583-D3F2B2272870}"/>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C043B631-4282-E1E3-006A-8C13DE2D3951}"/>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42C22EFC-A9D8-07BC-DB0F-05F36970681E}"/>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EE1D8D51-5189-2754-8D61-DDF5EBA0FC8E}"/>
              </a:ext>
            </a:extLst>
          </p:cNvPr>
          <p:cNvSpPr>
            <a:spLocks noGrp="1"/>
          </p:cNvSpPr>
          <p:nvPr>
            <p:ph type="title"/>
          </p:nvPr>
        </p:nvSpPr>
        <p:spPr>
          <a:xfrm>
            <a:off x="818837" y="573895"/>
            <a:ext cx="10515600" cy="1325563"/>
          </a:xfrm>
        </p:spPr>
        <p:txBody>
          <a:bodyPr/>
          <a:lstStyle/>
          <a:p>
            <a:r>
              <a:rPr lang="it-IT" i="1" dirty="0" err="1"/>
              <a:t>Introduction</a:t>
            </a:r>
            <a:endParaRPr lang="it-IT" i="1" dirty="0"/>
          </a:p>
        </p:txBody>
      </p:sp>
      <p:sp>
        <p:nvSpPr>
          <p:cNvPr id="4" name="CasellaDiTesto 3">
            <a:extLst>
              <a:ext uri="{FF2B5EF4-FFF2-40B4-BE49-F238E27FC236}">
                <a16:creationId xmlns:a16="http://schemas.microsoft.com/office/drawing/2014/main" id="{1AC091C2-D133-3F2A-A639-C27F18DFCFC7}"/>
              </a:ext>
            </a:extLst>
          </p:cNvPr>
          <p:cNvSpPr txBox="1"/>
          <p:nvPr/>
        </p:nvSpPr>
        <p:spPr>
          <a:xfrm>
            <a:off x="838200" y="1742513"/>
            <a:ext cx="10139817" cy="1021556"/>
          </a:xfrm>
          <a:prstGeom prst="roundRect">
            <a:avLst/>
          </a:prstGeom>
          <a:solidFill>
            <a:srgbClr val="FFC000"/>
          </a:solidFill>
          <a:ln w="38100">
            <a:solidFill>
              <a:srgbClr val="215F9A"/>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it-IT" b="1" i="1" dirty="0">
                <a:solidFill>
                  <a:srgbClr val="13501B"/>
                </a:solidFill>
              </a:rPr>
              <a:t>Target</a:t>
            </a:r>
            <a:endParaRPr lang="it-IT" dirty="0">
              <a:solidFill>
                <a:srgbClr val="13501B"/>
              </a:solidFill>
            </a:endParaRPr>
          </a:p>
          <a:p>
            <a:pPr algn="ctr"/>
            <a:r>
              <a:rPr lang="en-US" dirty="0">
                <a:solidFill>
                  <a:srgbClr val="13501B"/>
                </a:solidFill>
              </a:rPr>
              <a:t>Design and develop a software system aimed at supporting the guided construction of data processing pipelines</a:t>
            </a:r>
            <a:endParaRPr lang="it-IT" dirty="0">
              <a:solidFill>
                <a:srgbClr val="13501B"/>
              </a:solidFill>
            </a:endParaRPr>
          </a:p>
        </p:txBody>
      </p:sp>
      <p:sp>
        <p:nvSpPr>
          <p:cNvPr id="5" name="CasellaDiTesto 4">
            <a:extLst>
              <a:ext uri="{FF2B5EF4-FFF2-40B4-BE49-F238E27FC236}">
                <a16:creationId xmlns:a16="http://schemas.microsoft.com/office/drawing/2014/main" id="{987F695B-4A0A-9CD7-BD55-9328D8E2EEDD}"/>
              </a:ext>
            </a:extLst>
          </p:cNvPr>
          <p:cNvSpPr txBox="1"/>
          <p:nvPr/>
        </p:nvSpPr>
        <p:spPr>
          <a:xfrm>
            <a:off x="2900265" y="4584788"/>
            <a:ext cx="2142408" cy="646331"/>
          </a:xfrm>
          <a:prstGeom prst="rect">
            <a:avLst/>
          </a:prstGeom>
          <a:noFill/>
          <a:ln w="28575">
            <a:solidFill>
              <a:srgbClr val="215F9A"/>
            </a:solidFill>
          </a:ln>
        </p:spPr>
        <p:txBody>
          <a:bodyPr wrap="square" rtlCol="0">
            <a:spAutoFit/>
          </a:bodyPr>
          <a:lstStyle/>
          <a:p>
            <a:pPr algn="ctr"/>
            <a:r>
              <a:rPr lang="en-US" dirty="0"/>
              <a:t>Definition of an </a:t>
            </a:r>
            <a:r>
              <a:rPr lang="en-US" b="1" i="1" dirty="0">
                <a:solidFill>
                  <a:srgbClr val="13501B"/>
                </a:solidFill>
              </a:rPr>
              <a:t>abstract model</a:t>
            </a:r>
            <a:endParaRPr lang="it-IT" b="1" i="1" dirty="0">
              <a:solidFill>
                <a:srgbClr val="13501B"/>
              </a:solidFill>
            </a:endParaRPr>
          </a:p>
        </p:txBody>
      </p:sp>
      <p:sp>
        <p:nvSpPr>
          <p:cNvPr id="6" name="Ovale 5">
            <a:extLst>
              <a:ext uri="{FF2B5EF4-FFF2-40B4-BE49-F238E27FC236}">
                <a16:creationId xmlns:a16="http://schemas.microsoft.com/office/drawing/2014/main" id="{AEF54192-EA9D-C59D-71F2-E3BDC47C02C5}"/>
              </a:ext>
            </a:extLst>
          </p:cNvPr>
          <p:cNvSpPr/>
          <p:nvPr/>
        </p:nvSpPr>
        <p:spPr>
          <a:xfrm>
            <a:off x="6180458" y="3331306"/>
            <a:ext cx="3600000" cy="2956374"/>
          </a:xfrm>
          <a:prstGeom prst="ellipse">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dirty="0">
                <a:ln>
                  <a:solidFill>
                    <a:srgbClr val="13501B"/>
                  </a:solidFill>
                </a:ln>
                <a:solidFill>
                  <a:srgbClr val="13501B"/>
                </a:solidFill>
              </a:rPr>
              <a:t>Software </a:t>
            </a:r>
            <a:r>
              <a:rPr lang="it-IT" dirty="0" err="1">
                <a:ln>
                  <a:solidFill>
                    <a:srgbClr val="13501B"/>
                  </a:solidFill>
                </a:ln>
                <a:solidFill>
                  <a:srgbClr val="13501B"/>
                </a:solidFill>
              </a:rPr>
              <a:t>architecture</a:t>
            </a:r>
            <a:r>
              <a:rPr lang="it-IT" dirty="0">
                <a:ln>
                  <a:solidFill>
                    <a:srgbClr val="13501B"/>
                  </a:solidFill>
                </a:ln>
                <a:solidFill>
                  <a:srgbClr val="13501B"/>
                </a:solidFill>
              </a:rPr>
              <a:t> </a:t>
            </a:r>
          </a:p>
        </p:txBody>
      </p:sp>
      <p:sp>
        <p:nvSpPr>
          <p:cNvPr id="8" name="CasellaDiTesto 7">
            <a:extLst>
              <a:ext uri="{FF2B5EF4-FFF2-40B4-BE49-F238E27FC236}">
                <a16:creationId xmlns:a16="http://schemas.microsoft.com/office/drawing/2014/main" id="{8D5EBEF8-4AC4-C075-64BD-21514439826C}"/>
              </a:ext>
            </a:extLst>
          </p:cNvPr>
          <p:cNvSpPr txBox="1"/>
          <p:nvPr/>
        </p:nvSpPr>
        <p:spPr>
          <a:xfrm>
            <a:off x="6517793" y="4092345"/>
            <a:ext cx="3128012" cy="1754326"/>
          </a:xfrm>
          <a:prstGeom prst="rect">
            <a:avLst/>
          </a:prstGeom>
          <a:noFill/>
        </p:spPr>
        <p:txBody>
          <a:bodyPr wrap="square" rtlCol="0">
            <a:spAutoFit/>
          </a:bodyPr>
          <a:lstStyle/>
          <a:p>
            <a:pPr marL="285750" indent="-285750">
              <a:buFont typeface="Arial" panose="020B0604020202020204" pitchFamily="34" charset="0"/>
              <a:buChar char="•"/>
            </a:pPr>
            <a:r>
              <a:rPr lang="it-IT" dirty="0" err="1"/>
              <a:t>Ensure</a:t>
            </a:r>
            <a:r>
              <a:rPr lang="it-IT" dirty="0"/>
              <a:t> the </a:t>
            </a:r>
            <a:r>
              <a:rPr lang="it-IT" dirty="0" err="1"/>
              <a:t>structural</a:t>
            </a:r>
            <a:r>
              <a:rPr lang="it-IT" dirty="0"/>
              <a:t> </a:t>
            </a:r>
            <a:r>
              <a:rPr lang="it-IT" dirty="0" err="1"/>
              <a:t>consistency</a:t>
            </a:r>
            <a:r>
              <a:rPr lang="it-IT" dirty="0"/>
              <a:t> of pipelines</a:t>
            </a:r>
          </a:p>
          <a:p>
            <a:pPr marL="285750" indent="-285750">
              <a:buFont typeface="Arial" panose="020B0604020202020204" pitchFamily="34" charset="0"/>
              <a:buChar char="•"/>
            </a:pPr>
            <a:r>
              <a:rPr lang="it-IT" dirty="0"/>
              <a:t>Guide the user </a:t>
            </a:r>
            <a:r>
              <a:rPr lang="it-IT" dirty="0" err="1"/>
              <a:t>during</a:t>
            </a:r>
            <a:r>
              <a:rPr lang="it-IT" dirty="0"/>
              <a:t> the </a:t>
            </a:r>
            <a:r>
              <a:rPr lang="it-IT" dirty="0" err="1"/>
              <a:t>composition</a:t>
            </a:r>
            <a:r>
              <a:rPr lang="it-IT" dirty="0"/>
              <a:t> </a:t>
            </a:r>
            <a:r>
              <a:rPr lang="it-IT" dirty="0" err="1"/>
              <a:t>process</a:t>
            </a:r>
            <a:endParaRPr lang="it-IT" dirty="0"/>
          </a:p>
          <a:p>
            <a:pPr marL="285750" indent="-285750">
              <a:buFont typeface="Arial" panose="020B0604020202020204" pitchFamily="34" charset="0"/>
              <a:buChar char="•"/>
            </a:pPr>
            <a:r>
              <a:rPr lang="it-IT" dirty="0" err="1"/>
              <a:t>Promote</a:t>
            </a:r>
            <a:r>
              <a:rPr lang="it-IT" dirty="0"/>
              <a:t> the </a:t>
            </a:r>
            <a:r>
              <a:rPr lang="it-IT" dirty="0" err="1"/>
              <a:t>reuse</a:t>
            </a:r>
            <a:r>
              <a:rPr lang="it-IT" dirty="0"/>
              <a:t> of </a:t>
            </a:r>
            <a:r>
              <a:rPr lang="it-IT" dirty="0" err="1"/>
              <a:t>elements</a:t>
            </a:r>
            <a:endParaRPr lang="it-IT" dirty="0"/>
          </a:p>
        </p:txBody>
      </p:sp>
      <p:cxnSp>
        <p:nvCxnSpPr>
          <p:cNvPr id="9" name="Connettore 2 8">
            <a:extLst>
              <a:ext uri="{FF2B5EF4-FFF2-40B4-BE49-F238E27FC236}">
                <a16:creationId xmlns:a16="http://schemas.microsoft.com/office/drawing/2014/main" id="{688947B1-9EE0-19E7-65D4-49A098252BB0}"/>
              </a:ext>
            </a:extLst>
          </p:cNvPr>
          <p:cNvCxnSpPr>
            <a:cxnSpLocks/>
            <a:stCxn id="4" idx="2"/>
            <a:endCxn id="5" idx="0"/>
          </p:cNvCxnSpPr>
          <p:nvPr/>
        </p:nvCxnSpPr>
        <p:spPr>
          <a:xfrm flipH="1">
            <a:off x="3971469" y="2764069"/>
            <a:ext cx="1936640" cy="1820719"/>
          </a:xfrm>
          <a:prstGeom prst="straightConnector1">
            <a:avLst/>
          </a:prstGeom>
          <a:ln w="28575">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ttore 2 15">
            <a:extLst>
              <a:ext uri="{FF2B5EF4-FFF2-40B4-BE49-F238E27FC236}">
                <a16:creationId xmlns:a16="http://schemas.microsoft.com/office/drawing/2014/main" id="{E34B9E01-0C37-D91B-DA5B-90AF31FF38CE}"/>
              </a:ext>
            </a:extLst>
          </p:cNvPr>
          <p:cNvCxnSpPr>
            <a:cxnSpLocks/>
            <a:stCxn id="4" idx="2"/>
            <a:endCxn id="6" idx="1"/>
          </p:cNvCxnSpPr>
          <p:nvPr/>
        </p:nvCxnSpPr>
        <p:spPr>
          <a:xfrm>
            <a:off x="5908109" y="2764069"/>
            <a:ext cx="799557" cy="1000188"/>
          </a:xfrm>
          <a:prstGeom prst="straightConnector1">
            <a:avLst/>
          </a:prstGeom>
          <a:ln w="28575">
            <a:solidFill>
              <a:srgbClr val="215F9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4793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6AF28-10D0-391A-17EB-19DEC2552F22}"/>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568F6E58-7325-F88E-C733-C8A6EF53DA29}"/>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401F1F40-FAAA-F54F-4504-0E8BBD2C6529}"/>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79F562DA-6717-E420-F05F-1917397FEC71}"/>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86B1B73B-9141-5CDA-8968-CE503B1420E1}"/>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53F4416E-E2BB-00E7-05CA-1F83315E6B33}"/>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8DD72410-2D3A-F40B-2915-CF3CFF6ED55C}"/>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AA326CE1-CCEC-3BE8-58A4-566CAD5E9433}"/>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BCC48AE7-C0E8-A7BA-6563-81AA71CB724D}"/>
              </a:ext>
            </a:extLst>
          </p:cNvPr>
          <p:cNvSpPr>
            <a:spLocks noGrp="1"/>
          </p:cNvSpPr>
          <p:nvPr>
            <p:ph type="title"/>
          </p:nvPr>
        </p:nvSpPr>
        <p:spPr>
          <a:xfrm>
            <a:off x="818837" y="584730"/>
            <a:ext cx="10515600" cy="1325563"/>
          </a:xfrm>
        </p:spPr>
        <p:txBody>
          <a:bodyPr/>
          <a:lstStyle/>
          <a:p>
            <a:r>
              <a:rPr lang="it-IT" i="1" dirty="0"/>
              <a:t>The Model - </a:t>
            </a:r>
            <a:r>
              <a:rPr lang="it-IT" i="1" dirty="0" err="1"/>
              <a:t>Entities</a:t>
            </a:r>
            <a:endParaRPr lang="it-IT" i="1" dirty="0"/>
          </a:p>
        </p:txBody>
      </p:sp>
      <p:sp>
        <p:nvSpPr>
          <p:cNvPr id="3" name="Rettangolo con angoli arrotondati 2">
            <a:extLst>
              <a:ext uri="{FF2B5EF4-FFF2-40B4-BE49-F238E27FC236}">
                <a16:creationId xmlns:a16="http://schemas.microsoft.com/office/drawing/2014/main" id="{CE2BFE95-32BF-47BB-7D16-DECF50508C6E}"/>
              </a:ext>
            </a:extLst>
          </p:cNvPr>
          <p:cNvSpPr/>
          <p:nvPr/>
        </p:nvSpPr>
        <p:spPr>
          <a:xfrm>
            <a:off x="838200" y="1702526"/>
            <a:ext cx="10139817" cy="612934"/>
          </a:xfrm>
          <a:prstGeom prst="roundRect">
            <a:avLst/>
          </a:prstGeom>
          <a:solidFill>
            <a:schemeClr val="bg1"/>
          </a:solidFill>
          <a:ln w="28575">
            <a:solidFill>
              <a:srgbClr val="215F9A"/>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it-IT" sz="3000" b="1" i="1" dirty="0" err="1">
                <a:solidFill>
                  <a:srgbClr val="13501B"/>
                </a:solidFill>
              </a:rPr>
              <a:t>Context</a:t>
            </a:r>
            <a:endParaRPr lang="it-IT" sz="3000" b="1" i="1" dirty="0">
              <a:solidFill>
                <a:srgbClr val="13501B"/>
              </a:solidFill>
            </a:endParaRPr>
          </a:p>
        </p:txBody>
      </p:sp>
      <p:sp>
        <p:nvSpPr>
          <p:cNvPr id="9" name="Rettangolo con angoli arrotondati 8">
            <a:extLst>
              <a:ext uri="{FF2B5EF4-FFF2-40B4-BE49-F238E27FC236}">
                <a16:creationId xmlns:a16="http://schemas.microsoft.com/office/drawing/2014/main" id="{6E7994CB-B804-B1CF-E895-95C13A5AE6E1}"/>
              </a:ext>
            </a:extLst>
          </p:cNvPr>
          <p:cNvSpPr/>
          <p:nvPr/>
        </p:nvSpPr>
        <p:spPr>
          <a:xfrm>
            <a:off x="1420061"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ObjectType</a:t>
            </a:r>
          </a:p>
        </p:txBody>
      </p:sp>
      <p:sp>
        <p:nvSpPr>
          <p:cNvPr id="10" name="Rettangolo con angoli arrotondati 9">
            <a:extLst>
              <a:ext uri="{FF2B5EF4-FFF2-40B4-BE49-F238E27FC236}">
                <a16:creationId xmlns:a16="http://schemas.microsoft.com/office/drawing/2014/main" id="{82E2F0F8-6CED-2C9F-099A-0E3F9294A026}"/>
              </a:ext>
            </a:extLst>
          </p:cNvPr>
          <p:cNvSpPr/>
          <p:nvPr/>
        </p:nvSpPr>
        <p:spPr>
          <a:xfrm>
            <a:off x="7643429"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err="1">
                <a:solidFill>
                  <a:srgbClr val="13501B"/>
                </a:solidFill>
              </a:rPr>
              <a:t>Algorithm</a:t>
            </a:r>
            <a:endParaRPr lang="it-IT" sz="3000" b="1" i="1" dirty="0">
              <a:solidFill>
                <a:srgbClr val="13501B"/>
              </a:solidFill>
            </a:endParaRPr>
          </a:p>
        </p:txBody>
      </p:sp>
      <p:sp>
        <p:nvSpPr>
          <p:cNvPr id="11" name="Rettangolo con angoli arrotondati 10">
            <a:extLst>
              <a:ext uri="{FF2B5EF4-FFF2-40B4-BE49-F238E27FC236}">
                <a16:creationId xmlns:a16="http://schemas.microsoft.com/office/drawing/2014/main" id="{438A99D4-2C31-FBE5-592D-7111EFC71D57}"/>
              </a:ext>
            </a:extLst>
          </p:cNvPr>
          <p:cNvSpPr/>
          <p:nvPr/>
        </p:nvSpPr>
        <p:spPr>
          <a:xfrm>
            <a:off x="4648108" y="4526528"/>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Pipeline</a:t>
            </a:r>
          </a:p>
        </p:txBody>
      </p:sp>
    </p:spTree>
    <p:extLst>
      <p:ext uri="{BB962C8B-B14F-4D97-AF65-F5344CB8AC3E}">
        <p14:creationId xmlns:p14="http://schemas.microsoft.com/office/powerpoint/2010/main" val="184468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F309C-1F60-A228-F7F7-E1BDEB08949F}"/>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E1F1798C-DE87-F9E2-F44C-716E1490F3AA}"/>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4" name="Rettangolo con angoli arrotondati 3">
            <a:extLst>
              <a:ext uri="{FF2B5EF4-FFF2-40B4-BE49-F238E27FC236}">
                <a16:creationId xmlns:a16="http://schemas.microsoft.com/office/drawing/2014/main" id="{4F78585D-989B-D002-A8BA-A3E837D8AD26}"/>
              </a:ext>
            </a:extLst>
          </p:cNvPr>
          <p:cNvSpPr/>
          <p:nvPr/>
        </p:nvSpPr>
        <p:spPr>
          <a:xfrm>
            <a:off x="818837" y="1700754"/>
            <a:ext cx="10139817" cy="4699159"/>
          </a:xfrm>
          <a:prstGeom prst="roundRect">
            <a:avLst/>
          </a:prstGeom>
          <a:solidFill>
            <a:srgbClr val="FFC000"/>
          </a:solidFill>
          <a:ln w="38100">
            <a:solidFill>
              <a:srgbClr val="215F9A"/>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it-IT" sz="3000" b="1" i="1" dirty="0" err="1">
                <a:solidFill>
                  <a:srgbClr val="13501B"/>
                </a:solidFill>
              </a:rPr>
              <a:t>Context</a:t>
            </a:r>
            <a:endParaRPr lang="it-IT" sz="3000" b="1" i="1" dirty="0">
              <a:solidFill>
                <a:srgbClr val="13501B"/>
              </a:solidFill>
            </a:endParaRPr>
          </a:p>
          <a:p>
            <a:pPr algn="ctr"/>
            <a:endParaRPr lang="it-IT" sz="3000" b="1" i="1" dirty="0"/>
          </a:p>
          <a:p>
            <a:pPr algn="ctr"/>
            <a:endParaRPr lang="it-IT" sz="3000" b="1" i="1" dirty="0">
              <a:solidFill>
                <a:schemeClr val="dk1"/>
              </a:solidFill>
            </a:endParaRPr>
          </a:p>
          <a:p>
            <a:pPr algn="ctr"/>
            <a:endParaRPr lang="it-IT" sz="3000" b="1" i="1" dirty="0"/>
          </a:p>
          <a:p>
            <a:pPr algn="ctr"/>
            <a:endParaRPr lang="it-IT" sz="3000" b="1" i="1" dirty="0">
              <a:solidFill>
                <a:schemeClr val="dk1"/>
              </a:solidFill>
            </a:endParaRPr>
          </a:p>
          <a:p>
            <a:pPr algn="ctr"/>
            <a:endParaRPr lang="it-IT" sz="3000" b="1" i="1" dirty="0"/>
          </a:p>
          <a:p>
            <a:pPr algn="ctr"/>
            <a:endParaRPr lang="it-IT" sz="3000" b="1" i="1" dirty="0">
              <a:solidFill>
                <a:schemeClr val="dk1"/>
              </a:solidFill>
            </a:endParaRPr>
          </a:p>
          <a:p>
            <a:pPr algn="ctr"/>
            <a:endParaRPr lang="it-IT" sz="3000" b="1" i="1" dirty="0"/>
          </a:p>
          <a:p>
            <a:pPr algn="ctr"/>
            <a:endParaRPr lang="it-IT" sz="3000" b="1" i="1" dirty="0">
              <a:solidFill>
                <a:schemeClr val="dk1"/>
              </a:solidFill>
            </a:endParaRPr>
          </a:p>
        </p:txBody>
      </p:sp>
      <p:sp>
        <p:nvSpPr>
          <p:cNvPr id="20" name="Figura a mano libera: forma 19">
            <a:extLst>
              <a:ext uri="{FF2B5EF4-FFF2-40B4-BE49-F238E27FC236}">
                <a16:creationId xmlns:a16="http://schemas.microsoft.com/office/drawing/2014/main" id="{9203A58B-3A70-D356-E91B-0C89B6427EBC}"/>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E1B33C03-5209-4178-6D8C-17ACD3FA0CC2}"/>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28C539B3-488E-4773-44EB-C8D069EA8C50}"/>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894E6C52-6F6B-9427-D823-8107BE0EDEC0}"/>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FE2E069A-C9A0-15FB-EA75-8FF1BA4C7C78}"/>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E2165AA6-97A6-7538-4B3C-D8A89A9D661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D156AD0A-E038-0DC9-B71B-4A38BA353814}"/>
              </a:ext>
            </a:extLst>
          </p:cNvPr>
          <p:cNvSpPr>
            <a:spLocks noGrp="1"/>
          </p:cNvSpPr>
          <p:nvPr>
            <p:ph type="title"/>
          </p:nvPr>
        </p:nvSpPr>
        <p:spPr>
          <a:xfrm>
            <a:off x="818837" y="584730"/>
            <a:ext cx="10515600" cy="1325563"/>
          </a:xfrm>
        </p:spPr>
        <p:txBody>
          <a:bodyPr/>
          <a:lstStyle/>
          <a:p>
            <a:r>
              <a:rPr lang="it-IT" i="1" dirty="0"/>
              <a:t>The Model - </a:t>
            </a:r>
            <a:r>
              <a:rPr lang="it-IT" i="1" dirty="0" err="1"/>
              <a:t>Entities</a:t>
            </a:r>
            <a:endParaRPr lang="it-IT" i="1" dirty="0"/>
          </a:p>
        </p:txBody>
      </p:sp>
      <p:sp>
        <p:nvSpPr>
          <p:cNvPr id="9" name="Rettangolo con angoli arrotondati 8">
            <a:extLst>
              <a:ext uri="{FF2B5EF4-FFF2-40B4-BE49-F238E27FC236}">
                <a16:creationId xmlns:a16="http://schemas.microsoft.com/office/drawing/2014/main" id="{A4624D58-6B62-1291-9165-1C8C1AC8CE3F}"/>
              </a:ext>
            </a:extLst>
          </p:cNvPr>
          <p:cNvSpPr/>
          <p:nvPr/>
        </p:nvSpPr>
        <p:spPr>
          <a:xfrm>
            <a:off x="1420061"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ObjectType</a:t>
            </a:r>
          </a:p>
        </p:txBody>
      </p:sp>
      <p:sp>
        <p:nvSpPr>
          <p:cNvPr id="10" name="Rettangolo con angoli arrotondati 9">
            <a:extLst>
              <a:ext uri="{FF2B5EF4-FFF2-40B4-BE49-F238E27FC236}">
                <a16:creationId xmlns:a16="http://schemas.microsoft.com/office/drawing/2014/main" id="{50A4E349-2D99-F9F8-36EC-179D613D6098}"/>
              </a:ext>
            </a:extLst>
          </p:cNvPr>
          <p:cNvSpPr/>
          <p:nvPr/>
        </p:nvSpPr>
        <p:spPr>
          <a:xfrm>
            <a:off x="7643429"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err="1">
                <a:solidFill>
                  <a:srgbClr val="13501B"/>
                </a:solidFill>
              </a:rPr>
              <a:t>Algorithm</a:t>
            </a:r>
            <a:endParaRPr lang="it-IT" sz="3000" b="1" i="1" dirty="0">
              <a:solidFill>
                <a:srgbClr val="13501B"/>
              </a:solidFill>
            </a:endParaRPr>
          </a:p>
        </p:txBody>
      </p:sp>
      <p:sp>
        <p:nvSpPr>
          <p:cNvPr id="11" name="Rettangolo con angoli arrotondati 10">
            <a:extLst>
              <a:ext uri="{FF2B5EF4-FFF2-40B4-BE49-F238E27FC236}">
                <a16:creationId xmlns:a16="http://schemas.microsoft.com/office/drawing/2014/main" id="{BB55FB30-9AF4-6030-7E30-F12E07C50C3E}"/>
              </a:ext>
            </a:extLst>
          </p:cNvPr>
          <p:cNvSpPr/>
          <p:nvPr/>
        </p:nvSpPr>
        <p:spPr>
          <a:xfrm>
            <a:off x="4648108" y="4526528"/>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Pipeline</a:t>
            </a:r>
          </a:p>
        </p:txBody>
      </p:sp>
    </p:spTree>
    <p:extLst>
      <p:ext uri="{BB962C8B-B14F-4D97-AF65-F5344CB8AC3E}">
        <p14:creationId xmlns:p14="http://schemas.microsoft.com/office/powerpoint/2010/main" val="728582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5D925-80BD-CB13-2FAB-F97CFC55EF64}"/>
            </a:ext>
          </a:extLst>
        </p:cNvPr>
        <p:cNvGrpSpPr/>
        <p:nvPr/>
      </p:nvGrpSpPr>
      <p:grpSpPr>
        <a:xfrm>
          <a:off x="0" y="0"/>
          <a:ext cx="0" cy="0"/>
          <a:chOff x="0" y="0"/>
          <a:chExt cx="0" cy="0"/>
        </a:xfrm>
      </p:grpSpPr>
      <p:pic>
        <p:nvPicPr>
          <p:cNvPr id="5" name="Immagine 4">
            <a:extLst>
              <a:ext uri="{FF2B5EF4-FFF2-40B4-BE49-F238E27FC236}">
                <a16:creationId xmlns:a16="http://schemas.microsoft.com/office/drawing/2014/main" id="{B2134D25-8B35-EACB-BB74-452802D9A7EC}"/>
              </a:ext>
            </a:extLst>
          </p:cNvPr>
          <p:cNvPicPr>
            <a:picLocks noChangeAspect="1"/>
          </p:cNvPicPr>
          <p:nvPr/>
        </p:nvPicPr>
        <p:blipFill>
          <a:blip r:embed="rId3">
            <a:extLst>
              <a:ext uri="{28A0092B-C50C-407E-A947-70E740481C1C}">
                <a14:useLocalDpi xmlns:a14="http://schemas.microsoft.com/office/drawing/2010/main" val="0"/>
              </a:ext>
            </a:extLst>
          </a:blip>
          <a:srcRect l="13432" t="16178" r="12852" b="12214"/>
          <a:stretch>
            <a:fillRect/>
          </a:stretch>
        </p:blipFill>
        <p:spPr>
          <a:xfrm>
            <a:off x="1702105" y="1510852"/>
            <a:ext cx="8787789" cy="4656348"/>
          </a:xfrm>
          <a:prstGeom prst="rect">
            <a:avLst/>
          </a:prstGeom>
        </p:spPr>
      </p:pic>
      <p:sp>
        <p:nvSpPr>
          <p:cNvPr id="20" name="Figura a mano libera: forma 19">
            <a:extLst>
              <a:ext uri="{FF2B5EF4-FFF2-40B4-BE49-F238E27FC236}">
                <a16:creationId xmlns:a16="http://schemas.microsoft.com/office/drawing/2014/main" id="{BDCD83B2-F7FB-A08F-867C-6AB37046DF04}"/>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C48C9031-D47B-2747-8AB3-8D2997ACF288}"/>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380DD330-E7D8-E22C-85B1-B90F53DEF232}"/>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0CEF3ADD-D5F7-4636-E532-960E57C9332A}"/>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4072F2E2-C6E5-B186-B000-1228F644FF36}"/>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3AD28E09-7AFF-2E4E-6EF0-EA101A655DBF}"/>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Titolo 1">
            <a:extLst>
              <a:ext uri="{FF2B5EF4-FFF2-40B4-BE49-F238E27FC236}">
                <a16:creationId xmlns:a16="http://schemas.microsoft.com/office/drawing/2014/main" id="{03E6E21B-5075-45A5-9D1F-372558312E4E}"/>
              </a:ext>
            </a:extLst>
          </p:cNvPr>
          <p:cNvSpPr>
            <a:spLocks noGrp="1"/>
          </p:cNvSpPr>
          <p:nvPr>
            <p:ph type="title"/>
          </p:nvPr>
        </p:nvSpPr>
        <p:spPr>
          <a:xfrm>
            <a:off x="818837" y="584730"/>
            <a:ext cx="10515600" cy="1325563"/>
          </a:xfrm>
        </p:spPr>
        <p:txBody>
          <a:bodyPr/>
          <a:lstStyle/>
          <a:p>
            <a:r>
              <a:rPr lang="it-IT" i="1" dirty="0"/>
              <a:t>The Model</a:t>
            </a:r>
          </a:p>
        </p:txBody>
      </p:sp>
    </p:spTree>
    <p:extLst>
      <p:ext uri="{BB962C8B-B14F-4D97-AF65-F5344CB8AC3E}">
        <p14:creationId xmlns:p14="http://schemas.microsoft.com/office/powerpoint/2010/main" val="3079944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09FA-F522-79EF-D5B0-C268CDBFA839}"/>
            </a:ext>
          </a:extLst>
        </p:cNvPr>
        <p:cNvGrpSpPr/>
        <p:nvPr/>
      </p:nvGrpSpPr>
      <p:grpSpPr>
        <a:xfrm>
          <a:off x="0" y="0"/>
          <a:ext cx="0" cy="0"/>
          <a:chOff x="0" y="0"/>
          <a:chExt cx="0" cy="0"/>
        </a:xfrm>
      </p:grpSpPr>
      <p:sp>
        <p:nvSpPr>
          <p:cNvPr id="20" name="Figura a mano libera: forma 19">
            <a:extLst>
              <a:ext uri="{FF2B5EF4-FFF2-40B4-BE49-F238E27FC236}">
                <a16:creationId xmlns:a16="http://schemas.microsoft.com/office/drawing/2014/main" id="{CCDB374E-A4E0-78C5-7FC3-3D1D98BDF824}"/>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3" name="Figura a mano libera: forma 22">
            <a:extLst>
              <a:ext uri="{FF2B5EF4-FFF2-40B4-BE49-F238E27FC236}">
                <a16:creationId xmlns:a16="http://schemas.microsoft.com/office/drawing/2014/main" id="{7EC92F19-4E17-6416-0334-82438AD7FAF4}"/>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6" name="Figura a mano libera: forma 25">
            <a:extLst>
              <a:ext uri="{FF2B5EF4-FFF2-40B4-BE49-F238E27FC236}">
                <a16:creationId xmlns:a16="http://schemas.microsoft.com/office/drawing/2014/main" id="{C5ABFCDB-1060-B645-98C7-2BDBAD3353C3}"/>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8" name="Rettangolo 27">
            <a:extLst>
              <a:ext uri="{FF2B5EF4-FFF2-40B4-BE49-F238E27FC236}">
                <a16:creationId xmlns:a16="http://schemas.microsoft.com/office/drawing/2014/main" id="{5F9DBF8E-9B59-3451-C81F-4E1B4D397E52}"/>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Figura a mano libera: forma 14">
            <a:extLst>
              <a:ext uri="{FF2B5EF4-FFF2-40B4-BE49-F238E27FC236}">
                <a16:creationId xmlns:a16="http://schemas.microsoft.com/office/drawing/2014/main" id="{2E070352-EB20-42E7-FFC5-ACFF6E4118E5}"/>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7" name="Rettangolo 26">
            <a:extLst>
              <a:ext uri="{FF2B5EF4-FFF2-40B4-BE49-F238E27FC236}">
                <a16:creationId xmlns:a16="http://schemas.microsoft.com/office/drawing/2014/main" id="{ECDD4F9E-0EA4-5B2F-3CC3-AE59A4488CAA}"/>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olo 1">
            <a:extLst>
              <a:ext uri="{FF2B5EF4-FFF2-40B4-BE49-F238E27FC236}">
                <a16:creationId xmlns:a16="http://schemas.microsoft.com/office/drawing/2014/main" id="{677E0B5C-5923-554A-215F-EBA6BC79DC9F}"/>
              </a:ext>
            </a:extLst>
          </p:cNvPr>
          <p:cNvSpPr>
            <a:spLocks noGrp="1"/>
          </p:cNvSpPr>
          <p:nvPr>
            <p:ph type="title"/>
          </p:nvPr>
        </p:nvSpPr>
        <p:spPr>
          <a:xfrm>
            <a:off x="823087" y="636783"/>
            <a:ext cx="10515600" cy="1325563"/>
          </a:xfrm>
        </p:spPr>
        <p:txBody>
          <a:bodyPr/>
          <a:lstStyle/>
          <a:p>
            <a:r>
              <a:rPr lang="en-GB" i="1" noProof="0" dirty="0"/>
              <a:t>Technologies</a:t>
            </a:r>
          </a:p>
        </p:txBody>
      </p:sp>
      <p:pic>
        <p:nvPicPr>
          <p:cNvPr id="5" name="Immagine 4">
            <a:extLst>
              <a:ext uri="{FF2B5EF4-FFF2-40B4-BE49-F238E27FC236}">
                <a16:creationId xmlns:a16="http://schemas.microsoft.com/office/drawing/2014/main" id="{2F53063D-36E1-9D45-ECB1-52BBBD872137}"/>
              </a:ext>
            </a:extLst>
          </p:cNvPr>
          <p:cNvPicPr>
            <a:picLocks noChangeAspect="1"/>
          </p:cNvPicPr>
          <p:nvPr/>
        </p:nvPicPr>
        <p:blipFill>
          <a:blip r:embed="rId3"/>
          <a:srcRect l="4888" t="2705" r="6400" b="3185"/>
          <a:stretch>
            <a:fillRect/>
          </a:stretch>
        </p:blipFill>
        <p:spPr>
          <a:xfrm>
            <a:off x="1691127" y="1735204"/>
            <a:ext cx="8062175" cy="4724707"/>
          </a:xfrm>
          <a:prstGeom prst="rect">
            <a:avLst/>
          </a:prstGeom>
        </p:spPr>
      </p:pic>
    </p:spTree>
    <p:extLst>
      <p:ext uri="{BB962C8B-B14F-4D97-AF65-F5344CB8AC3E}">
        <p14:creationId xmlns:p14="http://schemas.microsoft.com/office/powerpoint/2010/main" val="294030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7F803-1DF1-D2BC-D3FE-FF7CFD5F30B6}"/>
            </a:ext>
          </a:extLst>
        </p:cNvPr>
        <p:cNvGrpSpPr/>
        <p:nvPr/>
      </p:nvGrpSpPr>
      <p:grpSpPr>
        <a:xfrm>
          <a:off x="0" y="0"/>
          <a:ext cx="0" cy="0"/>
          <a:chOff x="0" y="0"/>
          <a:chExt cx="0" cy="0"/>
        </a:xfrm>
      </p:grpSpPr>
      <p:sp>
        <p:nvSpPr>
          <p:cNvPr id="20" name="Figura a mano libera: forma 19">
            <a:extLst>
              <a:ext uri="{FF2B5EF4-FFF2-40B4-BE49-F238E27FC236}">
                <a16:creationId xmlns:a16="http://schemas.microsoft.com/office/drawing/2014/main" id="{30AFE873-64E5-96DB-C55F-8E194FD6857E}"/>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6822D946-F1A7-7933-76B4-92E2EF562E10}"/>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35D078D7-D885-2330-5B0D-541E0A206C44}"/>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1A47255C-D1FA-8239-73EA-C768FE8358D2}"/>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B385B23C-28FF-B892-4B65-8ADAE4868FEC}"/>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55A1321C-E66C-86D0-E9F5-8A4AF252BBE8}"/>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7D619B0-A52B-2B85-89BA-A04FFDC4595F}"/>
              </a:ext>
            </a:extLst>
          </p:cNvPr>
          <p:cNvSpPr>
            <a:spLocks noGrp="1"/>
          </p:cNvSpPr>
          <p:nvPr>
            <p:ph type="title"/>
          </p:nvPr>
        </p:nvSpPr>
        <p:spPr>
          <a:xfrm>
            <a:off x="853313" y="565334"/>
            <a:ext cx="10515600" cy="1325563"/>
          </a:xfrm>
        </p:spPr>
        <p:txBody>
          <a:bodyPr/>
          <a:lstStyle/>
          <a:p>
            <a:r>
              <a:rPr lang="it-IT" i="1" dirty="0"/>
              <a:t>Software Architecture - </a:t>
            </a:r>
            <a:r>
              <a:rPr lang="it-IT" i="1" dirty="0" err="1"/>
              <a:t>Functional</a:t>
            </a:r>
            <a:r>
              <a:rPr lang="it-IT" i="1" dirty="0"/>
              <a:t> Areas</a:t>
            </a:r>
          </a:p>
        </p:txBody>
      </p:sp>
      <p:sp>
        <p:nvSpPr>
          <p:cNvPr id="4" name="Rettangolo con angoli arrotondati 3">
            <a:extLst>
              <a:ext uri="{FF2B5EF4-FFF2-40B4-BE49-F238E27FC236}">
                <a16:creationId xmlns:a16="http://schemas.microsoft.com/office/drawing/2014/main" id="{DE338F21-D2B2-D0FB-F633-0C59161AADC0}"/>
              </a:ext>
            </a:extLst>
          </p:cNvPr>
          <p:cNvSpPr/>
          <p:nvPr/>
        </p:nvSpPr>
        <p:spPr>
          <a:xfrm>
            <a:off x="4939228" y="3010513"/>
            <a:ext cx="1468198" cy="425019"/>
          </a:xfrm>
          <a:prstGeom prst="roundRect">
            <a:avLst/>
          </a:prstGeom>
          <a:solidFill>
            <a:srgbClr val="FFC000"/>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13501B"/>
                </a:solidFill>
              </a:rPr>
              <a:t>API</a:t>
            </a:r>
          </a:p>
        </p:txBody>
      </p:sp>
      <p:sp>
        <p:nvSpPr>
          <p:cNvPr id="5" name="Rettangolo con angoli arrotondati 4">
            <a:extLst>
              <a:ext uri="{FF2B5EF4-FFF2-40B4-BE49-F238E27FC236}">
                <a16:creationId xmlns:a16="http://schemas.microsoft.com/office/drawing/2014/main" id="{68F8140E-EA8C-2A62-1D8A-98B9866A7768}"/>
              </a:ext>
            </a:extLst>
          </p:cNvPr>
          <p:cNvSpPr/>
          <p:nvPr/>
        </p:nvSpPr>
        <p:spPr>
          <a:xfrm>
            <a:off x="8520562" y="2531164"/>
            <a:ext cx="1861220" cy="636988"/>
          </a:xfrm>
          <a:prstGeom prst="roundRect">
            <a:avLst/>
          </a:prstGeom>
          <a:solidFill>
            <a:schemeClr val="accent5">
              <a:lumMod val="60000"/>
              <a:lumOff val="40000"/>
            </a:schemeClr>
          </a:soli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err="1"/>
              <a:t>Algorithm</a:t>
            </a:r>
            <a:r>
              <a:rPr lang="it-IT" b="1" i="1" dirty="0"/>
              <a:t> </a:t>
            </a:r>
            <a:r>
              <a:rPr lang="it-IT" b="1" i="1" dirty="0" err="1"/>
              <a:t>Catalog</a:t>
            </a:r>
            <a:endParaRPr lang="it-IT" b="1" i="1" dirty="0">
              <a:solidFill>
                <a:schemeClr val="bg1"/>
              </a:solidFill>
            </a:endParaRPr>
          </a:p>
        </p:txBody>
      </p:sp>
      <p:sp>
        <p:nvSpPr>
          <p:cNvPr id="6" name="Rettangolo con angoli arrotondati 5">
            <a:extLst>
              <a:ext uri="{FF2B5EF4-FFF2-40B4-BE49-F238E27FC236}">
                <a16:creationId xmlns:a16="http://schemas.microsoft.com/office/drawing/2014/main" id="{565AF2CD-5494-9F0C-4BF8-9DA78EF04CBA}"/>
              </a:ext>
            </a:extLst>
          </p:cNvPr>
          <p:cNvSpPr/>
          <p:nvPr/>
        </p:nvSpPr>
        <p:spPr>
          <a:xfrm>
            <a:off x="3389971" y="4575300"/>
            <a:ext cx="2109885" cy="502599"/>
          </a:xfrm>
          <a:prstGeom prst="roundRect">
            <a:avLst/>
          </a:prstGeom>
          <a:solidFill>
            <a:srgbClr val="215F9A"/>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err="1">
                <a:solidFill>
                  <a:schemeClr val="bg1"/>
                </a:solidFill>
              </a:rPr>
              <a:t>Persistence</a:t>
            </a:r>
            <a:r>
              <a:rPr lang="it-IT" b="1" i="1" dirty="0">
                <a:solidFill>
                  <a:schemeClr val="bg1"/>
                </a:solidFill>
              </a:rPr>
              <a:t> Layer</a:t>
            </a:r>
          </a:p>
        </p:txBody>
      </p:sp>
      <p:sp>
        <p:nvSpPr>
          <p:cNvPr id="8" name="Rettangolo con angoli arrotondati 7">
            <a:extLst>
              <a:ext uri="{FF2B5EF4-FFF2-40B4-BE49-F238E27FC236}">
                <a16:creationId xmlns:a16="http://schemas.microsoft.com/office/drawing/2014/main" id="{6CCE2428-523C-6C28-5188-86C37C3040F0}"/>
              </a:ext>
            </a:extLst>
          </p:cNvPr>
          <p:cNvSpPr/>
          <p:nvPr/>
        </p:nvSpPr>
        <p:spPr>
          <a:xfrm>
            <a:off x="8520562" y="3367308"/>
            <a:ext cx="1114092" cy="628677"/>
          </a:xfrm>
          <a:prstGeom prst="roundRect">
            <a:avLst/>
          </a:prstGeom>
          <a:solidFill>
            <a:srgbClr val="13501B"/>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a:solidFill>
                  <a:schemeClr val="bg1"/>
                </a:solidFill>
              </a:rPr>
              <a:t>Models</a:t>
            </a:r>
          </a:p>
        </p:txBody>
      </p:sp>
      <p:sp>
        <p:nvSpPr>
          <p:cNvPr id="9" name="Rettangolo con angoli arrotondati 8">
            <a:extLst>
              <a:ext uri="{FF2B5EF4-FFF2-40B4-BE49-F238E27FC236}">
                <a16:creationId xmlns:a16="http://schemas.microsoft.com/office/drawing/2014/main" id="{B81BE571-43D4-7D4B-35A4-7A1D6DE04820}"/>
              </a:ext>
            </a:extLst>
          </p:cNvPr>
          <p:cNvSpPr/>
          <p:nvPr/>
        </p:nvSpPr>
        <p:spPr>
          <a:xfrm>
            <a:off x="6835668" y="4466600"/>
            <a:ext cx="1986139" cy="720000"/>
          </a:xfrm>
          <a:prstGeom prst="roundRect">
            <a:avLst/>
          </a:prstGeom>
          <a:solidFill>
            <a:srgbClr val="C00000"/>
          </a:soli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err="1">
                <a:solidFill>
                  <a:schemeClr val="bg1"/>
                </a:solidFill>
              </a:rPr>
              <a:t>Schemas</a:t>
            </a:r>
            <a:endParaRPr lang="it-IT" b="1" i="1" dirty="0">
              <a:solidFill>
                <a:schemeClr val="bg1"/>
              </a:solidFill>
            </a:endParaRPr>
          </a:p>
        </p:txBody>
      </p:sp>
      <p:sp>
        <p:nvSpPr>
          <p:cNvPr id="10" name="Rettangolo con angoli arrotondati 9">
            <a:extLst>
              <a:ext uri="{FF2B5EF4-FFF2-40B4-BE49-F238E27FC236}">
                <a16:creationId xmlns:a16="http://schemas.microsoft.com/office/drawing/2014/main" id="{86113668-289E-CB9A-9227-282CF3E6C7D1}"/>
              </a:ext>
            </a:extLst>
          </p:cNvPr>
          <p:cNvSpPr/>
          <p:nvPr/>
        </p:nvSpPr>
        <p:spPr>
          <a:xfrm>
            <a:off x="2524848" y="1672448"/>
            <a:ext cx="6296959" cy="634011"/>
          </a:xfrm>
          <a:prstGeom prst="roundRect">
            <a:avLst/>
          </a:prstGeom>
          <a:solidFill>
            <a:srgbClr val="4FB5E3"/>
          </a:solid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a:t>User Interface</a:t>
            </a:r>
          </a:p>
        </p:txBody>
      </p:sp>
      <p:sp>
        <p:nvSpPr>
          <p:cNvPr id="11" name="Rettangolo con angoli arrotondati 10">
            <a:extLst>
              <a:ext uri="{FF2B5EF4-FFF2-40B4-BE49-F238E27FC236}">
                <a16:creationId xmlns:a16="http://schemas.microsoft.com/office/drawing/2014/main" id="{88F6FB46-FB4C-A96F-FD20-84DB985DBCA0}"/>
              </a:ext>
            </a:extLst>
          </p:cNvPr>
          <p:cNvSpPr/>
          <p:nvPr/>
        </p:nvSpPr>
        <p:spPr>
          <a:xfrm>
            <a:off x="1488209" y="2863022"/>
            <a:ext cx="1440000" cy="72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err="1">
                <a:solidFill>
                  <a:srgbClr val="13501B"/>
                </a:solidFill>
              </a:rPr>
              <a:t>Main</a:t>
            </a:r>
            <a:endParaRPr lang="it-IT" b="1" dirty="0">
              <a:solidFill>
                <a:srgbClr val="13501B"/>
              </a:solidFill>
            </a:endParaRPr>
          </a:p>
        </p:txBody>
      </p:sp>
      <p:cxnSp>
        <p:nvCxnSpPr>
          <p:cNvPr id="13" name="Connettore 2 12">
            <a:extLst>
              <a:ext uri="{FF2B5EF4-FFF2-40B4-BE49-F238E27FC236}">
                <a16:creationId xmlns:a16="http://schemas.microsoft.com/office/drawing/2014/main" id="{D6C8FA54-DA1C-D371-C535-1ADF1F2F98AA}"/>
              </a:ext>
            </a:extLst>
          </p:cNvPr>
          <p:cNvCxnSpPr>
            <a:cxnSpLocks/>
            <a:stCxn id="10" idx="2"/>
            <a:endCxn id="4" idx="0"/>
          </p:cNvCxnSpPr>
          <p:nvPr/>
        </p:nvCxnSpPr>
        <p:spPr>
          <a:xfrm flipH="1">
            <a:off x="5673327" y="2306459"/>
            <a:ext cx="1" cy="704054"/>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nettore a gomito 32">
            <a:extLst>
              <a:ext uri="{FF2B5EF4-FFF2-40B4-BE49-F238E27FC236}">
                <a16:creationId xmlns:a16="http://schemas.microsoft.com/office/drawing/2014/main" id="{093EF45D-F58D-6B36-292A-CF857FBE0B5E}"/>
              </a:ext>
            </a:extLst>
          </p:cNvPr>
          <p:cNvCxnSpPr>
            <a:cxnSpLocks/>
            <a:stCxn id="8" idx="2"/>
            <a:endCxn id="9" idx="3"/>
          </p:cNvCxnSpPr>
          <p:nvPr/>
        </p:nvCxnSpPr>
        <p:spPr>
          <a:xfrm rot="5400000">
            <a:off x="8534401" y="4283392"/>
            <a:ext cx="830615" cy="255801"/>
          </a:xfrm>
          <a:prstGeom prst="bentConnector2">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ttore 2 38">
            <a:extLst>
              <a:ext uri="{FF2B5EF4-FFF2-40B4-BE49-F238E27FC236}">
                <a16:creationId xmlns:a16="http://schemas.microsoft.com/office/drawing/2014/main" id="{B9F4C93C-A5A6-2590-DD5B-9C152C3483F5}"/>
              </a:ext>
            </a:extLst>
          </p:cNvPr>
          <p:cNvCxnSpPr>
            <a:cxnSpLocks/>
            <a:stCxn id="9" idx="1"/>
            <a:endCxn id="6" idx="3"/>
          </p:cNvCxnSpPr>
          <p:nvPr/>
        </p:nvCxnSpPr>
        <p:spPr>
          <a:xfrm flipH="1">
            <a:off x="5499856" y="4826600"/>
            <a:ext cx="1335812" cy="0"/>
          </a:xfrm>
          <a:prstGeom prst="straightConnector1">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ttore 2 40">
            <a:extLst>
              <a:ext uri="{FF2B5EF4-FFF2-40B4-BE49-F238E27FC236}">
                <a16:creationId xmlns:a16="http://schemas.microsoft.com/office/drawing/2014/main" id="{ACC8EF75-D295-37D9-3076-65C9EBAC2206}"/>
              </a:ext>
            </a:extLst>
          </p:cNvPr>
          <p:cNvCxnSpPr>
            <a:cxnSpLocks/>
            <a:stCxn id="11" idx="3"/>
            <a:endCxn id="4" idx="1"/>
          </p:cNvCxnSpPr>
          <p:nvPr/>
        </p:nvCxnSpPr>
        <p:spPr>
          <a:xfrm>
            <a:off x="2928209" y="3223022"/>
            <a:ext cx="2011019" cy="1"/>
          </a:xfrm>
          <a:prstGeom prst="straightConnector1">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sp>
        <p:nvSpPr>
          <p:cNvPr id="52" name="Disco magnetico 51">
            <a:extLst>
              <a:ext uri="{FF2B5EF4-FFF2-40B4-BE49-F238E27FC236}">
                <a16:creationId xmlns:a16="http://schemas.microsoft.com/office/drawing/2014/main" id="{71036AE1-6217-67B8-6E3F-82C01485DC8E}"/>
              </a:ext>
            </a:extLst>
          </p:cNvPr>
          <p:cNvSpPr/>
          <p:nvPr/>
        </p:nvSpPr>
        <p:spPr>
          <a:xfrm>
            <a:off x="4120832" y="5773488"/>
            <a:ext cx="660400" cy="342900"/>
          </a:xfrm>
          <a:prstGeom prst="flowChartMagneticDisk">
            <a:avLst/>
          </a:prstGeom>
          <a:solidFill>
            <a:srgbClr val="215F9A"/>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3" name="Disco magnetico 52">
            <a:extLst>
              <a:ext uri="{FF2B5EF4-FFF2-40B4-BE49-F238E27FC236}">
                <a16:creationId xmlns:a16="http://schemas.microsoft.com/office/drawing/2014/main" id="{2D5237F5-935B-214D-32DB-0DE26460A75C}"/>
              </a:ext>
            </a:extLst>
          </p:cNvPr>
          <p:cNvSpPr/>
          <p:nvPr/>
        </p:nvSpPr>
        <p:spPr>
          <a:xfrm>
            <a:off x="4120832" y="5515539"/>
            <a:ext cx="660400" cy="342900"/>
          </a:xfrm>
          <a:prstGeom prst="flowChartMagneticDisk">
            <a:avLst/>
          </a:prstGeom>
          <a:solidFill>
            <a:srgbClr val="215F9A"/>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CasellaDiTesto 55">
            <a:extLst>
              <a:ext uri="{FF2B5EF4-FFF2-40B4-BE49-F238E27FC236}">
                <a16:creationId xmlns:a16="http://schemas.microsoft.com/office/drawing/2014/main" id="{A4FBBA35-FC65-8B9F-71C0-CB56F7E04FC9}"/>
              </a:ext>
            </a:extLst>
          </p:cNvPr>
          <p:cNvSpPr txBox="1"/>
          <p:nvPr/>
        </p:nvSpPr>
        <p:spPr>
          <a:xfrm>
            <a:off x="3767234" y="6161493"/>
            <a:ext cx="1338460" cy="369332"/>
          </a:xfrm>
          <a:prstGeom prst="rect">
            <a:avLst/>
          </a:prstGeom>
          <a:noFill/>
        </p:spPr>
        <p:txBody>
          <a:bodyPr wrap="square" rtlCol="0">
            <a:spAutoFit/>
          </a:bodyPr>
          <a:lstStyle/>
          <a:p>
            <a:pPr algn="ctr"/>
            <a:r>
              <a:rPr lang="it-IT" dirty="0"/>
              <a:t>Database</a:t>
            </a:r>
          </a:p>
        </p:txBody>
      </p:sp>
      <p:cxnSp>
        <p:nvCxnSpPr>
          <p:cNvPr id="63" name="Connettore 2 62">
            <a:extLst>
              <a:ext uri="{FF2B5EF4-FFF2-40B4-BE49-F238E27FC236}">
                <a16:creationId xmlns:a16="http://schemas.microsoft.com/office/drawing/2014/main" id="{B11B1023-2CF8-74E0-291F-11DA5C45CAD4}"/>
              </a:ext>
            </a:extLst>
          </p:cNvPr>
          <p:cNvCxnSpPr>
            <a:cxnSpLocks/>
            <a:stCxn id="11" idx="3"/>
            <a:endCxn id="6" idx="0"/>
          </p:cNvCxnSpPr>
          <p:nvPr/>
        </p:nvCxnSpPr>
        <p:spPr>
          <a:xfrm>
            <a:off x="2928209" y="3223022"/>
            <a:ext cx="1516705" cy="1352278"/>
          </a:xfrm>
          <a:prstGeom prst="straightConnector1">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71" name="Connettore 2 70">
            <a:extLst>
              <a:ext uri="{FF2B5EF4-FFF2-40B4-BE49-F238E27FC236}">
                <a16:creationId xmlns:a16="http://schemas.microsoft.com/office/drawing/2014/main" id="{002A3B8C-251D-45BD-4AAC-9A50D24B1FE5}"/>
              </a:ext>
            </a:extLst>
          </p:cNvPr>
          <p:cNvCxnSpPr>
            <a:cxnSpLocks/>
            <a:stCxn id="5" idx="1"/>
            <a:endCxn id="4" idx="3"/>
          </p:cNvCxnSpPr>
          <p:nvPr/>
        </p:nvCxnSpPr>
        <p:spPr>
          <a:xfrm flipH="1">
            <a:off x="6407426" y="2849658"/>
            <a:ext cx="2113136" cy="373365"/>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2" name="Connettore 2 71">
            <a:extLst>
              <a:ext uri="{FF2B5EF4-FFF2-40B4-BE49-F238E27FC236}">
                <a16:creationId xmlns:a16="http://schemas.microsoft.com/office/drawing/2014/main" id="{647BB9E6-E879-D952-68A4-EBB8A9872739}"/>
              </a:ext>
            </a:extLst>
          </p:cNvPr>
          <p:cNvCxnSpPr>
            <a:cxnSpLocks/>
            <a:stCxn id="4" idx="2"/>
            <a:endCxn id="6" idx="0"/>
          </p:cNvCxnSpPr>
          <p:nvPr/>
        </p:nvCxnSpPr>
        <p:spPr>
          <a:xfrm flipH="1">
            <a:off x="4444914" y="3435532"/>
            <a:ext cx="1228413" cy="1139768"/>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Connettore 2 79">
            <a:extLst>
              <a:ext uri="{FF2B5EF4-FFF2-40B4-BE49-F238E27FC236}">
                <a16:creationId xmlns:a16="http://schemas.microsoft.com/office/drawing/2014/main" id="{A1CDECBE-FAF5-F536-0F89-01FF1BE2CD0E}"/>
              </a:ext>
            </a:extLst>
          </p:cNvPr>
          <p:cNvCxnSpPr>
            <a:cxnSpLocks/>
            <a:stCxn id="4" idx="2"/>
            <a:endCxn id="9" idx="0"/>
          </p:cNvCxnSpPr>
          <p:nvPr/>
        </p:nvCxnSpPr>
        <p:spPr>
          <a:xfrm>
            <a:off x="5673327" y="3435532"/>
            <a:ext cx="2155411" cy="10310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Connettore 2 81">
            <a:extLst>
              <a:ext uri="{FF2B5EF4-FFF2-40B4-BE49-F238E27FC236}">
                <a16:creationId xmlns:a16="http://schemas.microsoft.com/office/drawing/2014/main" id="{DFC22670-7F49-78DF-6C0F-726EEC47BDEC}"/>
              </a:ext>
            </a:extLst>
          </p:cNvPr>
          <p:cNvCxnSpPr>
            <a:cxnSpLocks/>
            <a:stCxn id="53" idx="1"/>
            <a:endCxn id="6" idx="2"/>
          </p:cNvCxnSpPr>
          <p:nvPr/>
        </p:nvCxnSpPr>
        <p:spPr>
          <a:xfrm flipH="1" flipV="1">
            <a:off x="4444914" y="5077899"/>
            <a:ext cx="6118" cy="437640"/>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7" name="Connettore 2 86">
            <a:extLst>
              <a:ext uri="{FF2B5EF4-FFF2-40B4-BE49-F238E27FC236}">
                <a16:creationId xmlns:a16="http://schemas.microsoft.com/office/drawing/2014/main" id="{7662C9EE-0EBD-4D67-DF29-F9458BB37FA7}"/>
              </a:ext>
            </a:extLst>
          </p:cNvPr>
          <p:cNvCxnSpPr>
            <a:cxnSpLocks/>
            <a:stCxn id="8" idx="1"/>
            <a:endCxn id="4" idx="3"/>
          </p:cNvCxnSpPr>
          <p:nvPr/>
        </p:nvCxnSpPr>
        <p:spPr>
          <a:xfrm flipH="1" flipV="1">
            <a:off x="6407426" y="3223023"/>
            <a:ext cx="2113136" cy="458624"/>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91" name="Connettore a gomito 90">
            <a:extLst>
              <a:ext uri="{FF2B5EF4-FFF2-40B4-BE49-F238E27FC236}">
                <a16:creationId xmlns:a16="http://schemas.microsoft.com/office/drawing/2014/main" id="{B2BB4625-38BF-1B52-2DF0-7F7E7552B508}"/>
              </a:ext>
            </a:extLst>
          </p:cNvPr>
          <p:cNvCxnSpPr>
            <a:cxnSpLocks/>
            <a:stCxn id="5" idx="3"/>
            <a:endCxn id="8" idx="3"/>
          </p:cNvCxnSpPr>
          <p:nvPr/>
        </p:nvCxnSpPr>
        <p:spPr>
          <a:xfrm flipH="1">
            <a:off x="9634654" y="2849658"/>
            <a:ext cx="747128" cy="831989"/>
          </a:xfrm>
          <a:prstGeom prst="bentConnector3">
            <a:avLst>
              <a:gd name="adj1" fmla="val -30597"/>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770461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8F8EB-37C2-4435-F651-612CFDD196C3}"/>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0BBB687E-E2F7-2189-5547-2577CAD82795}"/>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2BB0AAC1-F1BD-2ADA-37D1-5B1D74E86395}"/>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847C6B28-DBDA-5D26-3434-F278FE7EA315}"/>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D96B3849-2F48-61FC-6050-1B52654D2191}"/>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3A3E825F-9E87-433C-4C09-644265D85B25}"/>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DEBAA1C2-83DB-AE25-7CCF-D572795DC039}"/>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2E0A3B64-DE00-5230-1710-8D00FC07A93E}"/>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9D0DB2FF-A063-45E5-4860-6C2C519523D5}"/>
              </a:ext>
            </a:extLst>
          </p:cNvPr>
          <p:cNvSpPr>
            <a:spLocks noGrp="1"/>
          </p:cNvSpPr>
          <p:nvPr>
            <p:ph type="title"/>
          </p:nvPr>
        </p:nvSpPr>
        <p:spPr>
          <a:xfrm>
            <a:off x="838200" y="576997"/>
            <a:ext cx="10515600" cy="1325563"/>
          </a:xfrm>
        </p:spPr>
        <p:txBody>
          <a:bodyPr/>
          <a:lstStyle/>
          <a:p>
            <a:r>
              <a:rPr lang="it-IT" i="1" dirty="0"/>
              <a:t>API</a:t>
            </a:r>
          </a:p>
        </p:txBody>
      </p:sp>
      <p:sp>
        <p:nvSpPr>
          <p:cNvPr id="5" name="CasellaDiTesto 4">
            <a:extLst>
              <a:ext uri="{FF2B5EF4-FFF2-40B4-BE49-F238E27FC236}">
                <a16:creationId xmlns:a16="http://schemas.microsoft.com/office/drawing/2014/main" id="{859EA09C-1FAC-9498-E6A6-26E703EF5CE8}"/>
              </a:ext>
            </a:extLst>
          </p:cNvPr>
          <p:cNvSpPr txBox="1"/>
          <p:nvPr/>
        </p:nvSpPr>
        <p:spPr>
          <a:xfrm>
            <a:off x="818837" y="3065220"/>
            <a:ext cx="4340992" cy="1754326"/>
          </a:xfrm>
          <a:prstGeom prst="rect">
            <a:avLst/>
          </a:prstGeom>
          <a:noFill/>
        </p:spPr>
        <p:txBody>
          <a:bodyPr wrap="square">
            <a:spAutoFit/>
          </a:bodyPr>
          <a:lstStyle/>
          <a:p>
            <a:r>
              <a:rPr lang="en-US" dirty="0"/>
              <a:t>They are organized into separate modules:</a:t>
            </a:r>
            <a:r>
              <a:rPr lang="it-IT" dirty="0"/>
              <a:t> </a:t>
            </a:r>
          </a:p>
          <a:p>
            <a:pPr marL="285750" indent="-285750">
              <a:buFont typeface="Wingdings" panose="05000000000000000000" pitchFamily="2" charset="2"/>
              <a:buChar char="v"/>
            </a:pPr>
            <a:r>
              <a:rPr lang="it-IT" dirty="0"/>
              <a:t>GestoreAPI.py</a:t>
            </a:r>
          </a:p>
          <a:p>
            <a:pPr marL="285750" indent="-285750">
              <a:buFont typeface="Wingdings" panose="05000000000000000000" pitchFamily="2" charset="2"/>
              <a:buChar char="v"/>
            </a:pPr>
            <a:r>
              <a:rPr lang="it-IT" dirty="0"/>
              <a:t>ObjectTypeAPI.py</a:t>
            </a:r>
          </a:p>
          <a:p>
            <a:pPr marL="285750" indent="-285750">
              <a:buFont typeface="Wingdings" panose="05000000000000000000" pitchFamily="2" charset="2"/>
              <a:buChar char="v"/>
            </a:pPr>
            <a:r>
              <a:rPr lang="it-IT" dirty="0"/>
              <a:t>AlgorithmsAPI.py</a:t>
            </a:r>
          </a:p>
          <a:p>
            <a:pPr marL="285750" indent="-285750">
              <a:buFont typeface="Wingdings" panose="05000000000000000000" pitchFamily="2" charset="2"/>
              <a:buChar char="v"/>
            </a:pPr>
            <a:r>
              <a:rPr lang="it-IT" dirty="0"/>
              <a:t>ContextAPI.py</a:t>
            </a:r>
          </a:p>
          <a:p>
            <a:pPr marL="285750" indent="-285750">
              <a:buFont typeface="Wingdings" panose="05000000000000000000" pitchFamily="2" charset="2"/>
              <a:buChar char="v"/>
            </a:pPr>
            <a:r>
              <a:rPr lang="it-IT" dirty="0"/>
              <a:t>PipelineAPI.py</a:t>
            </a:r>
          </a:p>
        </p:txBody>
      </p:sp>
      <p:sp>
        <p:nvSpPr>
          <p:cNvPr id="6" name="Ovale 5">
            <a:extLst>
              <a:ext uri="{FF2B5EF4-FFF2-40B4-BE49-F238E27FC236}">
                <a16:creationId xmlns:a16="http://schemas.microsoft.com/office/drawing/2014/main" id="{B38456D1-2B2A-A947-61C7-B5F9BDA4E395}"/>
              </a:ext>
            </a:extLst>
          </p:cNvPr>
          <p:cNvSpPr/>
          <p:nvPr/>
        </p:nvSpPr>
        <p:spPr>
          <a:xfrm>
            <a:off x="1097618" y="4447106"/>
            <a:ext cx="1612129" cy="344218"/>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 name="CasellaDiTesto 32">
            <a:extLst>
              <a:ext uri="{FF2B5EF4-FFF2-40B4-BE49-F238E27FC236}">
                <a16:creationId xmlns:a16="http://schemas.microsoft.com/office/drawing/2014/main" id="{881E8E3C-E6F1-AA1A-65AB-685CB3F2F427}"/>
              </a:ext>
            </a:extLst>
          </p:cNvPr>
          <p:cNvSpPr txBox="1"/>
          <p:nvPr/>
        </p:nvSpPr>
        <p:spPr>
          <a:xfrm>
            <a:off x="2495958" y="4940076"/>
            <a:ext cx="6046317" cy="1477328"/>
          </a:xfrm>
          <a:prstGeom prst="rect">
            <a:avLst/>
          </a:prstGeom>
          <a:noFill/>
        </p:spPr>
        <p:txBody>
          <a:bodyPr wrap="square" rtlCol="0">
            <a:spAutoFit/>
          </a:bodyPr>
          <a:lstStyle/>
          <a:p>
            <a:pPr marL="400050" indent="-400050">
              <a:buFont typeface="+mj-lt"/>
              <a:buAutoNum type="romanUcPeriod"/>
            </a:pPr>
            <a:r>
              <a:rPr lang="it-IT" dirty="0" err="1"/>
              <a:t>Maintains</a:t>
            </a:r>
            <a:r>
              <a:rPr lang="it-IT" dirty="0"/>
              <a:t> the temporary state of the </a:t>
            </a:r>
            <a:r>
              <a:rPr lang="it-IT" dirty="0" err="1"/>
              <a:t>composition</a:t>
            </a:r>
            <a:endParaRPr lang="it-IT" dirty="0"/>
          </a:p>
          <a:p>
            <a:pPr marL="400050" indent="-400050">
              <a:buFont typeface="+mj-lt"/>
              <a:buAutoNum type="romanUcPeriod"/>
            </a:pPr>
            <a:r>
              <a:rPr lang="it-IT" dirty="0"/>
              <a:t>Queries the </a:t>
            </a:r>
            <a:r>
              <a:rPr lang="it-IT" b="1" i="1" dirty="0" err="1">
                <a:solidFill>
                  <a:srgbClr val="13501B"/>
                </a:solidFill>
              </a:rPr>
              <a:t>algorithm</a:t>
            </a:r>
            <a:r>
              <a:rPr lang="it-IT" b="1" i="1" dirty="0">
                <a:solidFill>
                  <a:srgbClr val="13501B"/>
                </a:solidFill>
              </a:rPr>
              <a:t> </a:t>
            </a:r>
            <a:r>
              <a:rPr lang="it-IT" b="1" i="1" dirty="0" err="1">
                <a:solidFill>
                  <a:srgbClr val="13501B"/>
                </a:solidFill>
              </a:rPr>
              <a:t>catalog</a:t>
            </a:r>
            <a:endParaRPr lang="it-IT" b="1" i="1" dirty="0">
              <a:solidFill>
                <a:srgbClr val="13501B"/>
              </a:solidFill>
            </a:endParaRPr>
          </a:p>
          <a:p>
            <a:pPr marL="400050" indent="-400050">
              <a:buFont typeface="+mj-lt"/>
              <a:buAutoNum type="romanUcPeriod"/>
            </a:pPr>
            <a:r>
              <a:rPr lang="it-IT" dirty="0" err="1"/>
              <a:t>Returns</a:t>
            </a:r>
            <a:r>
              <a:rPr lang="it-IT" dirty="0"/>
              <a:t> to the user </a:t>
            </a:r>
            <a:r>
              <a:rPr lang="it-IT" dirty="0" err="1"/>
              <a:t>interface</a:t>
            </a:r>
            <a:r>
              <a:rPr lang="it-IT" dirty="0"/>
              <a:t> </a:t>
            </a:r>
            <a:r>
              <a:rPr lang="it-IT" dirty="0" err="1"/>
              <a:t>only</a:t>
            </a:r>
            <a:r>
              <a:rPr lang="it-IT" dirty="0"/>
              <a:t> the </a:t>
            </a:r>
            <a:r>
              <a:rPr lang="it-IT" dirty="0" err="1"/>
              <a:t>transformations</a:t>
            </a:r>
            <a:r>
              <a:rPr lang="it-IT" dirty="0"/>
              <a:t> </a:t>
            </a:r>
            <a:r>
              <a:rPr lang="it-IT" dirty="0" err="1"/>
              <a:t>compatible</a:t>
            </a:r>
            <a:r>
              <a:rPr lang="it-IT" dirty="0"/>
              <a:t> with the </a:t>
            </a:r>
            <a:r>
              <a:rPr lang="it-IT" dirty="0" err="1"/>
              <a:t>current</a:t>
            </a:r>
            <a:r>
              <a:rPr lang="it-IT" dirty="0"/>
              <a:t> state of the pipeline</a:t>
            </a:r>
          </a:p>
          <a:p>
            <a:pPr marL="400050" indent="-400050">
              <a:buFont typeface="+mj-lt"/>
              <a:buAutoNum type="romanUcPeriod"/>
            </a:pPr>
            <a:endParaRPr lang="it-IT" dirty="0"/>
          </a:p>
        </p:txBody>
      </p:sp>
      <p:cxnSp>
        <p:nvCxnSpPr>
          <p:cNvPr id="34" name="Connettore 2 33">
            <a:extLst>
              <a:ext uri="{FF2B5EF4-FFF2-40B4-BE49-F238E27FC236}">
                <a16:creationId xmlns:a16="http://schemas.microsoft.com/office/drawing/2014/main" id="{8EE9FDD3-53A4-084E-58D0-9AB006F2AE44}"/>
              </a:ext>
            </a:extLst>
          </p:cNvPr>
          <p:cNvCxnSpPr>
            <a:cxnSpLocks/>
            <a:stCxn id="6" idx="5"/>
          </p:cNvCxnSpPr>
          <p:nvPr/>
        </p:nvCxnSpPr>
        <p:spPr>
          <a:xfrm>
            <a:off x="2473656" y="4740914"/>
            <a:ext cx="366521" cy="203504"/>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37" name="Ovale 36">
            <a:extLst>
              <a:ext uri="{FF2B5EF4-FFF2-40B4-BE49-F238E27FC236}">
                <a16:creationId xmlns:a16="http://schemas.microsoft.com/office/drawing/2014/main" id="{7C4C29C0-954B-606C-5582-42BB5510821F}"/>
              </a:ext>
            </a:extLst>
          </p:cNvPr>
          <p:cNvSpPr/>
          <p:nvPr/>
        </p:nvSpPr>
        <p:spPr>
          <a:xfrm>
            <a:off x="4114803" y="5211543"/>
            <a:ext cx="1981200" cy="384090"/>
          </a:xfrm>
          <a:prstGeom prst="ellipse">
            <a:avLst/>
          </a:prstGeom>
          <a:noFill/>
          <a:ln>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 name="CasellaDiTesto 37">
            <a:extLst>
              <a:ext uri="{FF2B5EF4-FFF2-40B4-BE49-F238E27FC236}">
                <a16:creationId xmlns:a16="http://schemas.microsoft.com/office/drawing/2014/main" id="{AE984BE8-CEDA-A8F3-7AB5-CBBDF0C67131}"/>
              </a:ext>
            </a:extLst>
          </p:cNvPr>
          <p:cNvSpPr txBox="1"/>
          <p:nvPr/>
        </p:nvSpPr>
        <p:spPr>
          <a:xfrm>
            <a:off x="7727077" y="3064580"/>
            <a:ext cx="3250940" cy="1754326"/>
          </a:xfrm>
          <a:prstGeom prst="rect">
            <a:avLst/>
          </a:prstGeom>
          <a:noFill/>
        </p:spPr>
        <p:txBody>
          <a:bodyPr wrap="square" rtlCol="0">
            <a:spAutoFit/>
          </a:bodyPr>
          <a:lstStyle/>
          <a:p>
            <a:r>
              <a:rPr lang="it-IT" dirty="0"/>
              <a:t>Features:</a:t>
            </a:r>
          </a:p>
          <a:p>
            <a:pPr marL="285750" indent="-285750">
              <a:buFont typeface="Arial" panose="020B0604020202020204" pitchFamily="34" charset="0"/>
              <a:buChar char="•"/>
            </a:pPr>
            <a:r>
              <a:rPr lang="it-IT" dirty="0" err="1"/>
              <a:t>Is</a:t>
            </a:r>
            <a:r>
              <a:rPr lang="it-IT" dirty="0"/>
              <a:t> </a:t>
            </a:r>
            <a:r>
              <a:rPr lang="it-IT" dirty="0" err="1"/>
              <a:t>built</a:t>
            </a:r>
            <a:r>
              <a:rPr lang="it-IT" dirty="0"/>
              <a:t> from the data </a:t>
            </a:r>
            <a:r>
              <a:rPr lang="it-IT" dirty="0" err="1"/>
              <a:t>stored</a:t>
            </a:r>
            <a:r>
              <a:rPr lang="it-IT" dirty="0"/>
              <a:t> in the database</a:t>
            </a:r>
          </a:p>
          <a:p>
            <a:pPr marL="285750" indent="-285750">
              <a:buFont typeface="Arial" panose="020B0604020202020204" pitchFamily="34" charset="0"/>
              <a:buChar char="•"/>
            </a:pPr>
            <a:r>
              <a:rPr lang="it-IT" dirty="0" err="1"/>
              <a:t>It</a:t>
            </a:r>
            <a:r>
              <a:rPr lang="it-IT" dirty="0"/>
              <a:t> takes the </a:t>
            </a:r>
            <a:r>
              <a:rPr lang="it-IT" dirty="0" err="1"/>
              <a:t>selected</a:t>
            </a:r>
            <a:r>
              <a:rPr lang="it-IT" dirty="0"/>
              <a:t> </a:t>
            </a:r>
            <a:r>
              <a:rPr lang="it-IT" dirty="0" err="1"/>
              <a:t>context</a:t>
            </a:r>
            <a:r>
              <a:rPr lang="it-IT" dirty="0"/>
              <a:t> </a:t>
            </a:r>
            <a:r>
              <a:rPr lang="it-IT" dirty="0" err="1"/>
              <a:t>into</a:t>
            </a:r>
            <a:r>
              <a:rPr lang="it-IT" dirty="0"/>
              <a:t> account</a:t>
            </a:r>
          </a:p>
          <a:p>
            <a:pPr marL="285750" indent="-285750">
              <a:buFont typeface="Arial" panose="020B0604020202020204" pitchFamily="34" charset="0"/>
              <a:buChar char="•"/>
            </a:pPr>
            <a:r>
              <a:rPr lang="it-IT" dirty="0" err="1"/>
              <a:t>Used</a:t>
            </a:r>
            <a:r>
              <a:rPr lang="it-IT" dirty="0"/>
              <a:t> </a:t>
            </a:r>
            <a:r>
              <a:rPr lang="it-IT" dirty="0" err="1"/>
              <a:t>at</a:t>
            </a:r>
            <a:r>
              <a:rPr lang="it-IT" dirty="0"/>
              <a:t> </a:t>
            </a:r>
            <a:r>
              <a:rPr lang="it-IT" dirty="0" err="1"/>
              <a:t>runtime</a:t>
            </a:r>
            <a:endParaRPr lang="it-IT" dirty="0"/>
          </a:p>
        </p:txBody>
      </p:sp>
      <p:cxnSp>
        <p:nvCxnSpPr>
          <p:cNvPr id="41" name="Connettore 2 40">
            <a:extLst>
              <a:ext uri="{FF2B5EF4-FFF2-40B4-BE49-F238E27FC236}">
                <a16:creationId xmlns:a16="http://schemas.microsoft.com/office/drawing/2014/main" id="{DC56E786-30A9-9BB6-17D0-53E107223068}"/>
              </a:ext>
            </a:extLst>
          </p:cNvPr>
          <p:cNvCxnSpPr>
            <a:cxnSpLocks/>
          </p:cNvCxnSpPr>
          <p:nvPr/>
        </p:nvCxnSpPr>
        <p:spPr>
          <a:xfrm flipV="1">
            <a:off x="6194147" y="4273420"/>
            <a:ext cx="1532930" cy="705882"/>
          </a:xfrm>
          <a:prstGeom prst="straightConnector1">
            <a:avLst/>
          </a:prstGeom>
          <a:ln>
            <a:solidFill>
              <a:srgbClr val="13501B"/>
            </a:solidFill>
            <a:tailEnd type="triangle"/>
          </a:ln>
        </p:spPr>
        <p:style>
          <a:lnRef idx="2">
            <a:schemeClr val="accent1"/>
          </a:lnRef>
          <a:fillRef idx="0">
            <a:schemeClr val="accent1"/>
          </a:fillRef>
          <a:effectRef idx="1">
            <a:schemeClr val="accent1"/>
          </a:effectRef>
          <a:fontRef idx="minor">
            <a:schemeClr val="tx1"/>
          </a:fontRef>
        </p:style>
      </p:cxnSp>
      <p:sp>
        <p:nvSpPr>
          <p:cNvPr id="3" name="Titolo 1">
            <a:extLst>
              <a:ext uri="{FF2B5EF4-FFF2-40B4-BE49-F238E27FC236}">
                <a16:creationId xmlns:a16="http://schemas.microsoft.com/office/drawing/2014/main" id="{98D6BA3C-A6AB-AAB7-D67A-EF63F067B74B}"/>
              </a:ext>
            </a:extLst>
          </p:cNvPr>
          <p:cNvSpPr txBox="1">
            <a:spLocks/>
          </p:cNvSpPr>
          <p:nvPr/>
        </p:nvSpPr>
        <p:spPr>
          <a:xfrm>
            <a:off x="1786651" y="576996"/>
            <a:ext cx="478104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i="1" dirty="0"/>
              <a:t>+ </a:t>
            </a:r>
            <a:r>
              <a:rPr lang="it-IT" i="1" dirty="0" err="1"/>
              <a:t>Algorithm</a:t>
            </a:r>
            <a:r>
              <a:rPr lang="it-IT" i="1" dirty="0"/>
              <a:t> </a:t>
            </a:r>
            <a:r>
              <a:rPr lang="it-IT" i="1" dirty="0" err="1"/>
              <a:t>Catalog</a:t>
            </a:r>
            <a:endParaRPr lang="it-IT" i="1" dirty="0"/>
          </a:p>
        </p:txBody>
      </p:sp>
      <p:sp>
        <p:nvSpPr>
          <p:cNvPr id="4" name="Rettangolo con angoli arrotondati 3">
            <a:extLst>
              <a:ext uri="{FF2B5EF4-FFF2-40B4-BE49-F238E27FC236}">
                <a16:creationId xmlns:a16="http://schemas.microsoft.com/office/drawing/2014/main" id="{009BFB0E-882B-43D9-F012-BC8F16315DC1}"/>
              </a:ext>
            </a:extLst>
          </p:cNvPr>
          <p:cNvSpPr/>
          <p:nvPr/>
        </p:nvSpPr>
        <p:spPr>
          <a:xfrm>
            <a:off x="924741" y="1739414"/>
            <a:ext cx="2732049" cy="984918"/>
          </a:xfrm>
          <a:prstGeom prst="roundRect">
            <a:avLst/>
          </a:prstGeom>
          <a:solidFill>
            <a:srgbClr val="FFC000"/>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3501B"/>
                </a:solidFill>
              </a:rPr>
              <a:t>Main access point to the system</a:t>
            </a:r>
            <a:endParaRPr lang="it-IT" b="1" dirty="0">
              <a:solidFill>
                <a:srgbClr val="13501B"/>
              </a:solidFill>
            </a:endParaRPr>
          </a:p>
        </p:txBody>
      </p:sp>
      <p:sp>
        <p:nvSpPr>
          <p:cNvPr id="8" name="Rettangolo con angoli arrotondati 7">
            <a:extLst>
              <a:ext uri="{FF2B5EF4-FFF2-40B4-BE49-F238E27FC236}">
                <a16:creationId xmlns:a16="http://schemas.microsoft.com/office/drawing/2014/main" id="{E29707B8-0296-7168-14DE-AC6EC334F0A5}"/>
              </a:ext>
            </a:extLst>
          </p:cNvPr>
          <p:cNvSpPr/>
          <p:nvPr/>
        </p:nvSpPr>
        <p:spPr>
          <a:xfrm>
            <a:off x="4771327" y="1736864"/>
            <a:ext cx="2818261" cy="984918"/>
          </a:xfrm>
          <a:prstGeom prst="roundRect">
            <a:avLst/>
          </a:prstGeom>
          <a:solidFill>
            <a:srgbClr val="FFC000"/>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3501B"/>
                </a:solidFill>
              </a:rPr>
              <a:t>Coordinates and ensures the consistency of system operations</a:t>
            </a:r>
            <a:endParaRPr lang="it-IT" dirty="0">
              <a:solidFill>
                <a:srgbClr val="13501B"/>
              </a:solidFill>
            </a:endParaRPr>
          </a:p>
        </p:txBody>
      </p:sp>
      <p:sp>
        <p:nvSpPr>
          <p:cNvPr id="9" name="Croce 8">
            <a:extLst>
              <a:ext uri="{FF2B5EF4-FFF2-40B4-BE49-F238E27FC236}">
                <a16:creationId xmlns:a16="http://schemas.microsoft.com/office/drawing/2014/main" id="{098EE946-B53A-F795-396A-DD396CA8C370}"/>
              </a:ext>
            </a:extLst>
          </p:cNvPr>
          <p:cNvSpPr/>
          <p:nvPr/>
        </p:nvSpPr>
        <p:spPr>
          <a:xfrm>
            <a:off x="3965852" y="1882044"/>
            <a:ext cx="546409" cy="529729"/>
          </a:xfrm>
          <a:prstGeom prst="plus">
            <a:avLst>
              <a:gd name="adj" fmla="val 44101"/>
            </a:avLst>
          </a:prstGeom>
          <a:solidFill>
            <a:srgbClr val="215F9A"/>
          </a:solid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615575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500"/>
                                        <p:tgtEl>
                                          <p:spTgt spid="3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3" grpId="0"/>
      <p:bldP spid="37" grpId="0" animBg="1"/>
      <p:bldP spid="38"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B7A86-FD44-12E2-24B8-B26ADD02E4C4}"/>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477B8CEF-28A1-C38C-0211-FB5CEE6EF56C}"/>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B4B25704-316C-6F97-C12D-4E73A4ECE67B}"/>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27EA41EB-C15B-D7EA-A645-4E85CA199153}"/>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DA3A1252-6715-4AA2-3D8F-8A8E488AD2CF}"/>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AB2BA274-429F-591A-6252-04D8AD577998}"/>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728C2EA1-1725-1D14-DF3D-7BDEE2608481}"/>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C488059D-CDE8-778F-6C9E-6BFD4DBCE57F}"/>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3259E84C-B9FE-7B09-4FAA-F3814A296E06}"/>
              </a:ext>
            </a:extLst>
          </p:cNvPr>
          <p:cNvSpPr>
            <a:spLocks noGrp="1"/>
          </p:cNvSpPr>
          <p:nvPr>
            <p:ph type="title"/>
          </p:nvPr>
        </p:nvSpPr>
        <p:spPr>
          <a:xfrm>
            <a:off x="838200" y="588147"/>
            <a:ext cx="10515600" cy="1325563"/>
          </a:xfrm>
        </p:spPr>
        <p:txBody>
          <a:bodyPr/>
          <a:lstStyle/>
          <a:p>
            <a:r>
              <a:rPr lang="it-IT" i="1" dirty="0" err="1"/>
              <a:t>Persistence</a:t>
            </a:r>
            <a:r>
              <a:rPr lang="it-IT" i="1" dirty="0"/>
              <a:t> Layer</a:t>
            </a:r>
          </a:p>
        </p:txBody>
      </p:sp>
      <p:sp>
        <p:nvSpPr>
          <p:cNvPr id="5" name="CasellaDiTesto 4">
            <a:extLst>
              <a:ext uri="{FF2B5EF4-FFF2-40B4-BE49-F238E27FC236}">
                <a16:creationId xmlns:a16="http://schemas.microsoft.com/office/drawing/2014/main" id="{47055FED-40A1-F474-2B94-B912A5AE2616}"/>
              </a:ext>
            </a:extLst>
          </p:cNvPr>
          <p:cNvSpPr txBox="1"/>
          <p:nvPr/>
        </p:nvSpPr>
        <p:spPr>
          <a:xfrm>
            <a:off x="838200" y="1676492"/>
            <a:ext cx="8975083" cy="369332"/>
          </a:xfrm>
          <a:prstGeom prst="rect">
            <a:avLst/>
          </a:prstGeom>
          <a:noFill/>
        </p:spPr>
        <p:txBody>
          <a:bodyPr wrap="square">
            <a:spAutoFit/>
          </a:bodyPr>
          <a:lstStyle/>
          <a:p>
            <a:r>
              <a:rPr lang="en-US" dirty="0"/>
              <a:t>It manages the saving, retrieval, and organization of the system data</a:t>
            </a:r>
            <a:endParaRPr lang="it-IT" dirty="0"/>
          </a:p>
        </p:txBody>
      </p:sp>
      <p:sp>
        <p:nvSpPr>
          <p:cNvPr id="4" name="Rettangolo con angoli arrotondati 3">
            <a:extLst>
              <a:ext uri="{FF2B5EF4-FFF2-40B4-BE49-F238E27FC236}">
                <a16:creationId xmlns:a16="http://schemas.microsoft.com/office/drawing/2014/main" id="{CFBAF417-81F3-8EA5-3DD9-48ED062CE434}"/>
              </a:ext>
            </a:extLst>
          </p:cNvPr>
          <p:cNvSpPr/>
          <p:nvPr/>
        </p:nvSpPr>
        <p:spPr>
          <a:xfrm>
            <a:off x="1376397" y="2210108"/>
            <a:ext cx="4030302" cy="1963130"/>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i="1" dirty="0">
                <a:solidFill>
                  <a:schemeClr val="bg1"/>
                </a:solidFill>
              </a:rPr>
              <a:t>ConfigDB.py</a:t>
            </a:r>
          </a:p>
          <a:p>
            <a:pPr algn="ctr"/>
            <a:r>
              <a:rPr lang="it-IT" sz="1600" u="sng" dirty="0">
                <a:solidFill>
                  <a:srgbClr val="215F9A"/>
                </a:solidFill>
              </a:rPr>
              <a:t>Database </a:t>
            </a:r>
            <a:r>
              <a:rPr lang="it-IT" sz="1600" u="sng" dirty="0" err="1">
                <a:solidFill>
                  <a:srgbClr val="215F9A"/>
                </a:solidFill>
              </a:rPr>
              <a:t>configuration</a:t>
            </a:r>
            <a:endParaRPr lang="it-IT" sz="1600" u="sng" dirty="0">
              <a:solidFill>
                <a:srgbClr val="215F9A"/>
              </a:solidFill>
            </a:endParaRPr>
          </a:p>
          <a:p>
            <a:pPr algn="ctr"/>
            <a:endParaRPr lang="it-IT" sz="1600" b="1" i="1" dirty="0">
              <a:solidFill>
                <a:srgbClr val="215F9A"/>
              </a:solidFill>
            </a:endParaRPr>
          </a:p>
          <a:p>
            <a:pPr algn="ctr"/>
            <a:endParaRPr lang="it-IT" sz="1600" b="1" i="1" dirty="0">
              <a:solidFill>
                <a:srgbClr val="215F9A"/>
              </a:solidFill>
            </a:endParaRPr>
          </a:p>
          <a:p>
            <a:pPr marL="285750" indent="-285750" algn="just">
              <a:buFont typeface="Arial" panose="020B0604020202020204" pitchFamily="34" charset="0"/>
              <a:buChar char="•"/>
            </a:pPr>
            <a:r>
              <a:rPr lang="it-IT" sz="1600" dirty="0" err="1">
                <a:solidFill>
                  <a:srgbClr val="215F9A"/>
                </a:solidFill>
              </a:rPr>
              <a:t>Establishes</a:t>
            </a:r>
            <a:r>
              <a:rPr lang="it-IT" sz="1600" dirty="0">
                <a:solidFill>
                  <a:srgbClr val="215F9A"/>
                </a:solidFill>
              </a:rPr>
              <a:t> the connection to </a:t>
            </a:r>
            <a:r>
              <a:rPr lang="it-IT" sz="1600" dirty="0" err="1">
                <a:solidFill>
                  <a:srgbClr val="215F9A"/>
                </a:solidFill>
              </a:rPr>
              <a:t>SQLite</a:t>
            </a:r>
            <a:endParaRPr lang="it-IT" sz="1600" dirty="0">
              <a:solidFill>
                <a:srgbClr val="215F9A"/>
              </a:solidFill>
            </a:endParaRPr>
          </a:p>
          <a:p>
            <a:pPr marL="285750" indent="-285750" algn="just">
              <a:buFont typeface="Arial" panose="020B0604020202020204" pitchFamily="34" charset="0"/>
              <a:buChar char="•"/>
            </a:pPr>
            <a:r>
              <a:rPr lang="it-IT" sz="1600" dirty="0" err="1">
                <a:solidFill>
                  <a:srgbClr val="215F9A"/>
                </a:solidFill>
              </a:rPr>
              <a:t>Provides</a:t>
            </a:r>
            <a:r>
              <a:rPr lang="it-IT" sz="1600" dirty="0">
                <a:solidFill>
                  <a:srgbClr val="215F9A"/>
                </a:solidFill>
              </a:rPr>
              <a:t> the sessions </a:t>
            </a:r>
            <a:r>
              <a:rPr lang="it-IT" sz="1600" dirty="0" err="1">
                <a:solidFill>
                  <a:srgbClr val="215F9A"/>
                </a:solidFill>
              </a:rPr>
              <a:t>used</a:t>
            </a:r>
            <a:r>
              <a:rPr lang="it-IT" sz="1600" dirty="0">
                <a:solidFill>
                  <a:srgbClr val="215F9A"/>
                </a:solidFill>
              </a:rPr>
              <a:t> by the </a:t>
            </a:r>
            <a:r>
              <a:rPr lang="it-IT" sz="1600" dirty="0" err="1">
                <a:solidFill>
                  <a:srgbClr val="215F9A"/>
                </a:solidFill>
              </a:rPr>
              <a:t>APIs</a:t>
            </a:r>
            <a:r>
              <a:rPr lang="it-IT" sz="1600" dirty="0">
                <a:solidFill>
                  <a:srgbClr val="215F9A"/>
                </a:solidFill>
              </a:rPr>
              <a:t> to access data</a:t>
            </a:r>
          </a:p>
          <a:p>
            <a:pPr marL="285750" indent="-285750" algn="just">
              <a:buFont typeface="Arial" panose="020B0604020202020204" pitchFamily="34" charset="0"/>
              <a:buChar char="•"/>
            </a:pPr>
            <a:endParaRPr lang="it-IT" sz="1600" b="1" i="1" dirty="0">
              <a:solidFill>
                <a:srgbClr val="215F9A"/>
              </a:solidFill>
            </a:endParaRPr>
          </a:p>
        </p:txBody>
      </p:sp>
      <p:cxnSp>
        <p:nvCxnSpPr>
          <p:cNvPr id="8" name="Connettore 2 7">
            <a:extLst>
              <a:ext uri="{FF2B5EF4-FFF2-40B4-BE49-F238E27FC236}">
                <a16:creationId xmlns:a16="http://schemas.microsoft.com/office/drawing/2014/main" id="{35387384-88B7-CE1A-F621-D999A4FEC4CA}"/>
              </a:ext>
            </a:extLst>
          </p:cNvPr>
          <p:cNvCxnSpPr>
            <a:cxnSpLocks/>
          </p:cNvCxnSpPr>
          <p:nvPr/>
        </p:nvCxnSpPr>
        <p:spPr>
          <a:xfrm>
            <a:off x="3331710" y="2911951"/>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1" name="Rettangolo con angoli arrotondati 10">
            <a:extLst>
              <a:ext uri="{FF2B5EF4-FFF2-40B4-BE49-F238E27FC236}">
                <a16:creationId xmlns:a16="http://schemas.microsoft.com/office/drawing/2014/main" id="{8FE5253A-A2CE-9586-1EFF-257D802EFCED}"/>
              </a:ext>
            </a:extLst>
          </p:cNvPr>
          <p:cNvSpPr/>
          <p:nvPr/>
        </p:nvSpPr>
        <p:spPr>
          <a:xfrm>
            <a:off x="1675774" y="4351750"/>
            <a:ext cx="3429626" cy="1963130"/>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i="1" dirty="0"/>
              <a:t>EntitaSQL_db.py</a:t>
            </a:r>
            <a:endParaRPr lang="it-IT" sz="1600" b="1" i="1" dirty="0">
              <a:solidFill>
                <a:schemeClr val="bg1"/>
              </a:solidFill>
            </a:endParaRPr>
          </a:p>
          <a:p>
            <a:pPr algn="ctr"/>
            <a:r>
              <a:rPr lang="it-IT" sz="1600" u="sng" dirty="0">
                <a:solidFill>
                  <a:srgbClr val="215F9A"/>
                </a:solidFill>
              </a:rPr>
              <a:t>ORM  models</a:t>
            </a:r>
          </a:p>
          <a:p>
            <a:pPr algn="ctr"/>
            <a:endParaRPr lang="it-IT" sz="1600" b="1" i="1" dirty="0">
              <a:solidFill>
                <a:srgbClr val="215F9A"/>
              </a:solidFill>
            </a:endParaRPr>
          </a:p>
          <a:p>
            <a:pPr algn="ctr"/>
            <a:endParaRPr lang="it-IT" sz="1600" b="1" i="1" dirty="0">
              <a:solidFill>
                <a:srgbClr val="215F9A"/>
              </a:solidFill>
            </a:endParaRPr>
          </a:p>
          <a:p>
            <a:pPr marL="285750" indent="-285750">
              <a:buFont typeface="Arial" panose="020B0604020202020204" pitchFamily="34" charset="0"/>
              <a:buChar char="•"/>
            </a:pPr>
            <a:r>
              <a:rPr lang="it-IT" sz="1600" dirty="0">
                <a:solidFill>
                  <a:srgbClr val="215F9A"/>
                </a:solidFill>
              </a:rPr>
              <a:t>Database </a:t>
            </a:r>
            <a:r>
              <a:rPr lang="it-IT" sz="1600" dirty="0" err="1">
                <a:solidFill>
                  <a:srgbClr val="215F9A"/>
                </a:solidFill>
              </a:rPr>
              <a:t>tables</a:t>
            </a:r>
            <a:endParaRPr lang="it-IT" sz="1600" dirty="0">
              <a:solidFill>
                <a:srgbClr val="215F9A"/>
              </a:solidFill>
            </a:endParaRPr>
          </a:p>
          <a:p>
            <a:pPr marL="285750" indent="-285750">
              <a:buFont typeface="Arial" panose="020B0604020202020204" pitchFamily="34" charset="0"/>
              <a:buChar char="•"/>
            </a:pPr>
            <a:r>
              <a:rPr lang="it-IT" sz="1600" dirty="0" err="1">
                <a:solidFill>
                  <a:srgbClr val="215F9A"/>
                </a:solidFill>
              </a:rPr>
              <a:t>Relationships</a:t>
            </a:r>
            <a:r>
              <a:rPr lang="it-IT" sz="1600" dirty="0">
                <a:solidFill>
                  <a:srgbClr val="215F9A"/>
                </a:solidFill>
              </a:rPr>
              <a:t> </a:t>
            </a:r>
            <a:r>
              <a:rPr lang="it-IT" sz="1600" dirty="0" err="1">
                <a:solidFill>
                  <a:srgbClr val="215F9A"/>
                </a:solidFill>
              </a:rPr>
              <a:t>between</a:t>
            </a:r>
            <a:r>
              <a:rPr lang="it-IT" sz="1600" dirty="0">
                <a:solidFill>
                  <a:srgbClr val="215F9A"/>
                </a:solidFill>
              </a:rPr>
              <a:t> </a:t>
            </a:r>
            <a:r>
              <a:rPr lang="it-IT" sz="1600" dirty="0" err="1">
                <a:solidFill>
                  <a:srgbClr val="215F9A"/>
                </a:solidFill>
              </a:rPr>
              <a:t>entities</a:t>
            </a:r>
            <a:endParaRPr lang="it-IT" sz="1600" dirty="0">
              <a:solidFill>
                <a:srgbClr val="215F9A"/>
              </a:solidFill>
            </a:endParaRPr>
          </a:p>
          <a:p>
            <a:pPr marL="285750" indent="-285750">
              <a:buFont typeface="Arial" panose="020B0604020202020204" pitchFamily="34" charset="0"/>
              <a:buChar char="•"/>
            </a:pPr>
            <a:r>
              <a:rPr lang="it-IT" sz="1600" dirty="0" err="1">
                <a:solidFill>
                  <a:srgbClr val="215F9A"/>
                </a:solidFill>
              </a:rPr>
              <a:t>Costraints</a:t>
            </a:r>
            <a:endParaRPr lang="it-IT" sz="1600" dirty="0">
              <a:solidFill>
                <a:srgbClr val="215F9A"/>
              </a:solidFill>
            </a:endParaRPr>
          </a:p>
        </p:txBody>
      </p:sp>
      <p:cxnSp>
        <p:nvCxnSpPr>
          <p:cNvPr id="12" name="Connettore 2 11">
            <a:extLst>
              <a:ext uri="{FF2B5EF4-FFF2-40B4-BE49-F238E27FC236}">
                <a16:creationId xmlns:a16="http://schemas.microsoft.com/office/drawing/2014/main" id="{FCC095AA-AD5C-2931-294B-8D965141BC7C}"/>
              </a:ext>
            </a:extLst>
          </p:cNvPr>
          <p:cNvCxnSpPr>
            <a:cxnSpLocks/>
          </p:cNvCxnSpPr>
          <p:nvPr/>
        </p:nvCxnSpPr>
        <p:spPr>
          <a:xfrm>
            <a:off x="3369810" y="5025779"/>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3" name="Rettangolo con angoli arrotondati 12">
            <a:extLst>
              <a:ext uri="{FF2B5EF4-FFF2-40B4-BE49-F238E27FC236}">
                <a16:creationId xmlns:a16="http://schemas.microsoft.com/office/drawing/2014/main" id="{A0715778-7E22-F4FB-AD44-615C1E0D0CF9}"/>
              </a:ext>
            </a:extLst>
          </p:cNvPr>
          <p:cNvSpPr/>
          <p:nvPr/>
        </p:nvSpPr>
        <p:spPr>
          <a:xfrm>
            <a:off x="5766920" y="2628105"/>
            <a:ext cx="3310186" cy="3090266"/>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u="sng" dirty="0" err="1">
                <a:solidFill>
                  <a:srgbClr val="215F9A"/>
                </a:solidFill>
              </a:rPr>
              <a:t>Operational</a:t>
            </a:r>
            <a:r>
              <a:rPr lang="it-IT" sz="1600" u="sng" dirty="0">
                <a:solidFill>
                  <a:srgbClr val="215F9A"/>
                </a:solidFill>
              </a:rPr>
              <a:t> </a:t>
            </a:r>
            <a:r>
              <a:rPr lang="it-IT" sz="1600" u="sng" dirty="0" err="1">
                <a:solidFill>
                  <a:srgbClr val="215F9A"/>
                </a:solidFill>
              </a:rPr>
              <a:t>modules</a:t>
            </a:r>
            <a:endParaRPr lang="it-IT" sz="1600" u="sng" dirty="0">
              <a:solidFill>
                <a:srgbClr val="215F9A"/>
              </a:solidFill>
            </a:endParaRPr>
          </a:p>
          <a:p>
            <a:pPr algn="ctr"/>
            <a:r>
              <a:rPr lang="it-IT" sz="1600" b="1" dirty="0"/>
              <a:t>OpDB_Context.py</a:t>
            </a:r>
          </a:p>
          <a:p>
            <a:pPr algn="ctr"/>
            <a:r>
              <a:rPr lang="it-IT" sz="1600" b="1" dirty="0"/>
              <a:t>OpDB_ObjectType.py</a:t>
            </a:r>
          </a:p>
          <a:p>
            <a:pPr algn="ctr"/>
            <a:r>
              <a:rPr lang="it-IT" sz="1600" b="1" dirty="0"/>
              <a:t>OpDB_Algorithm.py</a:t>
            </a:r>
          </a:p>
          <a:p>
            <a:pPr algn="ctr"/>
            <a:r>
              <a:rPr lang="it-IT" sz="1600" b="1" dirty="0"/>
              <a:t>OpDB_Pipeline.py</a:t>
            </a:r>
            <a:endParaRPr lang="it-IT" sz="1600" b="1" i="1" dirty="0">
              <a:solidFill>
                <a:schemeClr val="bg1"/>
              </a:solidFill>
            </a:endParaRPr>
          </a:p>
          <a:p>
            <a:pPr algn="ctr"/>
            <a:endParaRPr lang="it-IT" sz="1600" b="1" i="1" dirty="0">
              <a:solidFill>
                <a:srgbClr val="215F9A"/>
              </a:solidFill>
            </a:endParaRPr>
          </a:p>
          <a:p>
            <a:pPr algn="ctr"/>
            <a:endParaRPr lang="it-IT" sz="1600" b="1" i="1" dirty="0">
              <a:solidFill>
                <a:srgbClr val="215F9A"/>
              </a:solidFill>
            </a:endParaRPr>
          </a:p>
          <a:p>
            <a:pPr marL="285750" indent="-285750">
              <a:buFont typeface="Arial" panose="020B0604020202020204" pitchFamily="34" charset="0"/>
              <a:buChar char="•"/>
            </a:pPr>
            <a:r>
              <a:rPr lang="it-IT" sz="1600" dirty="0" err="1">
                <a:solidFill>
                  <a:srgbClr val="215F9A"/>
                </a:solidFill>
              </a:rPr>
              <a:t>Creation</a:t>
            </a:r>
            <a:r>
              <a:rPr lang="it-IT" sz="1600" dirty="0">
                <a:solidFill>
                  <a:srgbClr val="215F9A"/>
                </a:solidFill>
              </a:rPr>
              <a:t>, reading, and </a:t>
            </a:r>
            <a:r>
              <a:rPr lang="it-IT" sz="1600" dirty="0" err="1">
                <a:solidFill>
                  <a:srgbClr val="215F9A"/>
                </a:solidFill>
              </a:rPr>
              <a:t>deletion</a:t>
            </a:r>
            <a:r>
              <a:rPr lang="it-IT" sz="1600" dirty="0">
                <a:solidFill>
                  <a:srgbClr val="215F9A"/>
                </a:solidFill>
              </a:rPr>
              <a:t> of </a:t>
            </a:r>
            <a:r>
              <a:rPr lang="it-IT" sz="1600" dirty="0" err="1">
                <a:solidFill>
                  <a:srgbClr val="215F9A"/>
                </a:solidFill>
              </a:rPr>
              <a:t>elements</a:t>
            </a:r>
            <a:endParaRPr lang="it-IT" sz="1600" dirty="0">
              <a:solidFill>
                <a:srgbClr val="215F9A"/>
              </a:solidFill>
            </a:endParaRPr>
          </a:p>
          <a:p>
            <a:pPr marL="285750" indent="-285750">
              <a:buFont typeface="Arial" panose="020B0604020202020204" pitchFamily="34" charset="0"/>
              <a:buChar char="•"/>
            </a:pPr>
            <a:r>
              <a:rPr lang="it-IT" sz="1600" dirty="0" err="1">
                <a:solidFill>
                  <a:srgbClr val="215F9A"/>
                </a:solidFill>
              </a:rPr>
              <a:t>Context</a:t>
            </a:r>
            <a:r>
              <a:rPr lang="it-IT" sz="1600" dirty="0">
                <a:solidFill>
                  <a:srgbClr val="215F9A"/>
                </a:solidFill>
              </a:rPr>
              <a:t> </a:t>
            </a:r>
            <a:r>
              <a:rPr lang="it-IT" sz="1600" dirty="0" err="1">
                <a:solidFill>
                  <a:srgbClr val="215F9A"/>
                </a:solidFill>
              </a:rPr>
              <a:t>retrieval</a:t>
            </a:r>
            <a:endParaRPr lang="it-IT" sz="1600" dirty="0">
              <a:solidFill>
                <a:srgbClr val="215F9A"/>
              </a:solidFill>
            </a:endParaRPr>
          </a:p>
          <a:p>
            <a:pPr marL="285750" indent="-285750">
              <a:buFont typeface="Arial" panose="020B0604020202020204" pitchFamily="34" charset="0"/>
              <a:buChar char="•"/>
            </a:pPr>
            <a:r>
              <a:rPr lang="it-IT" sz="1600" dirty="0">
                <a:solidFill>
                  <a:srgbClr val="215F9A"/>
                </a:solidFill>
              </a:rPr>
              <a:t>Pipeline </a:t>
            </a:r>
            <a:r>
              <a:rPr lang="it-IT" sz="1600" dirty="0" err="1">
                <a:solidFill>
                  <a:srgbClr val="215F9A"/>
                </a:solidFill>
              </a:rPr>
              <a:t>reconstruction</a:t>
            </a:r>
            <a:endParaRPr lang="it-IT" sz="1600" dirty="0">
              <a:solidFill>
                <a:srgbClr val="215F9A"/>
              </a:solidFill>
            </a:endParaRPr>
          </a:p>
          <a:p>
            <a:pPr marL="285750" indent="-285750" algn="just">
              <a:buFont typeface="Arial" panose="020B0604020202020204" pitchFamily="34" charset="0"/>
              <a:buChar char="•"/>
            </a:pPr>
            <a:endParaRPr lang="it-IT" sz="1600" b="1" i="1" dirty="0">
              <a:solidFill>
                <a:srgbClr val="215F9A"/>
              </a:solidFill>
            </a:endParaRPr>
          </a:p>
        </p:txBody>
      </p:sp>
      <p:cxnSp>
        <p:nvCxnSpPr>
          <p:cNvPr id="3" name="Connettore 2 2">
            <a:extLst>
              <a:ext uri="{FF2B5EF4-FFF2-40B4-BE49-F238E27FC236}">
                <a16:creationId xmlns:a16="http://schemas.microsoft.com/office/drawing/2014/main" id="{747D6C6A-36D7-8A9D-6105-7D5002688C4F}"/>
              </a:ext>
            </a:extLst>
          </p:cNvPr>
          <p:cNvCxnSpPr>
            <a:cxnSpLocks/>
          </p:cNvCxnSpPr>
          <p:nvPr/>
        </p:nvCxnSpPr>
        <p:spPr>
          <a:xfrm>
            <a:off x="9331374" y="385565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ttore 2 5">
            <a:extLst>
              <a:ext uri="{FF2B5EF4-FFF2-40B4-BE49-F238E27FC236}">
                <a16:creationId xmlns:a16="http://schemas.microsoft.com/office/drawing/2014/main" id="{C23E70F2-4302-23A9-5A38-C359A558F275}"/>
              </a:ext>
            </a:extLst>
          </p:cNvPr>
          <p:cNvCxnSpPr>
            <a:cxnSpLocks/>
          </p:cNvCxnSpPr>
          <p:nvPr/>
        </p:nvCxnSpPr>
        <p:spPr>
          <a:xfrm>
            <a:off x="7449620" y="4124042"/>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1653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AF997-4219-948A-0FF1-62E23369E88B}"/>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FFD4713A-6093-59B8-D1E6-3DA009605C04}"/>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F7D8E9BA-3CE6-626F-685F-24C6A3FBF7FA}"/>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86DD642B-A4B7-CDEF-8174-8A4FB0418B86}"/>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031349B9-C72E-9798-5BCD-24254FDF533A}"/>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1E06490D-0874-AB4A-E4C8-0AB06764B493}"/>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3A23FC3C-5510-FFD7-EE59-BA9127D90F3B}"/>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9240B054-D163-314F-88FA-45BA763778A2}"/>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A001AF57-1207-F69B-8315-17033E622A65}"/>
              </a:ext>
            </a:extLst>
          </p:cNvPr>
          <p:cNvSpPr>
            <a:spLocks noGrp="1"/>
          </p:cNvSpPr>
          <p:nvPr>
            <p:ph type="title"/>
          </p:nvPr>
        </p:nvSpPr>
        <p:spPr>
          <a:xfrm>
            <a:off x="838200" y="599299"/>
            <a:ext cx="10515600" cy="1325563"/>
          </a:xfrm>
        </p:spPr>
        <p:txBody>
          <a:bodyPr/>
          <a:lstStyle/>
          <a:p>
            <a:r>
              <a:rPr lang="it-IT" i="1" dirty="0"/>
              <a:t>Models</a:t>
            </a:r>
          </a:p>
        </p:txBody>
      </p:sp>
      <p:sp>
        <p:nvSpPr>
          <p:cNvPr id="5" name="CasellaDiTesto 4">
            <a:extLst>
              <a:ext uri="{FF2B5EF4-FFF2-40B4-BE49-F238E27FC236}">
                <a16:creationId xmlns:a16="http://schemas.microsoft.com/office/drawing/2014/main" id="{94396E2C-E85B-7259-9349-AAAABF58ADF1}"/>
              </a:ext>
            </a:extLst>
          </p:cNvPr>
          <p:cNvSpPr txBox="1"/>
          <p:nvPr/>
        </p:nvSpPr>
        <p:spPr>
          <a:xfrm>
            <a:off x="838200" y="1751901"/>
            <a:ext cx="10154930" cy="369332"/>
          </a:xfrm>
          <a:prstGeom prst="rect">
            <a:avLst/>
          </a:prstGeom>
          <a:noFill/>
        </p:spPr>
        <p:txBody>
          <a:bodyPr wrap="square">
            <a:spAutoFit/>
          </a:bodyPr>
          <a:lstStyle/>
          <a:p>
            <a:r>
              <a:rPr lang="en-US" dirty="0"/>
              <a:t>Classes used by the application logic during pipeline construction</a:t>
            </a:r>
            <a:endParaRPr lang="it-IT" dirty="0"/>
          </a:p>
        </p:txBody>
      </p:sp>
      <p:sp>
        <p:nvSpPr>
          <p:cNvPr id="4" name="Rettangolo con angoli arrotondati 3">
            <a:extLst>
              <a:ext uri="{FF2B5EF4-FFF2-40B4-BE49-F238E27FC236}">
                <a16:creationId xmlns:a16="http://schemas.microsoft.com/office/drawing/2014/main" id="{54BD6C42-AD30-591E-58C2-16447A5C6AC6}"/>
              </a:ext>
            </a:extLst>
          </p:cNvPr>
          <p:cNvSpPr/>
          <p:nvPr/>
        </p:nvSpPr>
        <p:spPr>
          <a:xfrm>
            <a:off x="838200" y="2465384"/>
            <a:ext cx="2182161" cy="2261765"/>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i="1" dirty="0">
                <a:solidFill>
                  <a:schemeClr val="bg1"/>
                </a:solidFill>
              </a:rPr>
              <a:t>ObjectType.py</a:t>
            </a:r>
          </a:p>
          <a:p>
            <a:pPr algn="ctr"/>
            <a:r>
              <a:rPr lang="it-IT" sz="1600" u="sng" dirty="0">
                <a:solidFill>
                  <a:srgbClr val="13501B"/>
                </a:solidFill>
              </a:rPr>
              <a:t>Data </a:t>
            </a:r>
            <a:r>
              <a:rPr lang="it-IT" sz="1600" u="sng" dirty="0" err="1">
                <a:solidFill>
                  <a:srgbClr val="13501B"/>
                </a:solidFill>
              </a:rPr>
              <a:t>type</a:t>
            </a:r>
            <a:endParaRPr lang="it-IT" sz="1600" u="sng" dirty="0">
              <a:solidFill>
                <a:srgbClr val="13501B"/>
              </a:solidFill>
            </a:endParaRPr>
          </a:p>
          <a:p>
            <a:pPr algn="ctr"/>
            <a:endParaRPr lang="it-IT" sz="1600" b="1" i="1" dirty="0">
              <a:solidFill>
                <a:srgbClr val="215F9A"/>
              </a:solidFill>
            </a:endParaRPr>
          </a:p>
          <a:p>
            <a:pPr algn="ctr"/>
            <a:endParaRPr lang="it-IT" sz="1600" b="1" dirty="0">
              <a:solidFill>
                <a:srgbClr val="13501B"/>
              </a:solidFill>
            </a:endParaRPr>
          </a:p>
          <a:p>
            <a:pPr algn="ctr"/>
            <a:r>
              <a:rPr lang="it-IT" sz="1600" b="1" dirty="0">
                <a:solidFill>
                  <a:srgbClr val="13501B"/>
                </a:solidFill>
              </a:rPr>
              <a:t>Pipeline </a:t>
            </a:r>
            <a:r>
              <a:rPr lang="it-IT" sz="1600" b="1" dirty="0" err="1">
                <a:solidFill>
                  <a:srgbClr val="13501B"/>
                </a:solidFill>
              </a:rPr>
              <a:t>Node</a:t>
            </a:r>
            <a:endParaRPr lang="it-IT" sz="1600" dirty="0">
              <a:solidFill>
                <a:srgbClr val="13501B"/>
              </a:solidFill>
            </a:endParaRPr>
          </a:p>
          <a:p>
            <a:pPr algn="ctr"/>
            <a:endParaRPr lang="it-IT" sz="1600" dirty="0">
              <a:solidFill>
                <a:srgbClr val="13501B"/>
              </a:solidFill>
            </a:endParaRPr>
          </a:p>
          <a:p>
            <a:pPr algn="ctr"/>
            <a:r>
              <a:rPr lang="it-IT" sz="1600" dirty="0" err="1">
                <a:solidFill>
                  <a:srgbClr val="13501B"/>
                </a:solidFill>
              </a:rPr>
              <a:t>Possible</a:t>
            </a:r>
            <a:r>
              <a:rPr lang="it-IT" sz="1600" dirty="0">
                <a:solidFill>
                  <a:srgbClr val="13501B"/>
                </a:solidFill>
              </a:rPr>
              <a:t> data format or state</a:t>
            </a:r>
          </a:p>
        </p:txBody>
      </p:sp>
      <p:sp>
        <p:nvSpPr>
          <p:cNvPr id="9" name="Rettangolo con angoli arrotondati 8">
            <a:extLst>
              <a:ext uri="{FF2B5EF4-FFF2-40B4-BE49-F238E27FC236}">
                <a16:creationId xmlns:a16="http://schemas.microsoft.com/office/drawing/2014/main" id="{85195712-F278-85BB-6EB7-E9558CDE8FA9}"/>
              </a:ext>
            </a:extLst>
          </p:cNvPr>
          <p:cNvSpPr/>
          <p:nvPr/>
        </p:nvSpPr>
        <p:spPr>
          <a:xfrm>
            <a:off x="3549498" y="2465384"/>
            <a:ext cx="2888445" cy="2471483"/>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Algorithm.py</a:t>
            </a:r>
            <a:endParaRPr lang="it-IT" sz="1600" dirty="0"/>
          </a:p>
          <a:p>
            <a:pPr algn="ctr"/>
            <a:r>
              <a:rPr lang="it-IT" sz="1600" u="sng" dirty="0" err="1">
                <a:solidFill>
                  <a:srgbClr val="13501B"/>
                </a:solidFill>
              </a:rPr>
              <a:t>Algorithm</a:t>
            </a:r>
            <a:endParaRPr lang="it-IT" sz="1600" u="sng" dirty="0">
              <a:solidFill>
                <a:srgbClr val="13501B"/>
              </a:solidFill>
            </a:endParaRPr>
          </a:p>
          <a:p>
            <a:pPr algn="ctr"/>
            <a:endParaRPr lang="it-IT" sz="1600" dirty="0">
              <a:solidFill>
                <a:srgbClr val="13501B"/>
              </a:solidFill>
            </a:endParaRPr>
          </a:p>
          <a:p>
            <a:pPr algn="ctr"/>
            <a:endParaRPr lang="it-IT" sz="1600" dirty="0">
              <a:solidFill>
                <a:srgbClr val="13501B"/>
              </a:solidFill>
            </a:endParaRPr>
          </a:p>
          <a:p>
            <a:pPr algn="ctr"/>
            <a:r>
              <a:rPr lang="it-IT" sz="1600" b="1" dirty="0">
                <a:solidFill>
                  <a:srgbClr val="13501B"/>
                </a:solidFill>
              </a:rPr>
              <a:t>Pipeline </a:t>
            </a:r>
            <a:r>
              <a:rPr lang="it-IT" sz="1600" b="1" dirty="0" err="1">
                <a:solidFill>
                  <a:srgbClr val="13501B"/>
                </a:solidFill>
              </a:rPr>
              <a:t>edge</a:t>
            </a:r>
            <a:r>
              <a:rPr lang="it-IT" sz="1600" dirty="0">
                <a:solidFill>
                  <a:srgbClr val="13501B"/>
                </a:solidFill>
              </a:rPr>
              <a:t> </a:t>
            </a:r>
            <a:r>
              <a:rPr lang="it-IT" sz="1600" dirty="0" err="1">
                <a:solidFill>
                  <a:srgbClr val="13501B"/>
                </a:solidFill>
              </a:rPr>
              <a:t>connecting</a:t>
            </a:r>
            <a:r>
              <a:rPr lang="it-IT" sz="1600" dirty="0">
                <a:solidFill>
                  <a:srgbClr val="13501B"/>
                </a:solidFill>
              </a:rPr>
              <a:t> </a:t>
            </a:r>
            <a:r>
              <a:rPr lang="it-IT" sz="1600" dirty="0" err="1">
                <a:solidFill>
                  <a:srgbClr val="13501B"/>
                </a:solidFill>
              </a:rPr>
              <a:t>two</a:t>
            </a:r>
            <a:r>
              <a:rPr lang="it-IT" sz="1600" dirty="0">
                <a:solidFill>
                  <a:srgbClr val="13501B"/>
                </a:solidFill>
              </a:rPr>
              <a:t> </a:t>
            </a:r>
            <a:r>
              <a:rPr lang="it-IT" sz="1600" dirty="0" err="1">
                <a:solidFill>
                  <a:srgbClr val="13501B"/>
                </a:solidFill>
              </a:rPr>
              <a:t>nodes</a:t>
            </a:r>
            <a:endParaRPr lang="it-IT" sz="1600" dirty="0">
              <a:solidFill>
                <a:srgbClr val="13501B"/>
              </a:solidFill>
            </a:endParaRPr>
          </a:p>
          <a:p>
            <a:pPr algn="ctr"/>
            <a:endParaRPr lang="it-IT" sz="1600" dirty="0">
              <a:solidFill>
                <a:srgbClr val="13501B"/>
              </a:solidFill>
            </a:endParaRPr>
          </a:p>
          <a:p>
            <a:pPr algn="ctr"/>
            <a:r>
              <a:rPr lang="it-IT" sz="1600" dirty="0" err="1">
                <a:solidFill>
                  <a:srgbClr val="13501B"/>
                </a:solidFill>
              </a:rPr>
              <a:t>Transformation</a:t>
            </a:r>
            <a:r>
              <a:rPr lang="it-IT" sz="1600" dirty="0">
                <a:solidFill>
                  <a:srgbClr val="13501B"/>
                </a:solidFill>
              </a:rPr>
              <a:t> </a:t>
            </a:r>
            <a:r>
              <a:rPr lang="it-IT" sz="1600" dirty="0" err="1">
                <a:solidFill>
                  <a:srgbClr val="13501B"/>
                </a:solidFill>
              </a:rPr>
              <a:t>between</a:t>
            </a:r>
            <a:r>
              <a:rPr lang="it-IT" sz="1600" dirty="0">
                <a:solidFill>
                  <a:srgbClr val="13501B"/>
                </a:solidFill>
              </a:rPr>
              <a:t> </a:t>
            </a:r>
            <a:r>
              <a:rPr lang="it-IT" sz="1600" dirty="0" err="1">
                <a:solidFill>
                  <a:srgbClr val="13501B"/>
                </a:solidFill>
              </a:rPr>
              <a:t>two</a:t>
            </a:r>
            <a:r>
              <a:rPr lang="it-IT" sz="1600" dirty="0">
                <a:solidFill>
                  <a:srgbClr val="13501B"/>
                </a:solidFill>
              </a:rPr>
              <a:t> data </a:t>
            </a:r>
            <a:r>
              <a:rPr lang="it-IT" sz="1600" dirty="0" err="1">
                <a:solidFill>
                  <a:srgbClr val="13501B"/>
                </a:solidFill>
              </a:rPr>
              <a:t>type</a:t>
            </a:r>
            <a:endParaRPr lang="it-IT" sz="1600" dirty="0">
              <a:solidFill>
                <a:srgbClr val="13501B"/>
              </a:solidFill>
            </a:endParaRPr>
          </a:p>
        </p:txBody>
      </p:sp>
      <p:sp>
        <p:nvSpPr>
          <p:cNvPr id="10" name="Rettangolo con angoli arrotondati 9">
            <a:extLst>
              <a:ext uri="{FF2B5EF4-FFF2-40B4-BE49-F238E27FC236}">
                <a16:creationId xmlns:a16="http://schemas.microsoft.com/office/drawing/2014/main" id="{3E9B7987-A894-C0EC-C960-8CF043B1D922}"/>
              </a:ext>
            </a:extLst>
          </p:cNvPr>
          <p:cNvSpPr/>
          <p:nvPr/>
        </p:nvSpPr>
        <p:spPr>
          <a:xfrm>
            <a:off x="6967080" y="2465384"/>
            <a:ext cx="4010937" cy="3257303"/>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Pipeline.py</a:t>
            </a:r>
          </a:p>
          <a:p>
            <a:pPr algn="ctr"/>
            <a:r>
              <a:rPr lang="it-IT" sz="1600" u="sng" dirty="0">
                <a:solidFill>
                  <a:srgbClr val="13501B"/>
                </a:solidFill>
              </a:rPr>
              <a:t>Pipeline</a:t>
            </a:r>
            <a:r>
              <a:rPr lang="it-IT" sz="1600" dirty="0">
                <a:solidFill>
                  <a:srgbClr val="13501B"/>
                </a:solidFill>
              </a:rPr>
              <a:t> </a:t>
            </a:r>
          </a:p>
          <a:p>
            <a:pPr algn="ctr"/>
            <a:endParaRPr lang="it-IT" sz="1600" dirty="0">
              <a:solidFill>
                <a:srgbClr val="13501B"/>
              </a:solidFill>
            </a:endParaRPr>
          </a:p>
          <a:p>
            <a:pPr algn="ctr"/>
            <a:endParaRPr lang="it-IT" sz="1600" b="1" dirty="0">
              <a:solidFill>
                <a:srgbClr val="13501B"/>
              </a:solidFill>
            </a:endParaRPr>
          </a:p>
          <a:p>
            <a:pPr algn="ctr"/>
            <a:r>
              <a:rPr lang="it-IT" sz="1600" b="1" dirty="0" err="1">
                <a:solidFill>
                  <a:srgbClr val="13501B"/>
                </a:solidFill>
              </a:rPr>
              <a:t>Ordered</a:t>
            </a:r>
            <a:r>
              <a:rPr lang="it-IT" sz="1600" b="1" dirty="0">
                <a:solidFill>
                  <a:srgbClr val="13501B"/>
                </a:solidFill>
              </a:rPr>
              <a:t> </a:t>
            </a:r>
            <a:r>
              <a:rPr lang="it-IT" sz="1600" b="1" dirty="0" err="1">
                <a:solidFill>
                  <a:srgbClr val="13501B"/>
                </a:solidFill>
              </a:rPr>
              <a:t>sequence</a:t>
            </a:r>
            <a:r>
              <a:rPr lang="it-IT" sz="1600" b="1" dirty="0">
                <a:solidFill>
                  <a:srgbClr val="13501B"/>
                </a:solidFill>
              </a:rPr>
              <a:t> </a:t>
            </a:r>
          </a:p>
          <a:p>
            <a:pPr algn="ctr"/>
            <a:r>
              <a:rPr lang="it-IT" sz="1600" dirty="0">
                <a:solidFill>
                  <a:srgbClr val="13501B"/>
                </a:solidFill>
              </a:rPr>
              <a:t>of </a:t>
            </a:r>
            <a:r>
              <a:rPr lang="it-IT" sz="1600" dirty="0" err="1">
                <a:solidFill>
                  <a:srgbClr val="13501B"/>
                </a:solidFill>
              </a:rPr>
              <a:t>transformations</a:t>
            </a:r>
            <a:endParaRPr lang="it-IT" sz="1600" dirty="0">
              <a:solidFill>
                <a:srgbClr val="13501B"/>
              </a:solidFill>
            </a:endParaRPr>
          </a:p>
          <a:p>
            <a:pPr algn="ctr"/>
            <a:endParaRPr lang="it-IT" sz="1600" dirty="0">
              <a:solidFill>
                <a:srgbClr val="13501B"/>
              </a:solidFill>
            </a:endParaRPr>
          </a:p>
          <a:p>
            <a:pPr marL="285750" indent="-285750">
              <a:buFont typeface="Arial" panose="020B0604020202020204" pitchFamily="34" charset="0"/>
              <a:buChar char="•"/>
            </a:pPr>
            <a:r>
              <a:rPr lang="it-IT" sz="1600" dirty="0" err="1">
                <a:solidFill>
                  <a:srgbClr val="13501B"/>
                </a:solidFill>
              </a:rPr>
              <a:t>Adds</a:t>
            </a:r>
            <a:r>
              <a:rPr lang="it-IT" sz="1600" dirty="0">
                <a:solidFill>
                  <a:srgbClr val="13501B"/>
                </a:solidFill>
              </a:rPr>
              <a:t> new steps</a:t>
            </a:r>
          </a:p>
          <a:p>
            <a:pPr marL="285750" indent="-285750">
              <a:buFont typeface="Arial" panose="020B0604020202020204" pitchFamily="34" charset="0"/>
              <a:buChar char="•"/>
            </a:pPr>
            <a:r>
              <a:rPr lang="it-IT" sz="1600" dirty="0">
                <a:solidFill>
                  <a:srgbClr val="13501B"/>
                </a:solidFill>
              </a:rPr>
              <a:t>Checks </a:t>
            </a:r>
            <a:r>
              <a:rPr lang="it-IT" sz="1600" dirty="0" err="1">
                <a:solidFill>
                  <a:srgbClr val="13501B"/>
                </a:solidFill>
              </a:rPr>
              <a:t>compatibility</a:t>
            </a:r>
            <a:r>
              <a:rPr lang="it-IT" sz="1600" dirty="0">
                <a:solidFill>
                  <a:srgbClr val="13501B"/>
                </a:solidFill>
              </a:rPr>
              <a:t> </a:t>
            </a:r>
            <a:r>
              <a:rPr lang="it-IT" sz="1600" dirty="0" err="1">
                <a:solidFill>
                  <a:srgbClr val="13501B"/>
                </a:solidFill>
              </a:rPr>
              <a:t>between</a:t>
            </a:r>
            <a:r>
              <a:rPr lang="it-IT" sz="1600" dirty="0">
                <a:solidFill>
                  <a:srgbClr val="13501B"/>
                </a:solidFill>
              </a:rPr>
              <a:t> </a:t>
            </a:r>
            <a:r>
              <a:rPr lang="it-IT" sz="1600" dirty="0" err="1">
                <a:solidFill>
                  <a:srgbClr val="13501B"/>
                </a:solidFill>
              </a:rPr>
              <a:t>elements</a:t>
            </a:r>
            <a:endParaRPr lang="it-IT" sz="1600" dirty="0">
              <a:solidFill>
                <a:srgbClr val="13501B"/>
              </a:solidFill>
            </a:endParaRPr>
          </a:p>
          <a:p>
            <a:pPr marL="285750" indent="-285750">
              <a:buFont typeface="Arial" panose="020B0604020202020204" pitchFamily="34" charset="0"/>
              <a:buChar char="•"/>
            </a:pPr>
            <a:r>
              <a:rPr lang="it-IT" sz="1600" dirty="0" err="1">
                <a:solidFill>
                  <a:srgbClr val="13501B"/>
                </a:solidFill>
              </a:rPr>
              <a:t>Calculates</a:t>
            </a:r>
            <a:r>
              <a:rPr lang="it-IT" sz="1600" dirty="0">
                <a:solidFill>
                  <a:srgbClr val="13501B"/>
                </a:solidFill>
              </a:rPr>
              <a:t> </a:t>
            </a:r>
            <a:r>
              <a:rPr lang="it-IT" sz="1600" dirty="0" err="1">
                <a:solidFill>
                  <a:srgbClr val="13501B"/>
                </a:solidFill>
              </a:rPr>
              <a:t>useful</a:t>
            </a:r>
            <a:r>
              <a:rPr lang="it-IT" sz="1600" dirty="0">
                <a:solidFill>
                  <a:srgbClr val="13501B"/>
                </a:solidFill>
              </a:rPr>
              <a:t> information, </a:t>
            </a:r>
            <a:r>
              <a:rPr lang="it-IT" sz="1600" dirty="0" err="1">
                <a:solidFill>
                  <a:srgbClr val="13501B"/>
                </a:solidFill>
              </a:rPr>
              <a:t>such</a:t>
            </a:r>
            <a:r>
              <a:rPr lang="it-IT" sz="1600" dirty="0">
                <a:solidFill>
                  <a:srgbClr val="13501B"/>
                </a:solidFill>
              </a:rPr>
              <a:t> </a:t>
            </a:r>
            <a:r>
              <a:rPr lang="it-IT" sz="1600" dirty="0" err="1">
                <a:solidFill>
                  <a:srgbClr val="13501B"/>
                </a:solidFill>
              </a:rPr>
              <a:t>as</a:t>
            </a:r>
            <a:r>
              <a:rPr lang="it-IT" sz="1600" dirty="0">
                <a:solidFill>
                  <a:srgbClr val="13501B"/>
                </a:solidFill>
              </a:rPr>
              <a:t> the </a:t>
            </a:r>
            <a:r>
              <a:rPr lang="it-IT" sz="1600" dirty="0" err="1">
                <a:solidFill>
                  <a:srgbClr val="13501B"/>
                </a:solidFill>
              </a:rPr>
              <a:t>current</a:t>
            </a:r>
            <a:r>
              <a:rPr lang="it-IT" sz="1600" dirty="0">
                <a:solidFill>
                  <a:srgbClr val="13501B"/>
                </a:solidFill>
              </a:rPr>
              <a:t> </a:t>
            </a:r>
            <a:r>
              <a:rPr lang="it-IT" sz="1600" dirty="0" err="1">
                <a:solidFill>
                  <a:srgbClr val="13501B"/>
                </a:solidFill>
              </a:rPr>
              <a:t>type</a:t>
            </a:r>
            <a:r>
              <a:rPr lang="it-IT" sz="1600" dirty="0">
                <a:solidFill>
                  <a:srgbClr val="13501B"/>
                </a:solidFill>
              </a:rPr>
              <a:t> and the </a:t>
            </a:r>
            <a:r>
              <a:rPr lang="it-IT" sz="1600" dirty="0" err="1">
                <a:solidFill>
                  <a:srgbClr val="13501B"/>
                </a:solidFill>
              </a:rPr>
              <a:t>total</a:t>
            </a:r>
            <a:r>
              <a:rPr lang="it-IT" sz="1600" dirty="0">
                <a:solidFill>
                  <a:srgbClr val="13501B"/>
                </a:solidFill>
              </a:rPr>
              <a:t> cost</a:t>
            </a:r>
          </a:p>
        </p:txBody>
      </p:sp>
      <p:cxnSp>
        <p:nvCxnSpPr>
          <p:cNvPr id="11" name="Connettore 2 10">
            <a:extLst>
              <a:ext uri="{FF2B5EF4-FFF2-40B4-BE49-F238E27FC236}">
                <a16:creationId xmlns:a16="http://schemas.microsoft.com/office/drawing/2014/main" id="{8E0DFF0C-389D-9839-2B41-E4D66C986FA4}"/>
              </a:ext>
            </a:extLst>
          </p:cNvPr>
          <p:cNvCxnSpPr>
            <a:cxnSpLocks/>
          </p:cNvCxnSpPr>
          <p:nvPr/>
        </p:nvCxnSpPr>
        <p:spPr>
          <a:xfrm>
            <a:off x="1891585" y="3166325"/>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32F98F4B-313A-D214-FDBD-3485BF6B2284}"/>
              </a:ext>
            </a:extLst>
          </p:cNvPr>
          <p:cNvCxnSpPr>
            <a:cxnSpLocks/>
          </p:cNvCxnSpPr>
          <p:nvPr/>
        </p:nvCxnSpPr>
        <p:spPr>
          <a:xfrm>
            <a:off x="8982465" y="3216851"/>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ttore 2 12">
            <a:extLst>
              <a:ext uri="{FF2B5EF4-FFF2-40B4-BE49-F238E27FC236}">
                <a16:creationId xmlns:a16="http://schemas.microsoft.com/office/drawing/2014/main" id="{CD94F8E2-0DAC-99F7-9264-94F921B83383}"/>
              </a:ext>
            </a:extLst>
          </p:cNvPr>
          <p:cNvCxnSpPr>
            <a:cxnSpLocks/>
          </p:cNvCxnSpPr>
          <p:nvPr/>
        </p:nvCxnSpPr>
        <p:spPr>
          <a:xfrm>
            <a:off x="5009318" y="3177821"/>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9033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70763-5108-CFE1-E466-43CC223C3C0E}"/>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9782ECD5-FFB4-0593-A91C-BADFC9D15EB3}"/>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21411326-EFE0-F16B-B630-472D67B89A27}"/>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20E836C0-14CE-BA58-16EB-4E8D20321427}"/>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7D8A8C52-3A06-EEE6-4E01-3678E335D416}"/>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3BECF4EF-A196-F8BA-9FC6-C52104343595}"/>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36FE7591-ECB4-3979-6BAF-B7602FCED93D}"/>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D86B7AE3-80C5-76CA-B2EA-16A081032D3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6B57C35-C85E-6AC7-8CA1-5DC6B185D172}"/>
              </a:ext>
            </a:extLst>
          </p:cNvPr>
          <p:cNvSpPr>
            <a:spLocks noGrp="1"/>
          </p:cNvSpPr>
          <p:nvPr>
            <p:ph type="title"/>
          </p:nvPr>
        </p:nvSpPr>
        <p:spPr>
          <a:xfrm>
            <a:off x="838200" y="554693"/>
            <a:ext cx="10515600" cy="1325563"/>
          </a:xfrm>
        </p:spPr>
        <p:txBody>
          <a:bodyPr/>
          <a:lstStyle/>
          <a:p>
            <a:r>
              <a:rPr lang="it-IT" i="1" dirty="0" err="1"/>
              <a:t>Schemas</a:t>
            </a:r>
            <a:endParaRPr lang="it-IT" i="1" dirty="0"/>
          </a:p>
        </p:txBody>
      </p:sp>
      <p:sp>
        <p:nvSpPr>
          <p:cNvPr id="5" name="CasellaDiTesto 4">
            <a:extLst>
              <a:ext uri="{FF2B5EF4-FFF2-40B4-BE49-F238E27FC236}">
                <a16:creationId xmlns:a16="http://schemas.microsoft.com/office/drawing/2014/main" id="{38F8078C-21E0-6763-1128-1C7AFF4167E6}"/>
              </a:ext>
            </a:extLst>
          </p:cNvPr>
          <p:cNvSpPr txBox="1"/>
          <p:nvPr/>
        </p:nvSpPr>
        <p:spPr>
          <a:xfrm>
            <a:off x="838199" y="1817519"/>
            <a:ext cx="8678777" cy="369332"/>
          </a:xfrm>
          <a:prstGeom prst="rect">
            <a:avLst/>
          </a:prstGeom>
          <a:noFill/>
        </p:spPr>
        <p:txBody>
          <a:bodyPr wrap="square">
            <a:spAutoFit/>
          </a:bodyPr>
          <a:lstStyle/>
          <a:p>
            <a:r>
              <a:rPr lang="en-US" dirty="0"/>
              <a:t>Structures used to validate the data exchanged between the user interface and the API</a:t>
            </a:r>
            <a:endParaRPr lang="it-IT" dirty="0"/>
          </a:p>
        </p:txBody>
      </p:sp>
      <p:sp>
        <p:nvSpPr>
          <p:cNvPr id="6" name="Rettangolo con angoli arrotondati 5">
            <a:extLst>
              <a:ext uri="{FF2B5EF4-FFF2-40B4-BE49-F238E27FC236}">
                <a16:creationId xmlns:a16="http://schemas.microsoft.com/office/drawing/2014/main" id="{AC310909-EA01-B7D4-D2D9-E4F304C36CDD}"/>
              </a:ext>
            </a:extLst>
          </p:cNvPr>
          <p:cNvSpPr/>
          <p:nvPr/>
        </p:nvSpPr>
        <p:spPr>
          <a:xfrm>
            <a:off x="888387" y="2686175"/>
            <a:ext cx="2731113" cy="1743814"/>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ObjectType_schema.py</a:t>
            </a:r>
            <a:endParaRPr lang="it-IT" sz="1600" b="1" i="1" dirty="0">
              <a:solidFill>
                <a:srgbClr val="C00000"/>
              </a:solidFill>
            </a:endParaRPr>
          </a:p>
          <a:p>
            <a:pPr algn="ctr"/>
            <a:endParaRPr lang="it-IT" sz="1600" b="1" dirty="0">
              <a:solidFill>
                <a:srgbClr val="C00000"/>
              </a:solidFill>
            </a:endParaRPr>
          </a:p>
          <a:p>
            <a:pPr algn="ctr"/>
            <a:endParaRPr lang="it-IT" sz="1600" b="1" dirty="0">
              <a:solidFill>
                <a:srgbClr val="C00000"/>
              </a:solidFill>
            </a:endParaRPr>
          </a:p>
          <a:p>
            <a:pPr algn="ctr"/>
            <a:r>
              <a:rPr lang="en-US" sz="1600" dirty="0">
                <a:solidFill>
                  <a:srgbClr val="C00000"/>
                </a:solidFill>
              </a:rPr>
              <a:t>They define the data required to create and return a data type</a:t>
            </a:r>
            <a:endParaRPr lang="it-IT" sz="1600" dirty="0">
              <a:solidFill>
                <a:srgbClr val="C00000"/>
              </a:solidFill>
            </a:endParaRPr>
          </a:p>
        </p:txBody>
      </p:sp>
      <p:sp>
        <p:nvSpPr>
          <p:cNvPr id="8" name="Rettangolo con angoli arrotondati 7">
            <a:extLst>
              <a:ext uri="{FF2B5EF4-FFF2-40B4-BE49-F238E27FC236}">
                <a16:creationId xmlns:a16="http://schemas.microsoft.com/office/drawing/2014/main" id="{9A13A338-D5F7-DD7A-6B53-0D06004E524B}"/>
              </a:ext>
            </a:extLst>
          </p:cNvPr>
          <p:cNvSpPr/>
          <p:nvPr/>
        </p:nvSpPr>
        <p:spPr>
          <a:xfrm>
            <a:off x="3978749" y="2686175"/>
            <a:ext cx="3131811" cy="1743814"/>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Algorithm_schema.py</a:t>
            </a:r>
            <a:endParaRPr lang="it-IT" sz="1600" b="1" i="1" dirty="0">
              <a:solidFill>
                <a:srgbClr val="C00000"/>
              </a:solidFill>
            </a:endParaRPr>
          </a:p>
          <a:p>
            <a:pPr algn="ctr"/>
            <a:endParaRPr lang="it-IT" sz="1600" b="1" dirty="0">
              <a:solidFill>
                <a:srgbClr val="C00000"/>
              </a:solidFill>
            </a:endParaRPr>
          </a:p>
          <a:p>
            <a:pPr algn="ctr"/>
            <a:endParaRPr lang="it-IT" sz="1600" b="1" dirty="0">
              <a:solidFill>
                <a:srgbClr val="C00000"/>
              </a:solidFill>
            </a:endParaRPr>
          </a:p>
          <a:p>
            <a:pPr algn="ctr"/>
            <a:r>
              <a:rPr lang="en-US" sz="1600" dirty="0">
                <a:solidFill>
                  <a:srgbClr val="C00000"/>
                </a:solidFill>
              </a:rPr>
              <a:t>They validate algorithm-related information, such as name, input, output, and cost</a:t>
            </a:r>
            <a:endParaRPr lang="it-IT" sz="1600" dirty="0">
              <a:solidFill>
                <a:srgbClr val="C00000"/>
              </a:solidFill>
            </a:endParaRPr>
          </a:p>
        </p:txBody>
      </p:sp>
      <p:sp>
        <p:nvSpPr>
          <p:cNvPr id="9" name="Rettangolo con angoli arrotondati 8">
            <a:extLst>
              <a:ext uri="{FF2B5EF4-FFF2-40B4-BE49-F238E27FC236}">
                <a16:creationId xmlns:a16="http://schemas.microsoft.com/office/drawing/2014/main" id="{06F19068-C6D0-B336-08F7-0461703A8E1D}"/>
              </a:ext>
            </a:extLst>
          </p:cNvPr>
          <p:cNvSpPr/>
          <p:nvPr/>
        </p:nvSpPr>
        <p:spPr>
          <a:xfrm>
            <a:off x="7469808" y="2686175"/>
            <a:ext cx="4074491" cy="1743814"/>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Pipeline_schema.py</a:t>
            </a:r>
            <a:endParaRPr lang="it-IT" sz="1600" b="1" dirty="0">
              <a:solidFill>
                <a:srgbClr val="C00000"/>
              </a:solidFill>
            </a:endParaRPr>
          </a:p>
          <a:p>
            <a:pPr algn="ctr"/>
            <a:endParaRPr lang="it-IT" sz="1600" b="1" dirty="0">
              <a:solidFill>
                <a:srgbClr val="C00000"/>
              </a:solidFill>
            </a:endParaRPr>
          </a:p>
          <a:p>
            <a:pPr algn="ctr"/>
            <a:endParaRPr lang="it-IT" sz="1600" b="1" dirty="0">
              <a:solidFill>
                <a:srgbClr val="C00000"/>
              </a:solidFill>
            </a:endParaRPr>
          </a:p>
          <a:p>
            <a:pPr algn="ctr"/>
            <a:r>
              <a:rPr lang="en-US" sz="1600" dirty="0">
                <a:solidFill>
                  <a:srgbClr val="C00000"/>
                </a:solidFill>
              </a:rPr>
              <a:t>They describe the requests and responses related to pipeline construction, step selection, saving, and retrieval</a:t>
            </a:r>
            <a:endParaRPr lang="it-IT" sz="1600" dirty="0">
              <a:solidFill>
                <a:srgbClr val="C00000"/>
              </a:solidFill>
            </a:endParaRPr>
          </a:p>
        </p:txBody>
      </p:sp>
      <p:cxnSp>
        <p:nvCxnSpPr>
          <p:cNvPr id="10" name="Connettore 2 9">
            <a:extLst>
              <a:ext uri="{FF2B5EF4-FFF2-40B4-BE49-F238E27FC236}">
                <a16:creationId xmlns:a16="http://schemas.microsoft.com/office/drawing/2014/main" id="{283FB839-0F56-584B-3D78-292F99D539BB}"/>
              </a:ext>
            </a:extLst>
          </p:cNvPr>
          <p:cNvCxnSpPr>
            <a:cxnSpLocks/>
          </p:cNvCxnSpPr>
          <p:nvPr/>
        </p:nvCxnSpPr>
        <p:spPr>
          <a:xfrm>
            <a:off x="2376714" y="311449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ttore 2 10">
            <a:extLst>
              <a:ext uri="{FF2B5EF4-FFF2-40B4-BE49-F238E27FC236}">
                <a16:creationId xmlns:a16="http://schemas.microsoft.com/office/drawing/2014/main" id="{3FDE73BF-46C1-C9DF-800D-261EE5782D74}"/>
              </a:ext>
            </a:extLst>
          </p:cNvPr>
          <p:cNvCxnSpPr>
            <a:cxnSpLocks/>
          </p:cNvCxnSpPr>
          <p:nvPr/>
        </p:nvCxnSpPr>
        <p:spPr>
          <a:xfrm>
            <a:off x="5540222" y="311449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9EBC8CC3-7CF6-20AD-FED5-7A630B188F09}"/>
              </a:ext>
            </a:extLst>
          </p:cNvPr>
          <p:cNvCxnSpPr>
            <a:cxnSpLocks/>
          </p:cNvCxnSpPr>
          <p:nvPr/>
        </p:nvCxnSpPr>
        <p:spPr>
          <a:xfrm>
            <a:off x="9441679" y="311449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6625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C1A5-39C6-10A7-6D85-9AB350866AB5}"/>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FB652555-D864-839C-2B58-3561ADC4EAC8}"/>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06C18079-C0DA-EE6B-6CE6-410FA7A1BE45}"/>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60F8A19E-8530-EF8C-BB40-07A2550B003E}"/>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7483476E-5521-C34A-5E59-B4B8F8F7377B}"/>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E5759E70-A8D6-F606-DFF1-E483E537F499}"/>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C3A7B0B5-21CB-0E66-24F7-E33AF6BCB422}"/>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67BD9059-F6C0-9879-1690-35769A4FCFC5}"/>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B2761623-6FB9-F972-EFD7-6F0655BBF52D}"/>
              </a:ext>
            </a:extLst>
          </p:cNvPr>
          <p:cNvSpPr>
            <a:spLocks noGrp="1"/>
          </p:cNvSpPr>
          <p:nvPr>
            <p:ph type="title"/>
          </p:nvPr>
        </p:nvSpPr>
        <p:spPr>
          <a:xfrm>
            <a:off x="838200" y="599298"/>
            <a:ext cx="3599985" cy="1325563"/>
          </a:xfrm>
        </p:spPr>
        <p:txBody>
          <a:bodyPr/>
          <a:lstStyle/>
          <a:p>
            <a:r>
              <a:rPr lang="it-IT" i="1" dirty="0"/>
              <a:t>User Interface</a:t>
            </a:r>
          </a:p>
        </p:txBody>
      </p:sp>
      <p:sp>
        <p:nvSpPr>
          <p:cNvPr id="4" name="CasellaDiTesto 3">
            <a:extLst>
              <a:ext uri="{FF2B5EF4-FFF2-40B4-BE49-F238E27FC236}">
                <a16:creationId xmlns:a16="http://schemas.microsoft.com/office/drawing/2014/main" id="{31CC1FAB-CAB2-823F-2463-792D2A9E0685}"/>
              </a:ext>
            </a:extLst>
          </p:cNvPr>
          <p:cNvSpPr txBox="1"/>
          <p:nvPr/>
        </p:nvSpPr>
        <p:spPr>
          <a:xfrm>
            <a:off x="818837" y="2090576"/>
            <a:ext cx="3976187" cy="2800767"/>
          </a:xfrm>
          <a:prstGeom prst="rect">
            <a:avLst/>
          </a:prstGeom>
          <a:solidFill>
            <a:srgbClr val="4FB5E3">
              <a:alpha val="30196"/>
            </a:srgbClr>
          </a:solidFill>
          <a:ln w="28575">
            <a:solidFill>
              <a:srgbClr val="215F9A"/>
            </a:solidFill>
            <a:prstDash val="lgDash"/>
          </a:ln>
        </p:spPr>
        <p:txBody>
          <a:bodyPr wrap="square">
            <a:spAutoFit/>
          </a:bodyPr>
          <a:lstStyle/>
          <a:p>
            <a:pPr marL="285750" indent="-285750">
              <a:buFont typeface="Arial" panose="020B0604020202020204" pitchFamily="34" charset="0"/>
              <a:buChar char="•"/>
            </a:pPr>
            <a:r>
              <a:rPr lang="en-US" sz="1600" dirty="0"/>
              <a:t>It manages the user session state.</a:t>
            </a:r>
            <a:endParaRPr lang="it-IT" sz="1600" dirty="0"/>
          </a:p>
          <a:p>
            <a:endParaRPr lang="it-IT" sz="1600" dirty="0"/>
          </a:p>
          <a:p>
            <a:pPr marL="285750" indent="-285750">
              <a:buFont typeface="Arial" panose="020B0604020202020204" pitchFamily="34" charset="0"/>
              <a:buChar char="•"/>
            </a:pPr>
            <a:r>
              <a:rPr lang="en-US" sz="1600" dirty="0"/>
              <a:t>Through the UI, the user can manage contexts, data types, algorithms, and saved pipelines, but operations are always validated and executed by the backend.</a:t>
            </a:r>
          </a:p>
          <a:p>
            <a:endParaRPr lang="it-IT" sz="1600" dirty="0"/>
          </a:p>
          <a:p>
            <a:pPr marL="285750" indent="-285750">
              <a:buFont typeface="Arial" panose="020B0604020202020204" pitchFamily="34" charset="0"/>
              <a:buChar char="•"/>
            </a:pPr>
            <a:r>
              <a:rPr lang="en-US" sz="1600" dirty="0"/>
              <a:t>Pipeline construction: the interface guides the user through the step-by-step process.</a:t>
            </a:r>
            <a:endParaRPr lang="it-IT" sz="1600" dirty="0"/>
          </a:p>
        </p:txBody>
      </p:sp>
      <p:sp>
        <p:nvSpPr>
          <p:cNvPr id="3" name="CasellaDiTesto 2">
            <a:extLst>
              <a:ext uri="{FF2B5EF4-FFF2-40B4-BE49-F238E27FC236}">
                <a16:creationId xmlns:a16="http://schemas.microsoft.com/office/drawing/2014/main" id="{C47F9482-5AC0-25B8-F1CC-1B0454B0755B}"/>
              </a:ext>
            </a:extLst>
          </p:cNvPr>
          <p:cNvSpPr txBox="1"/>
          <p:nvPr/>
        </p:nvSpPr>
        <p:spPr>
          <a:xfrm>
            <a:off x="5843004" y="2086433"/>
            <a:ext cx="3976187" cy="2308324"/>
          </a:xfrm>
          <a:prstGeom prst="rect">
            <a:avLst/>
          </a:prstGeom>
          <a:solidFill>
            <a:srgbClr val="FFFFFF"/>
          </a:solidFill>
          <a:ln w="28575">
            <a:solidFill>
              <a:srgbClr val="215F9A"/>
            </a:solidFill>
            <a:prstDash val="lgDash"/>
          </a:ln>
        </p:spPr>
        <p:txBody>
          <a:bodyPr wrap="square">
            <a:spAutoFit/>
          </a:bodyPr>
          <a:lstStyle>
            <a:defPPr>
              <a:defRPr lang="it-IT"/>
            </a:defPPr>
            <a:lvl1pPr marL="285750" indent="-285750">
              <a:buFont typeface="Arial" panose="020B0604020202020204" pitchFamily="34" charset="0"/>
              <a:buChar char="•"/>
              <a:defRPr sz="1600"/>
            </a:lvl1pPr>
          </a:lstStyle>
          <a:p>
            <a:pPr marL="0" indent="0">
              <a:buNone/>
            </a:pPr>
            <a:r>
              <a:rPr lang="en-US" dirty="0"/>
              <a:t>It is the system entry point.</a:t>
            </a:r>
            <a:endParaRPr lang="it-IT" dirty="0"/>
          </a:p>
          <a:p>
            <a:pPr marL="0" indent="0">
              <a:buNone/>
            </a:pPr>
            <a:br>
              <a:rPr lang="it-IT" dirty="0"/>
            </a:br>
            <a:r>
              <a:rPr lang="it-IT" dirty="0"/>
              <a:t>In </a:t>
            </a:r>
            <a:r>
              <a:rPr lang="it-IT" dirty="0" err="1"/>
              <a:t>this</a:t>
            </a:r>
            <a:r>
              <a:rPr lang="it-IT" dirty="0"/>
              <a:t> part:</a:t>
            </a:r>
          </a:p>
          <a:p>
            <a:r>
              <a:rPr lang="en-US" dirty="0"/>
              <a:t>The </a:t>
            </a:r>
            <a:r>
              <a:rPr lang="en-US" dirty="0" err="1"/>
              <a:t>FastAPI</a:t>
            </a:r>
            <a:r>
              <a:rPr lang="en-US" dirty="0"/>
              <a:t> application is created</a:t>
            </a:r>
            <a:endParaRPr lang="it-IT" dirty="0"/>
          </a:p>
          <a:p>
            <a:pPr marL="0" indent="0">
              <a:buNone/>
            </a:pPr>
            <a:endParaRPr lang="it-IT" dirty="0"/>
          </a:p>
          <a:p>
            <a:r>
              <a:rPr lang="en-US" dirty="0"/>
              <a:t>The database tables are initialized</a:t>
            </a:r>
            <a:endParaRPr lang="it-IT" dirty="0"/>
          </a:p>
          <a:p>
            <a:pPr marL="0" indent="0">
              <a:buNone/>
            </a:pPr>
            <a:endParaRPr lang="it-IT" dirty="0"/>
          </a:p>
          <a:p>
            <a:r>
              <a:rPr lang="en-US" dirty="0"/>
              <a:t>The main router, which collects all system endpoints, is connected.</a:t>
            </a:r>
            <a:endParaRPr lang="it-IT" dirty="0"/>
          </a:p>
        </p:txBody>
      </p:sp>
      <p:sp>
        <p:nvSpPr>
          <p:cNvPr id="5" name="Titolo 1">
            <a:extLst>
              <a:ext uri="{FF2B5EF4-FFF2-40B4-BE49-F238E27FC236}">
                <a16:creationId xmlns:a16="http://schemas.microsoft.com/office/drawing/2014/main" id="{F553744F-0770-ECC7-CDBB-5B94BB2B59AB}"/>
              </a:ext>
            </a:extLst>
          </p:cNvPr>
          <p:cNvSpPr txBox="1">
            <a:spLocks/>
          </p:cNvSpPr>
          <p:nvPr/>
        </p:nvSpPr>
        <p:spPr>
          <a:xfrm>
            <a:off x="5843004" y="599298"/>
            <a:ext cx="149774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i="1" dirty="0" err="1"/>
              <a:t>Main</a:t>
            </a:r>
            <a:endParaRPr lang="it-IT" i="1" dirty="0"/>
          </a:p>
        </p:txBody>
      </p:sp>
    </p:spTree>
    <p:extLst>
      <p:ext uri="{BB962C8B-B14F-4D97-AF65-F5344CB8AC3E}">
        <p14:creationId xmlns:p14="http://schemas.microsoft.com/office/powerpoint/2010/main" val="3402765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8FBD5-57ED-48B5-DF5F-3DEC4F001C64}"/>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5D048601-6121-25DD-1FF5-1CEBA3CD4EBA}"/>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10A8C3D1-485E-7ECE-1ABD-D07C7E140B81}"/>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B02BFF0C-412D-00CE-B3D8-C22C96C10BFD}"/>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8C1269FE-110F-0EFD-24F7-DAA91FCC62E9}"/>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D87F131E-D39A-B877-8769-3C0AA849E2D2}"/>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657588F3-79CF-C713-FC88-E71B06BDFDDE}"/>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FD99B006-64F2-A3CF-E05D-888357E6BD32}"/>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4F756F7-7875-4DCF-17A6-5D89B814B4AA}"/>
              </a:ext>
            </a:extLst>
          </p:cNvPr>
          <p:cNvSpPr>
            <a:spLocks noGrp="1"/>
          </p:cNvSpPr>
          <p:nvPr>
            <p:ph type="title"/>
          </p:nvPr>
        </p:nvSpPr>
        <p:spPr>
          <a:xfrm>
            <a:off x="838200" y="576995"/>
            <a:ext cx="10515600" cy="1325563"/>
          </a:xfrm>
        </p:spPr>
        <p:txBody>
          <a:bodyPr/>
          <a:lstStyle/>
          <a:p>
            <a:r>
              <a:rPr lang="it-IT" i="1" dirty="0"/>
              <a:t>Future </a:t>
            </a:r>
            <a:r>
              <a:rPr lang="it-IT" i="1" dirty="0" err="1"/>
              <a:t>Developments</a:t>
            </a:r>
            <a:endParaRPr lang="it-IT" i="1" dirty="0"/>
          </a:p>
        </p:txBody>
      </p:sp>
      <p:sp>
        <p:nvSpPr>
          <p:cNvPr id="4" name="CasellaDiTesto 3">
            <a:extLst>
              <a:ext uri="{FF2B5EF4-FFF2-40B4-BE49-F238E27FC236}">
                <a16:creationId xmlns:a16="http://schemas.microsoft.com/office/drawing/2014/main" id="{6B82FFC3-2D29-B596-38A6-E7F8D6E61D30}"/>
              </a:ext>
            </a:extLst>
          </p:cNvPr>
          <p:cNvSpPr txBox="1"/>
          <p:nvPr/>
        </p:nvSpPr>
        <p:spPr>
          <a:xfrm>
            <a:off x="818837" y="1857714"/>
            <a:ext cx="7589183" cy="2308324"/>
          </a:xfrm>
          <a:prstGeom prst="rect">
            <a:avLst/>
          </a:prstGeom>
          <a:noFill/>
        </p:spPr>
        <p:txBody>
          <a:bodyPr wrap="square">
            <a:spAutoFit/>
          </a:bodyPr>
          <a:lstStyle/>
          <a:p>
            <a:pPr marL="285750" indent="-285750">
              <a:buFont typeface="Arial" panose="020B0604020202020204" pitchFamily="34" charset="0"/>
              <a:buChar char="•"/>
            </a:pPr>
            <a:r>
              <a:rPr lang="it-IT" sz="1600" dirty="0"/>
              <a:t>Integration of </a:t>
            </a:r>
            <a:r>
              <a:rPr lang="it-IT" sz="1600" dirty="0" err="1"/>
              <a:t>algorithms</a:t>
            </a:r>
            <a:r>
              <a:rPr lang="it-IT" sz="1600" dirty="0"/>
              <a:t> </a:t>
            </a:r>
            <a:r>
              <a:rPr lang="it-IT" sz="1600" dirty="0" err="1"/>
              <a:t>that</a:t>
            </a:r>
            <a:r>
              <a:rPr lang="it-IT" sz="1600" dirty="0"/>
              <a:t> can </a:t>
            </a:r>
            <a:r>
              <a:rPr lang="it-IT" sz="1600" dirty="0" err="1"/>
              <a:t>actually</a:t>
            </a:r>
            <a:r>
              <a:rPr lang="it-IT" sz="1600" dirty="0"/>
              <a:t> be </a:t>
            </a:r>
            <a:r>
              <a:rPr lang="it-IT" sz="1600" dirty="0" err="1"/>
              <a:t>executed</a:t>
            </a:r>
            <a:r>
              <a:rPr lang="it-IT" sz="1600" dirty="0"/>
              <a:t> </a:t>
            </a:r>
            <a:r>
              <a:rPr lang="it-IT" sz="1600" dirty="0" err="1"/>
              <a:t>within</a:t>
            </a:r>
            <a:r>
              <a:rPr lang="it-IT" sz="1600" dirty="0"/>
              <a:t> the </a:t>
            </a:r>
            <a:r>
              <a:rPr lang="it-IT" sz="1600" dirty="0" err="1"/>
              <a:t>application</a:t>
            </a:r>
            <a:endParaRPr lang="it-IT" sz="1600" dirty="0"/>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a:t>Introduce a pipeline </a:t>
            </a:r>
            <a:r>
              <a:rPr lang="it-IT" sz="1600" dirty="0" err="1"/>
              <a:t>execution</a:t>
            </a:r>
            <a:r>
              <a:rPr lang="it-IT" sz="1600" dirty="0"/>
              <a:t> </a:t>
            </a:r>
            <a:r>
              <a:rPr lang="it-IT" sz="1600" dirty="0" err="1"/>
              <a:t>engine</a:t>
            </a:r>
            <a:endParaRPr lang="it-IT" sz="1600" dirty="0"/>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a:t>Management of </a:t>
            </a:r>
            <a:r>
              <a:rPr lang="it-IT" sz="1600" dirty="0" err="1"/>
              <a:t>real</a:t>
            </a:r>
            <a:r>
              <a:rPr lang="it-IT" sz="1600" dirty="0"/>
              <a:t> input and output data</a:t>
            </a:r>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err="1"/>
              <a:t>Improve</a:t>
            </a:r>
            <a:r>
              <a:rPr lang="it-IT" sz="1600" dirty="0"/>
              <a:t> the </a:t>
            </a:r>
            <a:r>
              <a:rPr lang="it-IT" sz="1600" dirty="0" err="1"/>
              <a:t>graphical</a:t>
            </a:r>
            <a:r>
              <a:rPr lang="it-IT" sz="1600" dirty="0"/>
              <a:t> </a:t>
            </a:r>
            <a:r>
              <a:rPr lang="it-IT" sz="1600" dirty="0" err="1"/>
              <a:t>representation</a:t>
            </a:r>
            <a:r>
              <a:rPr lang="it-IT" sz="1600" dirty="0"/>
              <a:t> of the </a:t>
            </a:r>
            <a:r>
              <a:rPr lang="it-IT" sz="1600" dirty="0" err="1"/>
              <a:t>context</a:t>
            </a:r>
            <a:r>
              <a:rPr lang="it-IT" sz="1600" dirty="0"/>
              <a:t> </a:t>
            </a:r>
            <a:r>
              <a:rPr lang="it-IT" sz="1600" dirty="0" err="1"/>
              <a:t>hierarchy</a:t>
            </a:r>
            <a:endParaRPr lang="it-IT" sz="1600" dirty="0"/>
          </a:p>
          <a:p>
            <a:pPr marL="285750" indent="-285750">
              <a:buFont typeface="Arial" panose="020B0604020202020204" pitchFamily="34" charset="0"/>
              <a:buChar char="•"/>
            </a:pPr>
            <a:endParaRPr lang="it-IT" sz="1600" dirty="0"/>
          </a:p>
          <a:p>
            <a:pPr marL="285750" indent="-285750">
              <a:buFont typeface="Arial" panose="020B0604020202020204" pitchFamily="34" charset="0"/>
              <a:buChar char="•"/>
            </a:pPr>
            <a:r>
              <a:rPr lang="it-IT" sz="1600" dirty="0" err="1"/>
              <a:t>Refactoring</a:t>
            </a:r>
            <a:r>
              <a:rPr lang="it-IT" sz="1600" dirty="0"/>
              <a:t> of the user </a:t>
            </a:r>
            <a:r>
              <a:rPr lang="it-IT" sz="1600" dirty="0" err="1"/>
              <a:t>interface</a:t>
            </a:r>
            <a:r>
              <a:rPr lang="it-IT" sz="1600" dirty="0"/>
              <a:t> code</a:t>
            </a:r>
          </a:p>
        </p:txBody>
      </p:sp>
    </p:spTree>
    <p:extLst>
      <p:ext uri="{BB962C8B-B14F-4D97-AF65-F5344CB8AC3E}">
        <p14:creationId xmlns:p14="http://schemas.microsoft.com/office/powerpoint/2010/main" val="3617573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BA464-6AF6-42BD-EADF-5EF42DE6B939}"/>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4F215B85-ADC0-D631-E958-538D0343C096}"/>
              </a:ext>
            </a:extLst>
          </p:cNvPr>
          <p:cNvPicPr>
            <a:picLocks noChangeAspect="1"/>
          </p:cNvPicPr>
          <p:nvPr/>
        </p:nvPicPr>
        <p:blipFill>
          <a:blip r:embed="rId2">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E169BEFD-0809-C5C4-48A6-B487FEACF6C1}"/>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AE40A319-27DF-707D-DFD3-9047093EAC57}"/>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1AD4F763-A36C-A5E0-2AFC-1820270BF4C6}"/>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A26445B4-4769-D95D-F916-D05E325B7DFA}"/>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D8DFB192-7E6A-924F-59CA-D660090E5B8E}"/>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FA2F7531-D869-47B4-05C0-E2ED8DF1A75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itolo 8">
            <a:extLst>
              <a:ext uri="{FF2B5EF4-FFF2-40B4-BE49-F238E27FC236}">
                <a16:creationId xmlns:a16="http://schemas.microsoft.com/office/drawing/2014/main" id="{1D1E0DA7-1A80-B5F2-BF04-63F3D21B1545}"/>
              </a:ext>
            </a:extLst>
          </p:cNvPr>
          <p:cNvSpPr>
            <a:spLocks noGrp="1"/>
          </p:cNvSpPr>
          <p:nvPr>
            <p:ph type="ctrTitle"/>
          </p:nvPr>
        </p:nvSpPr>
        <p:spPr>
          <a:xfrm>
            <a:off x="1422400" y="1545080"/>
            <a:ext cx="9347200" cy="2387600"/>
          </a:xfrm>
        </p:spPr>
        <p:txBody>
          <a:bodyPr/>
          <a:lstStyle/>
          <a:p>
            <a:r>
              <a:rPr lang="it-IT" b="1" i="1" dirty="0"/>
              <a:t>Thank </a:t>
            </a:r>
            <a:r>
              <a:rPr lang="it-IT" b="1" i="1" dirty="0" err="1"/>
              <a:t>you</a:t>
            </a:r>
            <a:r>
              <a:rPr lang="it-IT" b="1" i="1" dirty="0"/>
              <a:t> for </a:t>
            </a:r>
            <a:r>
              <a:rPr lang="it-IT" b="1" i="1" dirty="0" err="1"/>
              <a:t>your</a:t>
            </a:r>
            <a:r>
              <a:rPr lang="it-IT" b="1" i="1" dirty="0"/>
              <a:t> </a:t>
            </a:r>
            <a:r>
              <a:rPr lang="it-IT" b="1" i="1" dirty="0" err="1"/>
              <a:t>attention</a:t>
            </a:r>
            <a:endParaRPr lang="it-IT" b="1" i="1" dirty="0"/>
          </a:p>
        </p:txBody>
      </p:sp>
    </p:spTree>
    <p:extLst>
      <p:ext uri="{BB962C8B-B14F-4D97-AF65-F5344CB8AC3E}">
        <p14:creationId xmlns:p14="http://schemas.microsoft.com/office/powerpoint/2010/main" val="1342574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2033</Words>
  <Application>Microsoft Office PowerPoint</Application>
  <PresentationFormat>Widescreen</PresentationFormat>
  <Paragraphs>235</Paragraphs>
  <Slides>14</Slides>
  <Notes>12</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Aptos</vt:lpstr>
      <vt:lpstr>Aptos Display</vt:lpstr>
      <vt:lpstr>Arial</vt:lpstr>
      <vt:lpstr>Wingdings</vt:lpstr>
      <vt:lpstr>Tema di Office</vt:lpstr>
      <vt:lpstr>Pipeline Builder</vt:lpstr>
      <vt:lpstr>Introduction</vt:lpstr>
      <vt:lpstr>The Model - Entities</vt:lpstr>
      <vt:lpstr>The Model - Entities</vt:lpstr>
      <vt:lpstr>The Model</vt:lpstr>
      <vt:lpstr>Technologies</vt:lpstr>
      <vt:lpstr>Software Architecture - Functional Areas</vt:lpstr>
      <vt:lpstr>API</vt:lpstr>
      <vt:lpstr>Persistence Layer</vt:lpstr>
      <vt:lpstr>Models</vt:lpstr>
      <vt:lpstr>Schemas</vt:lpstr>
      <vt:lpstr>User Interface</vt:lpstr>
      <vt:lpstr>Future Developments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Samuele Mazziotti</dc:creator>
  <cp:lastModifiedBy>Samuele Mazziotti</cp:lastModifiedBy>
  <cp:revision>12</cp:revision>
  <dcterms:created xsi:type="dcterms:W3CDTF">2026-05-12T13:45:33Z</dcterms:created>
  <dcterms:modified xsi:type="dcterms:W3CDTF">2026-06-03T08:01:54Z</dcterms:modified>
</cp:coreProperties>
</file>
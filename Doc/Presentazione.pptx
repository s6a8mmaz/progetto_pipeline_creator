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72" r:id="rId4"/>
    <p:sldId id="276" r:id="rId5"/>
    <p:sldId id="273" r:id="rId6"/>
    <p:sldId id="259" r:id="rId7"/>
    <p:sldId id="260" r:id="rId8"/>
    <p:sldId id="261" r:id="rId9"/>
    <p:sldId id="264" r:id="rId10"/>
    <p:sldId id="271" r:id="rId11"/>
    <p:sldId id="265" r:id="rId12"/>
    <p:sldId id="266" r:id="rId13"/>
    <p:sldId id="270" r:id="rId14"/>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501B"/>
    <a:srgbClr val="FFFFFF"/>
    <a:srgbClr val="4FB5E3"/>
    <a:srgbClr val="215F9A"/>
    <a:srgbClr val="C00000"/>
    <a:srgbClr val="FFC000"/>
    <a:srgbClr val="000000"/>
    <a:srgbClr val="E9EDF4"/>
    <a:srgbClr val="FAF3E8"/>
    <a:srgbClr val="163E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81" autoAdjust="0"/>
    <p:restoredTop sz="68627" autoAdjust="0"/>
  </p:normalViewPr>
  <p:slideViewPr>
    <p:cSldViewPr snapToGrid="0">
      <p:cViewPr varScale="1">
        <p:scale>
          <a:sx n="76" d="100"/>
          <a:sy n="76" d="100"/>
        </p:scale>
        <p:origin x="196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6FC0B8-3B40-4AD2-845E-69FE739A8E95}" type="datetimeFigureOut">
              <a:rPr lang="it-IT" smtClean="0"/>
              <a:t>03/06/2026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7E117-EBF1-460D-8248-BB8B63D5F63B}" type="slidenum">
              <a:rPr lang="it-IT" smtClean="0"/>
              <a:t>‹N›</a:t>
            </a:fld>
            <a:endParaRPr lang="it-IT"/>
          </a:p>
        </p:txBody>
      </p:sp>
    </p:spTree>
    <p:extLst>
      <p:ext uri="{BB962C8B-B14F-4D97-AF65-F5344CB8AC3E}">
        <p14:creationId xmlns:p14="http://schemas.microsoft.com/office/powerpoint/2010/main" val="2284915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sz="1200" dirty="0"/>
              <a:t>Questo progetto ha avuto il principale obbiettivo di progettare e sviluppare un sistema software finalizzato a supportare la costruzione guidata di pipeline di processamento dei dati.  </a:t>
            </a:r>
          </a:p>
          <a:p>
            <a:r>
              <a:rPr lang="it-IT" sz="1200" dirty="0"/>
              <a:t>In particolare, i requisiti che si sono ricercati sono:</a:t>
            </a:r>
          </a:p>
          <a:p>
            <a:r>
              <a:rPr lang="it-IT" sz="1200" dirty="0"/>
              <a:t>- Inizialmente, la definizione di un modello astratto </a:t>
            </a:r>
          </a:p>
          <a:p>
            <a:r>
              <a:rPr lang="it-IT" sz="1200" dirty="0"/>
              <a:t>- Poi l’implementazione di un’architettura software in grado di:</a:t>
            </a:r>
          </a:p>
          <a:p>
            <a:r>
              <a:rPr lang="it-IT" sz="1200" dirty="0"/>
              <a:t>	- garantire la coerenza strutturale delle pipeline;</a:t>
            </a:r>
          </a:p>
          <a:p>
            <a:r>
              <a:rPr lang="it-IT" sz="1200" dirty="0"/>
              <a:t>	- guidare l’utente durante il processo di composizione; </a:t>
            </a:r>
          </a:p>
          <a:p>
            <a:r>
              <a:rPr lang="it-IT" sz="1200" dirty="0"/>
              <a:t>	- favorire il riutilizzo degli già elementi. </a:t>
            </a:r>
          </a:p>
        </p:txBody>
      </p:sp>
      <p:sp>
        <p:nvSpPr>
          <p:cNvPr id="4" name="Segnaposto numero diapositiva 3"/>
          <p:cNvSpPr>
            <a:spLocks noGrp="1"/>
          </p:cNvSpPr>
          <p:nvPr>
            <p:ph type="sldNum" sz="quarter" idx="5"/>
          </p:nvPr>
        </p:nvSpPr>
        <p:spPr/>
        <p:txBody>
          <a:bodyPr/>
          <a:lstStyle/>
          <a:p>
            <a:fld id="{7417E117-EBF1-460D-8248-BB8B63D5F63B}" type="slidenum">
              <a:rPr lang="it-IT" smtClean="0"/>
              <a:t>2</a:t>
            </a:fld>
            <a:endParaRPr lang="it-IT"/>
          </a:p>
        </p:txBody>
      </p:sp>
    </p:spTree>
    <p:extLst>
      <p:ext uri="{BB962C8B-B14F-4D97-AF65-F5344CB8AC3E}">
        <p14:creationId xmlns:p14="http://schemas.microsoft.com/office/powerpoint/2010/main" val="163579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218FC-1927-8551-7053-F393C81E74E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4829AEE-D3D4-44AE-782D-7469328511BF}"/>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8742F8D1-42BB-FABC-D6A4-BC7FAB0766E5}"/>
              </a:ext>
            </a:extLst>
          </p:cNvPr>
          <p:cNvSpPr>
            <a:spLocks noGrp="1"/>
          </p:cNvSpPr>
          <p:nvPr>
            <p:ph type="body" idx="1"/>
          </p:nvPr>
        </p:nvSpPr>
        <p:spPr/>
        <p:txBody>
          <a:bodyPr/>
          <a:lstStyle/>
          <a:p>
            <a:r>
              <a:rPr lang="it-IT" sz="1200" dirty="0"/>
              <a:t>Per quello che riguarda il modello, il sistema introduce 4 entità fondamentali: </a:t>
            </a:r>
          </a:p>
          <a:p>
            <a:r>
              <a:rPr lang="it-IT" sz="1200" dirty="0"/>
              <a:t>• </a:t>
            </a:r>
            <a:r>
              <a:rPr lang="it-IT" sz="1200" dirty="0" err="1"/>
              <a:t>Context</a:t>
            </a:r>
            <a:r>
              <a:rPr lang="it-IT" sz="1200" dirty="0"/>
              <a:t>, che rappresenta l’ambiente logico di organizzazione e riutilizzo degli elementi (il contesto). </a:t>
            </a:r>
          </a:p>
          <a:p>
            <a:r>
              <a:rPr lang="it-IT" sz="1200" dirty="0"/>
              <a:t>• ObjectType, che rappresenta i tipi di dato. </a:t>
            </a:r>
          </a:p>
          <a:p>
            <a:r>
              <a:rPr lang="it-IT" sz="1200" dirty="0"/>
              <a:t>• </a:t>
            </a:r>
            <a:r>
              <a:rPr lang="it-IT" sz="1200" dirty="0" err="1"/>
              <a:t>Algorithm</a:t>
            </a:r>
            <a:r>
              <a:rPr lang="it-IT" sz="1200" dirty="0"/>
              <a:t>, che rappresenta le trasformazioni tra tipi di dato. </a:t>
            </a:r>
          </a:p>
          <a:p>
            <a:r>
              <a:rPr lang="it-IT" sz="1200" dirty="0"/>
              <a:t>• Pipeline, che rappresenta una sequenza ordinata di trasformazioni. </a:t>
            </a:r>
          </a:p>
          <a:p>
            <a:endParaRPr lang="it-IT" sz="1200" dirty="0"/>
          </a:p>
          <a:p>
            <a:r>
              <a:rPr lang="it-IT" sz="1200" dirty="0"/>
              <a:t>Tra queste entità, il concetto di contesto riveste un ruolo centrale dell’architettura del sistema, perchè i contesti sono organizzati in forma gerarchica e consentono di definire ambienti logici distinti all’interno dei quali vengono gestite le altre entità. </a:t>
            </a:r>
          </a:p>
        </p:txBody>
      </p:sp>
      <p:sp>
        <p:nvSpPr>
          <p:cNvPr id="4" name="Segnaposto numero diapositiva 3">
            <a:extLst>
              <a:ext uri="{FF2B5EF4-FFF2-40B4-BE49-F238E27FC236}">
                <a16:creationId xmlns:a16="http://schemas.microsoft.com/office/drawing/2014/main" id="{22BC4F35-D1AC-4344-6FD5-F86980BF12CA}"/>
              </a:ext>
            </a:extLst>
          </p:cNvPr>
          <p:cNvSpPr>
            <a:spLocks noGrp="1"/>
          </p:cNvSpPr>
          <p:nvPr>
            <p:ph type="sldNum" sz="quarter" idx="5"/>
          </p:nvPr>
        </p:nvSpPr>
        <p:spPr/>
        <p:txBody>
          <a:bodyPr/>
          <a:lstStyle/>
          <a:p>
            <a:fld id="{7417E117-EBF1-460D-8248-BB8B63D5F63B}" type="slidenum">
              <a:rPr lang="it-IT" smtClean="0"/>
              <a:t>3</a:t>
            </a:fld>
            <a:endParaRPr lang="it-IT"/>
          </a:p>
        </p:txBody>
      </p:sp>
    </p:spTree>
    <p:extLst>
      <p:ext uri="{BB962C8B-B14F-4D97-AF65-F5344CB8AC3E}">
        <p14:creationId xmlns:p14="http://schemas.microsoft.com/office/powerpoint/2010/main" val="23969005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E649C-0326-FEF1-430E-360C38EAFCB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ADE4BD6-BE4A-BEE2-474A-410CE7EE170E}"/>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D88C1D3F-6BFB-50DD-5B81-D95DE3D5C41E}"/>
              </a:ext>
            </a:extLst>
          </p:cNvPr>
          <p:cNvSpPr>
            <a:spLocks noGrp="1"/>
          </p:cNvSpPr>
          <p:nvPr>
            <p:ph type="body" idx="1"/>
          </p:nvPr>
        </p:nvSpPr>
        <p:spPr/>
        <p:txBody>
          <a:bodyPr/>
          <a:lstStyle/>
          <a:p>
            <a:r>
              <a:rPr lang="it-IT" sz="1200" dirty="0"/>
              <a:t>Per quello che riguarda il modello, il sistema introduce 4 entità fondamentali: </a:t>
            </a:r>
          </a:p>
          <a:p>
            <a:r>
              <a:rPr lang="it-IT" sz="1200" dirty="0"/>
              <a:t>• </a:t>
            </a:r>
            <a:r>
              <a:rPr lang="it-IT" sz="1200" dirty="0" err="1"/>
              <a:t>Context</a:t>
            </a:r>
            <a:r>
              <a:rPr lang="it-IT" sz="1200" dirty="0"/>
              <a:t>, che rappresenta l’ambiente logico di organizzazione e riutilizzo degli elementi (il contesto). </a:t>
            </a:r>
          </a:p>
          <a:p>
            <a:r>
              <a:rPr lang="it-IT" sz="1200" dirty="0"/>
              <a:t>• ObjectType, che rappresenta i tipi di dato. </a:t>
            </a:r>
          </a:p>
          <a:p>
            <a:r>
              <a:rPr lang="it-IT" sz="1200" dirty="0"/>
              <a:t>• </a:t>
            </a:r>
            <a:r>
              <a:rPr lang="it-IT" sz="1200" dirty="0" err="1"/>
              <a:t>Algorithm</a:t>
            </a:r>
            <a:r>
              <a:rPr lang="it-IT" sz="1200" dirty="0"/>
              <a:t>, che rappresenta le trasformazioni tra tipi di dato. </a:t>
            </a:r>
          </a:p>
          <a:p>
            <a:r>
              <a:rPr lang="it-IT" sz="1200" dirty="0"/>
              <a:t>• Pipeline, che rappresenta una sequenza ordinata di trasformazioni. </a:t>
            </a:r>
          </a:p>
          <a:p>
            <a:endParaRPr lang="it-IT" sz="1200" dirty="0"/>
          </a:p>
          <a:p>
            <a:r>
              <a:rPr lang="it-IT" sz="1200" dirty="0"/>
              <a:t>Tra queste entità, il concetto di contesto riveste un ruolo centrale dell’architettura del sistema, perchè i contesti sono organizzati in forma gerarchica e consentono di definire ambienti logici distinti all’interno dei quali vengono gestite le altre entità. </a:t>
            </a:r>
          </a:p>
        </p:txBody>
      </p:sp>
      <p:sp>
        <p:nvSpPr>
          <p:cNvPr id="4" name="Segnaposto numero diapositiva 3">
            <a:extLst>
              <a:ext uri="{FF2B5EF4-FFF2-40B4-BE49-F238E27FC236}">
                <a16:creationId xmlns:a16="http://schemas.microsoft.com/office/drawing/2014/main" id="{E1CCDFB0-FA77-C98D-964F-E3B9BE0BA9AC}"/>
              </a:ext>
            </a:extLst>
          </p:cNvPr>
          <p:cNvSpPr>
            <a:spLocks noGrp="1"/>
          </p:cNvSpPr>
          <p:nvPr>
            <p:ph type="sldNum" sz="quarter" idx="5"/>
          </p:nvPr>
        </p:nvSpPr>
        <p:spPr/>
        <p:txBody>
          <a:bodyPr/>
          <a:lstStyle/>
          <a:p>
            <a:fld id="{7417E117-EBF1-460D-8248-BB8B63D5F63B}" type="slidenum">
              <a:rPr lang="it-IT" smtClean="0"/>
              <a:t>4</a:t>
            </a:fld>
            <a:endParaRPr lang="it-IT"/>
          </a:p>
        </p:txBody>
      </p:sp>
    </p:spTree>
    <p:extLst>
      <p:ext uri="{BB962C8B-B14F-4D97-AF65-F5344CB8AC3E}">
        <p14:creationId xmlns:p14="http://schemas.microsoft.com/office/powerpoint/2010/main" val="21338598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B02B3-18BC-7F34-E884-0CDA56148FF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F68D2D9-389A-97F0-4F54-C0B66F26C050}"/>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54F70A86-5B9F-A8CC-9CE1-89C646ABB3BC}"/>
              </a:ext>
            </a:extLst>
          </p:cNvPr>
          <p:cNvSpPr>
            <a:spLocks noGrp="1"/>
          </p:cNvSpPr>
          <p:nvPr>
            <p:ph type="body" idx="1"/>
          </p:nvPr>
        </p:nvSpPr>
        <p:spPr/>
        <p:txBody>
          <a:bodyPr/>
          <a:lstStyle/>
          <a:p>
            <a:r>
              <a:rPr lang="it-IT" sz="1200" dirty="0"/>
              <a:t>Dal punto di vista concettuale, il modello adottato costruisce dei grafi orientati, in cui i nodi corrispondono ai tipi di dato (ObjectType), gli archi alle trasformazioni (</a:t>
            </a:r>
            <a:r>
              <a:rPr lang="it-IT" sz="1200" dirty="0" err="1"/>
              <a:t>Algorithm</a:t>
            </a:r>
            <a:r>
              <a:rPr lang="it-IT" sz="1200" dirty="0"/>
              <a:t>) e le pipeline a un percorso valido all’interno di tale grafo. </a:t>
            </a:r>
          </a:p>
          <a:p>
            <a:r>
              <a:rPr lang="it-IT" sz="1200" dirty="0"/>
              <a:t>Su questo modello vengono definiti meccanismi di validazione che consentono di garantire la compatibilità tra input e output dei diversi step, evitando la costruzione di pipeline non corrette.</a:t>
            </a:r>
          </a:p>
          <a:p>
            <a:endParaRPr lang="it-IT" dirty="0"/>
          </a:p>
        </p:txBody>
      </p:sp>
      <p:sp>
        <p:nvSpPr>
          <p:cNvPr id="4" name="Segnaposto numero diapositiva 3">
            <a:extLst>
              <a:ext uri="{FF2B5EF4-FFF2-40B4-BE49-F238E27FC236}">
                <a16:creationId xmlns:a16="http://schemas.microsoft.com/office/drawing/2014/main" id="{CE6C159C-5AC9-3E21-8EA8-7467778087CA}"/>
              </a:ext>
            </a:extLst>
          </p:cNvPr>
          <p:cNvSpPr>
            <a:spLocks noGrp="1"/>
          </p:cNvSpPr>
          <p:nvPr>
            <p:ph type="sldNum" sz="quarter" idx="5"/>
          </p:nvPr>
        </p:nvSpPr>
        <p:spPr/>
        <p:txBody>
          <a:bodyPr/>
          <a:lstStyle/>
          <a:p>
            <a:fld id="{7417E117-EBF1-460D-8248-BB8B63D5F63B}" type="slidenum">
              <a:rPr lang="it-IT" smtClean="0"/>
              <a:t>5</a:t>
            </a:fld>
            <a:endParaRPr lang="it-IT"/>
          </a:p>
        </p:txBody>
      </p:sp>
    </p:spTree>
    <p:extLst>
      <p:ext uri="{BB962C8B-B14F-4D97-AF65-F5344CB8AC3E}">
        <p14:creationId xmlns:p14="http://schemas.microsoft.com/office/powerpoint/2010/main" val="24922981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b="0" dirty="0"/>
              <a:t>Dal punto di vista delle tecnologie, il sistema è stato sviluppato utilizzando tecnologie Python: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it-IT" b="0" dirty="0" err="1"/>
              <a:t>Streamlit</a:t>
            </a:r>
            <a:r>
              <a:rPr lang="it-IT" b="0" dirty="0"/>
              <a:t> </a:t>
            </a:r>
            <a:r>
              <a:rPr lang="it-IT" dirty="0"/>
              <a:t>per lo sviluppo dell’interfaccia utente.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it-IT" b="0" dirty="0" err="1"/>
              <a:t>FastAPI</a:t>
            </a:r>
            <a:r>
              <a:rPr lang="it-IT" b="0" dirty="0"/>
              <a:t> per la realizzazione del </a:t>
            </a:r>
            <a:r>
              <a:rPr lang="it-IT" b="0" dirty="0" err="1"/>
              <a:t>backend</a:t>
            </a:r>
            <a:r>
              <a:rPr lang="it-IT" b="0" dirty="0"/>
              <a:t> e l’esposizione delle API REST </a:t>
            </a:r>
            <a:r>
              <a:rPr lang="it-IT" b="0" dirty="0">
                <a:sym typeface="Wingdings" panose="05000000000000000000" pitchFamily="2" charset="2"/>
              </a:rPr>
              <a:t> per r</a:t>
            </a:r>
            <a:r>
              <a:rPr lang="it-IT" b="0" dirty="0"/>
              <a:t>endere le funzionalità del sistema accessibili in modo strutturato e indipendente dall’interfaccia utente.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it-IT" b="0" dirty="0" err="1"/>
              <a:t>SQLAlchemy</a:t>
            </a:r>
            <a:r>
              <a:rPr lang="it-IT" b="0" dirty="0"/>
              <a:t>, insieme a </a:t>
            </a:r>
            <a:r>
              <a:rPr lang="it-IT" b="0" dirty="0" err="1"/>
              <a:t>SQLite</a:t>
            </a:r>
            <a:r>
              <a:rPr lang="it-IT" b="0" dirty="0"/>
              <a:t>, per la gestione della persistenza </a:t>
            </a:r>
            <a:r>
              <a:rPr lang="it-IT" b="0" dirty="0">
                <a:sym typeface="Wingdings" panose="05000000000000000000" pitchFamily="2" charset="2"/>
              </a:rPr>
              <a:t></a:t>
            </a:r>
            <a:r>
              <a:rPr lang="it-IT" b="0" dirty="0"/>
              <a:t> </a:t>
            </a:r>
            <a:r>
              <a:rPr lang="it-IT" b="0" dirty="0" err="1"/>
              <a:t>SQLAlchemy</a:t>
            </a:r>
            <a:r>
              <a:rPr lang="it-IT" b="0" dirty="0"/>
              <a:t> consente di lavorare con il database tramite modelli ORM (</a:t>
            </a:r>
            <a:r>
              <a:rPr lang="it-IT" dirty="0"/>
              <a:t>Object-</a:t>
            </a:r>
            <a:r>
              <a:rPr lang="it-IT" dirty="0" err="1"/>
              <a:t>Relational</a:t>
            </a:r>
            <a:r>
              <a:rPr lang="it-IT" dirty="0"/>
              <a:t> Mapper</a:t>
            </a:r>
            <a:r>
              <a:rPr lang="it-IT" b="0" dirty="0"/>
              <a:t>), separando la logica applicativa dalla struttura delle tabelle, mentre </a:t>
            </a:r>
            <a:r>
              <a:rPr lang="it-IT" b="0" dirty="0" err="1"/>
              <a:t>SQLite</a:t>
            </a:r>
            <a:r>
              <a:rPr lang="it-IT" b="0" dirty="0"/>
              <a:t> è stato scelto per la sua semplicità di configurazione.</a:t>
            </a:r>
          </a:p>
        </p:txBody>
      </p:sp>
      <p:sp>
        <p:nvSpPr>
          <p:cNvPr id="4" name="Segnaposto numero diapositiva 3"/>
          <p:cNvSpPr>
            <a:spLocks noGrp="1"/>
          </p:cNvSpPr>
          <p:nvPr>
            <p:ph type="sldNum" sz="quarter" idx="5"/>
          </p:nvPr>
        </p:nvSpPr>
        <p:spPr/>
        <p:txBody>
          <a:bodyPr/>
          <a:lstStyle/>
          <a:p>
            <a:fld id="{7417E117-EBF1-460D-8248-BB8B63D5F63B}" type="slidenum">
              <a:rPr lang="it-IT" smtClean="0"/>
              <a:t>6</a:t>
            </a:fld>
            <a:endParaRPr lang="it-IT"/>
          </a:p>
        </p:txBody>
      </p:sp>
    </p:spTree>
    <p:extLst>
      <p:ext uri="{BB962C8B-B14F-4D97-AF65-F5344CB8AC3E}">
        <p14:creationId xmlns:p14="http://schemas.microsoft.com/office/powerpoint/2010/main" val="33161441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dirty="0"/>
              <a:t>Entrando più nella struttura dell’architettura software invece, le tecnologie utilizzate hanno permesso di realizzare un’architettura a livelli, separando presentazione, logica applicativa e persistenza, con vantaggi in termini di modularità, manutenibilità ed estendibilità.</a:t>
            </a:r>
          </a:p>
        </p:txBody>
      </p:sp>
      <p:sp>
        <p:nvSpPr>
          <p:cNvPr id="4" name="Segnaposto numero diapositiva 3"/>
          <p:cNvSpPr>
            <a:spLocks noGrp="1"/>
          </p:cNvSpPr>
          <p:nvPr>
            <p:ph type="sldNum" sz="quarter" idx="5"/>
          </p:nvPr>
        </p:nvSpPr>
        <p:spPr/>
        <p:txBody>
          <a:bodyPr/>
          <a:lstStyle/>
          <a:p>
            <a:fld id="{7417E117-EBF1-460D-8248-BB8B63D5F63B}" type="slidenum">
              <a:rPr lang="it-IT" smtClean="0"/>
              <a:t>7</a:t>
            </a:fld>
            <a:endParaRPr lang="it-IT"/>
          </a:p>
        </p:txBody>
      </p:sp>
    </p:spTree>
    <p:extLst>
      <p:ext uri="{BB962C8B-B14F-4D97-AF65-F5344CB8AC3E}">
        <p14:creationId xmlns:p14="http://schemas.microsoft.com/office/powerpoint/2010/main" val="27704855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Il livello API rappresenta il punto di accesso principale al sistema, che coordina l’interfaccia utente con la logica applicativa e il database, garantendo coerenza nelle operazioni del sistema.</a:t>
            </a:r>
          </a:p>
          <a:p>
            <a:r>
              <a:rPr lang="it-IT" dirty="0"/>
              <a:t>Infatti, riceve le richieste provenienti dall’interfaccia utente, controllare che i dati inseriti siano corretti e poi indirizzare ogni operazione verso la parte del sistema più adatta.</a:t>
            </a:r>
          </a:p>
          <a:p>
            <a:r>
              <a:rPr lang="it-IT" dirty="0"/>
              <a:t>Le API sono organizzate in moduli separati, ognuno dedicato a una specifica area: </a:t>
            </a:r>
          </a:p>
          <a:p>
            <a:r>
              <a:rPr lang="it-IT" dirty="0"/>
              <a:t>- GestoreAPI.py</a:t>
            </a:r>
          </a:p>
          <a:p>
            <a:r>
              <a:rPr lang="it-IT" dirty="0"/>
              <a:t>- ObjectTypeAPI.py</a:t>
            </a:r>
          </a:p>
          <a:p>
            <a:r>
              <a:rPr lang="it-IT" dirty="0"/>
              <a:t>- AlgorithmsAPI.py</a:t>
            </a:r>
          </a:p>
          <a:p>
            <a:r>
              <a:rPr lang="it-IT" dirty="0"/>
              <a:t>- ContextAPI.py</a:t>
            </a:r>
          </a:p>
          <a:p>
            <a:r>
              <a:rPr lang="it-IT" dirty="0"/>
              <a:t>- PipelineAPI.py</a:t>
            </a:r>
          </a:p>
          <a:p>
            <a:r>
              <a:rPr lang="it-IT" dirty="0"/>
              <a:t>Particolare importanza hanno le API inerenti alle pipeline, poiché coordinano la costruzione guidata delle pipeline. A differenza degli altri moduli API, che gestiscono principalmente operazioni CRUD, questo componente mantiene lo stato temporaneo della composizione, interroga il catalogo degli algoritmi disponibili e restituisce all’interfaccia utente solo le trasformazioni compatibili con lo stato corrente della pipeline.</a:t>
            </a:r>
          </a:p>
          <a:p>
            <a:endParaRPr lang="it-IT" dirty="0"/>
          </a:p>
          <a:p>
            <a:r>
              <a:rPr lang="it-IT" dirty="0"/>
              <a:t>Il catalogo degli algoritmi è una componente di supporto alla costruzione delle pipeline, che organizza gli algoritmi disponibili in modo efficiente, così da proporre all’utente quali trasformazioni possono essere applicate a un determinato tipo di dato.</a:t>
            </a:r>
          </a:p>
          <a:p>
            <a:r>
              <a:rPr lang="it-IT" dirty="0"/>
              <a:t>Questo componente viene costruito a partire dai dati salvati nel database, tiene conto del contesto selezionato ed è usato a runtime (mentre sei costruisce la pipeline), garantendo che la costruzione sia guidata e evitando scelte non valide.</a:t>
            </a:r>
          </a:p>
        </p:txBody>
      </p:sp>
      <p:sp>
        <p:nvSpPr>
          <p:cNvPr id="4" name="Segnaposto numero diapositiva 3"/>
          <p:cNvSpPr>
            <a:spLocks noGrp="1"/>
          </p:cNvSpPr>
          <p:nvPr>
            <p:ph type="sldNum" sz="quarter" idx="5"/>
          </p:nvPr>
        </p:nvSpPr>
        <p:spPr/>
        <p:txBody>
          <a:bodyPr/>
          <a:lstStyle/>
          <a:p>
            <a:fld id="{7417E117-EBF1-460D-8248-BB8B63D5F63B}" type="slidenum">
              <a:rPr lang="it-IT" smtClean="0"/>
              <a:t>8</a:t>
            </a:fld>
            <a:endParaRPr lang="it-IT"/>
          </a:p>
        </p:txBody>
      </p:sp>
    </p:spTree>
    <p:extLst>
      <p:ext uri="{BB962C8B-B14F-4D97-AF65-F5344CB8AC3E}">
        <p14:creationId xmlns:p14="http://schemas.microsoft.com/office/powerpoint/2010/main" val="28994862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dirty="0"/>
              <a:t>Il livello di persistenza, gestisce tutta la parte di salvataggio, recupero e organizzazione dei dati del sistema, separando la logica applicativa dalla gestione fisica dei dati.</a:t>
            </a:r>
            <a:br>
              <a:rPr lang="it-IT" dirty="0"/>
            </a:br>
            <a:r>
              <a:rPr lang="it-IT" dirty="0"/>
              <a:t>In questa sezione vengono definiti sia la configurazione del database sia le strutture che rappresentano le entità salvate, quindi contesti, tipi di dato, algoritmi, pipeline e step.</a:t>
            </a:r>
          </a:p>
          <a:p>
            <a:pPr marL="171450" indent="-171450">
              <a:buFont typeface="Arial" panose="020B0604020202020204" pitchFamily="34" charset="0"/>
              <a:buChar char="•"/>
            </a:pPr>
            <a:r>
              <a:rPr lang="it-IT" dirty="0"/>
              <a:t>La configurazione del database (</a:t>
            </a:r>
            <a:r>
              <a:rPr lang="it-IT" b="1" dirty="0"/>
              <a:t>ConfigDB.py</a:t>
            </a:r>
            <a:r>
              <a:rPr lang="it-IT" dirty="0"/>
              <a:t>) stabilisce la connessione a </a:t>
            </a:r>
            <a:r>
              <a:rPr lang="it-IT" dirty="0" err="1"/>
              <a:t>SQLite</a:t>
            </a:r>
            <a:r>
              <a:rPr lang="it-IT" dirty="0"/>
              <a:t> e fornisce le sessioni usate dalle API per accedere ai dati.</a:t>
            </a:r>
          </a:p>
          <a:p>
            <a:pPr marL="171450" indent="-171450">
              <a:buFont typeface="Arial" panose="020B0604020202020204" pitchFamily="34" charset="0"/>
              <a:buChar char="•"/>
            </a:pPr>
            <a:r>
              <a:rPr lang="it-IT" dirty="0"/>
              <a:t>I modelli ORM (</a:t>
            </a:r>
            <a:r>
              <a:rPr lang="it-IT" b="1" dirty="0"/>
              <a:t>EntitaSQL_db.py</a:t>
            </a:r>
            <a:r>
              <a:rPr lang="it-IT" dirty="0"/>
              <a:t>) descrivono le tabelle del database e le relazioni tra le entità. Qui sono presenti anche vincoli utili per mantenere i dati coerenti, ad esempio evitando duplicati o valori non validi.</a:t>
            </a:r>
          </a:p>
          <a:p>
            <a:pPr marL="171450" indent="-171450">
              <a:buFont typeface="Arial" panose="020B0604020202020204" pitchFamily="34" charset="0"/>
              <a:buChar char="•"/>
            </a:pPr>
            <a:r>
              <a:rPr lang="it-IT" dirty="0"/>
              <a:t>I moduli operativi (</a:t>
            </a:r>
            <a:r>
              <a:rPr lang="it-IT" b="1" dirty="0"/>
              <a:t>OpDB_Context.py</a:t>
            </a:r>
            <a:r>
              <a:rPr lang="it-IT" dirty="0"/>
              <a:t>, </a:t>
            </a:r>
            <a:r>
              <a:rPr lang="it-IT" b="1" dirty="0"/>
              <a:t>OpDB_ObjectType.py</a:t>
            </a:r>
            <a:r>
              <a:rPr lang="it-IT" dirty="0"/>
              <a:t>, </a:t>
            </a:r>
            <a:r>
              <a:rPr lang="it-IT" b="1" dirty="0"/>
              <a:t>OpDB_Algorithm.py</a:t>
            </a:r>
            <a:r>
              <a:rPr lang="it-IT" dirty="0"/>
              <a:t>, </a:t>
            </a:r>
            <a:r>
              <a:rPr lang="it-IT" b="1" dirty="0"/>
              <a:t>OpDB_Pipeline.py</a:t>
            </a:r>
            <a:r>
              <a:rPr lang="it-IT" dirty="0"/>
              <a:t>) raccolgono le funzioni che eseguono le principali operazioni sui dati: </a:t>
            </a:r>
          </a:p>
          <a:p>
            <a:pPr marL="171450" indent="-171450">
              <a:buFont typeface="Arial" panose="020B0604020202020204" pitchFamily="34" charset="0"/>
              <a:buChar char="•"/>
            </a:pPr>
            <a:r>
              <a:rPr lang="it-IT" dirty="0"/>
              <a:t>_ creazione, lettura, cancellazione di elementi</a:t>
            </a:r>
          </a:p>
          <a:p>
            <a:pPr marL="171450" indent="-171450">
              <a:buFont typeface="Arial" panose="020B0604020202020204" pitchFamily="34" charset="0"/>
              <a:buChar char="•"/>
            </a:pPr>
            <a:r>
              <a:rPr lang="it-IT" dirty="0"/>
              <a:t>_ recupero del contesto</a:t>
            </a:r>
          </a:p>
          <a:p>
            <a:pPr marL="171450" indent="-171450">
              <a:buFont typeface="Arial" panose="020B0604020202020204" pitchFamily="34" charset="0"/>
              <a:buChar char="•"/>
            </a:pPr>
            <a:r>
              <a:rPr lang="it-IT" dirty="0"/>
              <a:t>_ ricostruzione delle pipeline.</a:t>
            </a:r>
          </a:p>
        </p:txBody>
      </p:sp>
      <p:sp>
        <p:nvSpPr>
          <p:cNvPr id="4" name="Segnaposto numero diapositiva 3"/>
          <p:cNvSpPr>
            <a:spLocks noGrp="1"/>
          </p:cNvSpPr>
          <p:nvPr>
            <p:ph type="sldNum" sz="quarter" idx="5"/>
          </p:nvPr>
        </p:nvSpPr>
        <p:spPr/>
        <p:txBody>
          <a:bodyPr/>
          <a:lstStyle/>
          <a:p>
            <a:fld id="{7417E117-EBF1-460D-8248-BB8B63D5F63B}" type="slidenum">
              <a:rPr lang="it-IT" smtClean="0"/>
              <a:t>9</a:t>
            </a:fld>
            <a:endParaRPr lang="it-IT"/>
          </a:p>
        </p:txBody>
      </p:sp>
    </p:spTree>
    <p:extLst>
      <p:ext uri="{BB962C8B-B14F-4D97-AF65-F5344CB8AC3E}">
        <p14:creationId xmlns:p14="http://schemas.microsoft.com/office/powerpoint/2010/main" val="40451025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dirty="0"/>
              <a:t>La sezione dei modelli runtime descrive le classi usate dalla logica applicativa durante la costruzione delle pipeline. Questi modelli rappresentano le entità principali del sistema in memoria, separandole dalla loro rappresentazione nel database.</a:t>
            </a:r>
          </a:p>
          <a:p>
            <a:r>
              <a:rPr lang="it-IT" dirty="0"/>
              <a:t>Il tipo di dato (</a:t>
            </a:r>
            <a:r>
              <a:rPr lang="it-IT" b="1" dirty="0"/>
              <a:t>ObjectType.py</a:t>
            </a:r>
            <a:r>
              <a:rPr lang="it-IT" dirty="0"/>
              <a:t>) rappresenta un nodo della pipeline, cioè un possibile formato o stato del dato.</a:t>
            </a:r>
          </a:p>
          <a:p>
            <a:r>
              <a:rPr lang="it-IT" dirty="0"/>
              <a:t>L’algoritmo (</a:t>
            </a:r>
            <a:r>
              <a:rPr lang="it-IT" b="1" dirty="0"/>
              <a:t>Algorithm.py</a:t>
            </a:r>
            <a:r>
              <a:rPr lang="it-IT" dirty="0"/>
              <a:t>) rappresenta una trasformazione tra due tipi di dato, quindi il collegamento tra un input e un output.</a:t>
            </a:r>
          </a:p>
          <a:p>
            <a:r>
              <a:rPr lang="it-IT" dirty="0"/>
              <a:t>La pipeline (</a:t>
            </a:r>
            <a:r>
              <a:rPr lang="it-IT" b="1" dirty="0"/>
              <a:t>Pipeline.py</a:t>
            </a:r>
            <a:r>
              <a:rPr lang="it-IT" dirty="0"/>
              <a:t>) rappresenta una sequenza ordinata di trasformazioni. Si occupa di aggiungere nuovi step, controllare la compatibilità tra gli elementi e calcolare informazioni utili, come il tipo corrente e il costo totale.</a:t>
            </a:r>
          </a:p>
        </p:txBody>
      </p:sp>
      <p:sp>
        <p:nvSpPr>
          <p:cNvPr id="4" name="Segnaposto numero diapositiva 3"/>
          <p:cNvSpPr>
            <a:spLocks noGrp="1"/>
          </p:cNvSpPr>
          <p:nvPr>
            <p:ph type="sldNum" sz="quarter" idx="5"/>
          </p:nvPr>
        </p:nvSpPr>
        <p:spPr/>
        <p:txBody>
          <a:bodyPr/>
          <a:lstStyle/>
          <a:p>
            <a:fld id="{7417E117-EBF1-460D-8248-BB8B63D5F63B}" type="slidenum">
              <a:rPr lang="it-IT" smtClean="0"/>
              <a:t>10</a:t>
            </a:fld>
            <a:endParaRPr lang="it-IT"/>
          </a:p>
        </p:txBody>
      </p:sp>
    </p:spTree>
    <p:extLst>
      <p:ext uri="{BB962C8B-B14F-4D97-AF65-F5344CB8AC3E}">
        <p14:creationId xmlns:p14="http://schemas.microsoft.com/office/powerpoint/2010/main" val="6477264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dirty="0"/>
              <a:t>La sezione degli schemi descrive le strutture usate per controllare i dati scambiati tra interfaccia utente e API. Il loro obiettivo è garantire che le richieste ricevute dal sistema siano corrette e che le risposte abbiano una forma chiara e coerente.</a:t>
            </a:r>
          </a:p>
          <a:p>
            <a:r>
              <a:rPr lang="it-IT" dirty="0"/>
              <a:t>Gli schemi degli ObjectType (</a:t>
            </a:r>
            <a:r>
              <a:rPr lang="it-IT" b="1" dirty="0"/>
              <a:t>ObjectType_schema.py</a:t>
            </a:r>
            <a:r>
              <a:rPr lang="it-IT" dirty="0"/>
              <a:t>) definiscono i dati necessari per creare e restituire un tipo di dato.</a:t>
            </a:r>
          </a:p>
          <a:p>
            <a:r>
              <a:rPr lang="it-IT" dirty="0"/>
              <a:t>Gli schemi degli </a:t>
            </a:r>
            <a:r>
              <a:rPr lang="it-IT" dirty="0" err="1"/>
              <a:t>Algorithm</a:t>
            </a:r>
            <a:r>
              <a:rPr lang="it-IT" dirty="0"/>
              <a:t> (</a:t>
            </a:r>
            <a:r>
              <a:rPr lang="it-IT" b="1" dirty="0"/>
              <a:t>Algorithm_schema.py</a:t>
            </a:r>
            <a:r>
              <a:rPr lang="it-IT" dirty="0"/>
              <a:t>) controllano le informazioni relative agli algoritmi, come nome, input, output e costo.</a:t>
            </a:r>
          </a:p>
          <a:p>
            <a:r>
              <a:rPr lang="it-IT" dirty="0"/>
              <a:t>Gli schemi delle Pipeline (</a:t>
            </a:r>
            <a:r>
              <a:rPr lang="it-IT" b="1" dirty="0"/>
              <a:t>Pipeline_schema.py</a:t>
            </a:r>
            <a:r>
              <a:rPr lang="it-IT" dirty="0"/>
              <a:t>) descrivono le richieste e le risposte legate alla costruzione, selezione degli step, salvataggio e recupero delle pipeline.</a:t>
            </a:r>
          </a:p>
        </p:txBody>
      </p:sp>
      <p:sp>
        <p:nvSpPr>
          <p:cNvPr id="4" name="Segnaposto numero diapositiva 3"/>
          <p:cNvSpPr>
            <a:spLocks noGrp="1"/>
          </p:cNvSpPr>
          <p:nvPr>
            <p:ph type="sldNum" sz="quarter" idx="5"/>
          </p:nvPr>
        </p:nvSpPr>
        <p:spPr/>
        <p:txBody>
          <a:bodyPr/>
          <a:lstStyle/>
          <a:p>
            <a:fld id="{7417E117-EBF1-460D-8248-BB8B63D5F63B}" type="slidenum">
              <a:rPr lang="it-IT" smtClean="0"/>
              <a:t>11</a:t>
            </a:fld>
            <a:endParaRPr lang="it-IT"/>
          </a:p>
        </p:txBody>
      </p:sp>
    </p:spTree>
    <p:extLst>
      <p:ext uri="{BB962C8B-B14F-4D97-AF65-F5344CB8AC3E}">
        <p14:creationId xmlns:p14="http://schemas.microsoft.com/office/powerpoint/2010/main" val="32653175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dirty="0"/>
              <a:t>L’interfaccia utente rappresenta il livello di presentazione del sistema. </a:t>
            </a:r>
          </a:p>
          <a:p>
            <a:endParaRPr lang="it-IT" dirty="0"/>
          </a:p>
          <a:p>
            <a:r>
              <a:rPr lang="it-IT" dirty="0"/>
              <a:t>Dal punto di vista tecnico, la UI non contiene direttamente la logica principale dell’applicazione, ma comunica con il </a:t>
            </a:r>
            <a:r>
              <a:rPr lang="it-IT" dirty="0" err="1"/>
              <a:t>backend</a:t>
            </a:r>
            <a:r>
              <a:rPr lang="it-IT" dirty="0"/>
              <a:t> tramite richieste alle API rimanendo separata dalla logica applicativa e dal database.</a:t>
            </a:r>
          </a:p>
          <a:p>
            <a:endParaRPr lang="it-IT" dirty="0"/>
          </a:p>
          <a:p>
            <a:r>
              <a:rPr lang="it-IT" dirty="0"/>
              <a:t>L’interfaccia gestisce lo stato della sessione utente, come il contesto attivo, la pagina corrente e la sessione di costruzione della pipeline, mantenendo continuità durante l’utilizzo del sistema.</a:t>
            </a:r>
          </a:p>
          <a:p>
            <a:r>
              <a:rPr lang="it-IT" dirty="0"/>
              <a:t>Attraverso la UI l’utente può gestire contesti, tipi di dato, algoritmi e pipeline salvate, ma le operazioni vengono sempre validate ed eseguite dal </a:t>
            </a:r>
            <a:r>
              <a:rPr lang="it-IT" dirty="0" err="1"/>
              <a:t>backend</a:t>
            </a:r>
            <a:r>
              <a:rPr lang="it-IT" dirty="0"/>
              <a:t>.</a:t>
            </a:r>
          </a:p>
          <a:p>
            <a:endParaRPr lang="it-IT" dirty="0"/>
          </a:p>
          <a:p>
            <a:pPr marL="0" marR="0" lvl="0" indent="0" algn="l" defTabSz="914400" rtl="0" eaLnBrk="1" fontAlgn="auto" latinLnBrk="0" hangingPunct="1">
              <a:lnSpc>
                <a:spcPct val="100000"/>
              </a:lnSpc>
              <a:spcBef>
                <a:spcPts val="0"/>
              </a:spcBef>
              <a:spcAft>
                <a:spcPts val="0"/>
              </a:spcAft>
              <a:buClrTx/>
              <a:buSzTx/>
              <a:buFontTx/>
              <a:buNone/>
              <a:tabLst/>
              <a:defRPr/>
            </a:pPr>
            <a:r>
              <a:rPr lang="it-IT" dirty="0"/>
              <a:t>Nel caso di c</a:t>
            </a:r>
            <a:r>
              <a:rPr lang="it-IT" sz="1200" dirty="0"/>
              <a:t>ostruzione della pipeline: l’interfaccia accompagna l’utente nel processo </a:t>
            </a:r>
            <a:r>
              <a:rPr lang="it-IT" sz="1200" dirty="0" err="1"/>
              <a:t>step-by-step</a:t>
            </a:r>
            <a:r>
              <a:rPr lang="it-IT" dirty="0"/>
              <a:t>: invia le scelte al </a:t>
            </a:r>
            <a:r>
              <a:rPr lang="it-IT" dirty="0" err="1"/>
              <a:t>backend</a:t>
            </a:r>
            <a:r>
              <a:rPr lang="it-IT" dirty="0"/>
              <a:t>, riceve gli algoritmi compatibili e aggiorna dinamicamente la costruzione della pipeline.</a:t>
            </a:r>
          </a:p>
          <a:p>
            <a:endParaRPr lang="it-IT" dirty="0"/>
          </a:p>
          <a:p>
            <a:r>
              <a:rPr lang="it-IT" dirty="0"/>
              <a:t>---</a:t>
            </a:r>
          </a:p>
          <a:p>
            <a:endParaRPr lang="it-IT" dirty="0"/>
          </a:p>
          <a:p>
            <a:r>
              <a:rPr lang="it-IT" sz="1200" dirty="0"/>
              <a:t>È l’entry point del sistema, cioè il punto di avvio dell’applicazione.</a:t>
            </a:r>
          </a:p>
          <a:p>
            <a:br>
              <a:rPr lang="it-IT" sz="1200" dirty="0"/>
            </a:br>
            <a:r>
              <a:rPr lang="it-IT" sz="1200" dirty="0"/>
              <a:t>In questa parte viene:</a:t>
            </a:r>
          </a:p>
          <a:p>
            <a:pPr marL="285750" indent="-285750">
              <a:buFont typeface="Arial" panose="020B0604020202020204" pitchFamily="34" charset="0"/>
              <a:buChar char="•"/>
            </a:pPr>
            <a:r>
              <a:rPr lang="it-IT" sz="1200" dirty="0"/>
              <a:t>creata l’applicazione </a:t>
            </a:r>
            <a:r>
              <a:rPr lang="it-IT" sz="1200" dirty="0" err="1"/>
              <a:t>FastAPI</a:t>
            </a:r>
            <a:endParaRPr lang="it-IT" sz="1200" dirty="0"/>
          </a:p>
          <a:p>
            <a:pPr marL="285750" indent="-285750">
              <a:buFont typeface="Arial" panose="020B0604020202020204" pitchFamily="34" charset="0"/>
              <a:buChar char="•"/>
            </a:pPr>
            <a:r>
              <a:rPr lang="it-IT" sz="1200" dirty="0"/>
              <a:t>inizializzate le tabelle del database</a:t>
            </a:r>
          </a:p>
          <a:p>
            <a:pPr marL="285750" indent="-285750">
              <a:buFont typeface="Arial" panose="020B0604020202020204" pitchFamily="34" charset="0"/>
              <a:buChar char="•"/>
            </a:pPr>
            <a:r>
              <a:rPr lang="it-IT" sz="1200" dirty="0"/>
              <a:t>collegato il router principale che raccoglie tutti gli endpoint del sistema.</a:t>
            </a:r>
          </a:p>
        </p:txBody>
      </p:sp>
      <p:sp>
        <p:nvSpPr>
          <p:cNvPr id="4" name="Segnaposto numero diapositiva 3"/>
          <p:cNvSpPr>
            <a:spLocks noGrp="1"/>
          </p:cNvSpPr>
          <p:nvPr>
            <p:ph type="sldNum" sz="quarter" idx="5"/>
          </p:nvPr>
        </p:nvSpPr>
        <p:spPr/>
        <p:txBody>
          <a:bodyPr/>
          <a:lstStyle/>
          <a:p>
            <a:fld id="{7417E117-EBF1-460D-8248-BB8B63D5F63B}" type="slidenum">
              <a:rPr lang="it-IT" smtClean="0"/>
              <a:t>12</a:t>
            </a:fld>
            <a:endParaRPr lang="it-IT"/>
          </a:p>
        </p:txBody>
      </p:sp>
    </p:spTree>
    <p:extLst>
      <p:ext uri="{BB962C8B-B14F-4D97-AF65-F5344CB8AC3E}">
        <p14:creationId xmlns:p14="http://schemas.microsoft.com/office/powerpoint/2010/main" val="11429569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C609508-AEB3-46DD-2710-917F0BB5EE7F}"/>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DF24F32C-A2B6-15D4-BEDA-34DE164D41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99BBF88A-951B-8D85-1746-353F20886E67}"/>
              </a:ext>
            </a:extLst>
          </p:cNvPr>
          <p:cNvSpPr>
            <a:spLocks noGrp="1"/>
          </p:cNvSpPr>
          <p:nvPr>
            <p:ph type="dt" sz="half" idx="10"/>
          </p:nvPr>
        </p:nvSpPr>
        <p:spPr/>
        <p:txBody>
          <a:bodyPr/>
          <a:lstStyle/>
          <a:p>
            <a:fld id="{B3FA2C20-024A-426B-BB83-FA4B6F18FB0C}" type="datetimeFigureOut">
              <a:rPr lang="it-IT" smtClean="0"/>
              <a:t>03/06/2026</a:t>
            </a:fld>
            <a:endParaRPr lang="it-IT"/>
          </a:p>
        </p:txBody>
      </p:sp>
      <p:sp>
        <p:nvSpPr>
          <p:cNvPr id="5" name="Segnaposto piè di pagina 4">
            <a:extLst>
              <a:ext uri="{FF2B5EF4-FFF2-40B4-BE49-F238E27FC236}">
                <a16:creationId xmlns:a16="http://schemas.microsoft.com/office/drawing/2014/main" id="{533CD17E-15B1-E4E8-B1A5-AF508A4BEA1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C437AE59-4452-C724-714B-6D40A42CA0D8}"/>
              </a:ext>
            </a:extLst>
          </p:cNvPr>
          <p:cNvSpPr>
            <a:spLocks noGrp="1"/>
          </p:cNvSpPr>
          <p:nvPr>
            <p:ph type="sldNum" sz="quarter" idx="12"/>
          </p:nvPr>
        </p:nvSpPr>
        <p:spPr/>
        <p:txBody>
          <a:bodyPr/>
          <a:lstStyle/>
          <a:p>
            <a:fld id="{1BC0E4D2-096C-44B6-99FE-DF29C2B8A82A}" type="slidenum">
              <a:rPr lang="it-IT" smtClean="0"/>
              <a:t>‹N›</a:t>
            </a:fld>
            <a:endParaRPr lang="it-IT"/>
          </a:p>
        </p:txBody>
      </p:sp>
    </p:spTree>
    <p:extLst>
      <p:ext uri="{BB962C8B-B14F-4D97-AF65-F5344CB8AC3E}">
        <p14:creationId xmlns:p14="http://schemas.microsoft.com/office/powerpoint/2010/main" val="1404778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F7DE8BC-7B8E-8213-A760-96AAF68E7B01}"/>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9F7F5D84-82A5-0A39-49A7-1A5A31500F88}"/>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7CC9076-90A2-B3BC-F408-5122E9426B88}"/>
              </a:ext>
            </a:extLst>
          </p:cNvPr>
          <p:cNvSpPr>
            <a:spLocks noGrp="1"/>
          </p:cNvSpPr>
          <p:nvPr>
            <p:ph type="dt" sz="half" idx="10"/>
          </p:nvPr>
        </p:nvSpPr>
        <p:spPr/>
        <p:txBody>
          <a:bodyPr/>
          <a:lstStyle/>
          <a:p>
            <a:fld id="{B3FA2C20-024A-426B-BB83-FA4B6F18FB0C}" type="datetimeFigureOut">
              <a:rPr lang="it-IT" smtClean="0"/>
              <a:t>03/06/2026</a:t>
            </a:fld>
            <a:endParaRPr lang="it-IT"/>
          </a:p>
        </p:txBody>
      </p:sp>
      <p:sp>
        <p:nvSpPr>
          <p:cNvPr id="5" name="Segnaposto piè di pagina 4">
            <a:extLst>
              <a:ext uri="{FF2B5EF4-FFF2-40B4-BE49-F238E27FC236}">
                <a16:creationId xmlns:a16="http://schemas.microsoft.com/office/drawing/2014/main" id="{37B9534C-43A7-8CE4-2A7D-DD9ABF7A8AFF}"/>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74E129D-D00A-7965-2C3D-01CCFDA6FF50}"/>
              </a:ext>
            </a:extLst>
          </p:cNvPr>
          <p:cNvSpPr>
            <a:spLocks noGrp="1"/>
          </p:cNvSpPr>
          <p:nvPr>
            <p:ph type="sldNum" sz="quarter" idx="12"/>
          </p:nvPr>
        </p:nvSpPr>
        <p:spPr/>
        <p:txBody>
          <a:bodyPr/>
          <a:lstStyle/>
          <a:p>
            <a:fld id="{1BC0E4D2-096C-44B6-99FE-DF29C2B8A82A}" type="slidenum">
              <a:rPr lang="it-IT" smtClean="0"/>
              <a:t>‹N›</a:t>
            </a:fld>
            <a:endParaRPr lang="it-IT"/>
          </a:p>
        </p:txBody>
      </p:sp>
    </p:spTree>
    <p:extLst>
      <p:ext uri="{BB962C8B-B14F-4D97-AF65-F5344CB8AC3E}">
        <p14:creationId xmlns:p14="http://schemas.microsoft.com/office/powerpoint/2010/main" val="656617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1FB2464-4D07-FFB7-4603-E13F932A2912}"/>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746765C1-DB8C-3535-9020-B1A624E5234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7557AADA-7948-65D2-D386-54AFA690061A}"/>
              </a:ext>
            </a:extLst>
          </p:cNvPr>
          <p:cNvSpPr>
            <a:spLocks noGrp="1"/>
          </p:cNvSpPr>
          <p:nvPr>
            <p:ph type="dt" sz="half" idx="10"/>
          </p:nvPr>
        </p:nvSpPr>
        <p:spPr/>
        <p:txBody>
          <a:bodyPr/>
          <a:lstStyle/>
          <a:p>
            <a:fld id="{B3FA2C20-024A-426B-BB83-FA4B6F18FB0C}" type="datetimeFigureOut">
              <a:rPr lang="it-IT" smtClean="0"/>
              <a:t>03/06/2026</a:t>
            </a:fld>
            <a:endParaRPr lang="it-IT"/>
          </a:p>
        </p:txBody>
      </p:sp>
      <p:sp>
        <p:nvSpPr>
          <p:cNvPr id="5" name="Segnaposto piè di pagina 4">
            <a:extLst>
              <a:ext uri="{FF2B5EF4-FFF2-40B4-BE49-F238E27FC236}">
                <a16:creationId xmlns:a16="http://schemas.microsoft.com/office/drawing/2014/main" id="{F09D8DCC-8391-2883-F991-4269DE09F0F2}"/>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5D4E0BE6-A7EA-0149-14DF-ACAD6452503F}"/>
              </a:ext>
            </a:extLst>
          </p:cNvPr>
          <p:cNvSpPr>
            <a:spLocks noGrp="1"/>
          </p:cNvSpPr>
          <p:nvPr>
            <p:ph type="sldNum" sz="quarter" idx="12"/>
          </p:nvPr>
        </p:nvSpPr>
        <p:spPr/>
        <p:txBody>
          <a:bodyPr/>
          <a:lstStyle/>
          <a:p>
            <a:fld id="{1BC0E4D2-096C-44B6-99FE-DF29C2B8A82A}" type="slidenum">
              <a:rPr lang="it-IT" smtClean="0"/>
              <a:t>‹N›</a:t>
            </a:fld>
            <a:endParaRPr lang="it-IT"/>
          </a:p>
        </p:txBody>
      </p:sp>
    </p:spTree>
    <p:extLst>
      <p:ext uri="{BB962C8B-B14F-4D97-AF65-F5344CB8AC3E}">
        <p14:creationId xmlns:p14="http://schemas.microsoft.com/office/powerpoint/2010/main" val="1195035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E64F83D-8590-981D-D213-06501D1B5848}"/>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A2F793CF-A133-5985-CB84-F2295B49EB48}"/>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4641F779-8626-CC13-DA2B-B5008242F414}"/>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8D36CA32-FB89-9357-19E2-91B776005C2A}"/>
              </a:ext>
            </a:extLst>
          </p:cNvPr>
          <p:cNvSpPr>
            <a:spLocks noGrp="1"/>
          </p:cNvSpPr>
          <p:nvPr>
            <p:ph type="dt" sz="half" idx="10"/>
          </p:nvPr>
        </p:nvSpPr>
        <p:spPr/>
        <p:txBody>
          <a:bodyPr/>
          <a:lstStyle/>
          <a:p>
            <a:fld id="{B3FA2C20-024A-426B-BB83-FA4B6F18FB0C}" type="datetimeFigureOut">
              <a:rPr lang="it-IT" smtClean="0"/>
              <a:t>03/06/2026</a:t>
            </a:fld>
            <a:endParaRPr lang="it-IT"/>
          </a:p>
        </p:txBody>
      </p:sp>
      <p:sp>
        <p:nvSpPr>
          <p:cNvPr id="6" name="Segnaposto piè di pagina 5">
            <a:extLst>
              <a:ext uri="{FF2B5EF4-FFF2-40B4-BE49-F238E27FC236}">
                <a16:creationId xmlns:a16="http://schemas.microsoft.com/office/drawing/2014/main" id="{F096EF48-AD97-6FB9-A731-A4670CFA825A}"/>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7C6DF72E-D5A6-3B6C-4451-06C97C6893CE}"/>
              </a:ext>
            </a:extLst>
          </p:cNvPr>
          <p:cNvSpPr>
            <a:spLocks noGrp="1"/>
          </p:cNvSpPr>
          <p:nvPr>
            <p:ph type="sldNum" sz="quarter" idx="12"/>
          </p:nvPr>
        </p:nvSpPr>
        <p:spPr/>
        <p:txBody>
          <a:bodyPr/>
          <a:lstStyle/>
          <a:p>
            <a:fld id="{1BC0E4D2-096C-44B6-99FE-DF29C2B8A82A}" type="slidenum">
              <a:rPr lang="it-IT" smtClean="0"/>
              <a:t>‹N›</a:t>
            </a:fld>
            <a:endParaRPr lang="it-IT"/>
          </a:p>
        </p:txBody>
      </p:sp>
    </p:spTree>
    <p:extLst>
      <p:ext uri="{BB962C8B-B14F-4D97-AF65-F5344CB8AC3E}">
        <p14:creationId xmlns:p14="http://schemas.microsoft.com/office/powerpoint/2010/main" val="323450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009C504-B390-1575-780F-9E2AA1DCDF65}"/>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E4642F7D-794F-AA11-D74D-C09F5F5CF1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98A7A1A1-C952-1922-C024-FABC7EDD9538}"/>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4DE4CC5F-180E-D180-BF3D-A715F730D6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2E0C99D3-DF5E-C3F4-1FF7-9B92B3A4F169}"/>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FA6280D5-7EF7-2B16-B5CD-F7558C44D502}"/>
              </a:ext>
            </a:extLst>
          </p:cNvPr>
          <p:cNvSpPr>
            <a:spLocks noGrp="1"/>
          </p:cNvSpPr>
          <p:nvPr>
            <p:ph type="dt" sz="half" idx="10"/>
          </p:nvPr>
        </p:nvSpPr>
        <p:spPr/>
        <p:txBody>
          <a:bodyPr/>
          <a:lstStyle/>
          <a:p>
            <a:fld id="{B3FA2C20-024A-426B-BB83-FA4B6F18FB0C}" type="datetimeFigureOut">
              <a:rPr lang="it-IT" smtClean="0"/>
              <a:t>03/06/2026</a:t>
            </a:fld>
            <a:endParaRPr lang="it-IT"/>
          </a:p>
        </p:txBody>
      </p:sp>
      <p:sp>
        <p:nvSpPr>
          <p:cNvPr id="8" name="Segnaposto piè di pagina 7">
            <a:extLst>
              <a:ext uri="{FF2B5EF4-FFF2-40B4-BE49-F238E27FC236}">
                <a16:creationId xmlns:a16="http://schemas.microsoft.com/office/drawing/2014/main" id="{58F152D9-3344-4286-8C81-FD54871AEDF4}"/>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19D75649-4B72-2EF5-3586-57EFBC2E2EFD}"/>
              </a:ext>
            </a:extLst>
          </p:cNvPr>
          <p:cNvSpPr>
            <a:spLocks noGrp="1"/>
          </p:cNvSpPr>
          <p:nvPr>
            <p:ph type="sldNum" sz="quarter" idx="12"/>
          </p:nvPr>
        </p:nvSpPr>
        <p:spPr/>
        <p:txBody>
          <a:bodyPr/>
          <a:lstStyle/>
          <a:p>
            <a:fld id="{1BC0E4D2-096C-44B6-99FE-DF29C2B8A82A}" type="slidenum">
              <a:rPr lang="it-IT" smtClean="0"/>
              <a:t>‹N›</a:t>
            </a:fld>
            <a:endParaRPr lang="it-IT"/>
          </a:p>
        </p:txBody>
      </p:sp>
    </p:spTree>
    <p:extLst>
      <p:ext uri="{BB962C8B-B14F-4D97-AF65-F5344CB8AC3E}">
        <p14:creationId xmlns:p14="http://schemas.microsoft.com/office/powerpoint/2010/main" val="1017195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3B8D87D-E7D7-A5D2-A0BA-632E96E6123C}"/>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544BD631-D00D-28A0-E9BD-4C3C30A71D1F}"/>
              </a:ext>
            </a:extLst>
          </p:cNvPr>
          <p:cNvSpPr>
            <a:spLocks noGrp="1"/>
          </p:cNvSpPr>
          <p:nvPr>
            <p:ph type="dt" sz="half" idx="10"/>
          </p:nvPr>
        </p:nvSpPr>
        <p:spPr/>
        <p:txBody>
          <a:bodyPr/>
          <a:lstStyle/>
          <a:p>
            <a:fld id="{B3FA2C20-024A-426B-BB83-FA4B6F18FB0C}" type="datetimeFigureOut">
              <a:rPr lang="it-IT" smtClean="0"/>
              <a:t>03/06/2026</a:t>
            </a:fld>
            <a:endParaRPr lang="it-IT"/>
          </a:p>
        </p:txBody>
      </p:sp>
      <p:sp>
        <p:nvSpPr>
          <p:cNvPr id="4" name="Segnaposto piè di pagina 3">
            <a:extLst>
              <a:ext uri="{FF2B5EF4-FFF2-40B4-BE49-F238E27FC236}">
                <a16:creationId xmlns:a16="http://schemas.microsoft.com/office/drawing/2014/main" id="{B74C2DBF-874F-0BDF-4E74-F58CDB47EE3D}"/>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3AD4B7A5-78BA-FBF2-0F8E-A224610C4E4D}"/>
              </a:ext>
            </a:extLst>
          </p:cNvPr>
          <p:cNvSpPr>
            <a:spLocks noGrp="1"/>
          </p:cNvSpPr>
          <p:nvPr>
            <p:ph type="sldNum" sz="quarter" idx="12"/>
          </p:nvPr>
        </p:nvSpPr>
        <p:spPr/>
        <p:txBody>
          <a:bodyPr/>
          <a:lstStyle/>
          <a:p>
            <a:fld id="{1BC0E4D2-096C-44B6-99FE-DF29C2B8A82A}" type="slidenum">
              <a:rPr lang="it-IT" smtClean="0"/>
              <a:t>‹N›</a:t>
            </a:fld>
            <a:endParaRPr lang="it-IT"/>
          </a:p>
        </p:txBody>
      </p:sp>
    </p:spTree>
    <p:extLst>
      <p:ext uri="{BB962C8B-B14F-4D97-AF65-F5344CB8AC3E}">
        <p14:creationId xmlns:p14="http://schemas.microsoft.com/office/powerpoint/2010/main" val="3932175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A2E53F92-F319-2AF9-DEA4-D57DEBF56361}"/>
              </a:ext>
            </a:extLst>
          </p:cNvPr>
          <p:cNvSpPr>
            <a:spLocks noGrp="1"/>
          </p:cNvSpPr>
          <p:nvPr>
            <p:ph type="dt" sz="half" idx="10"/>
          </p:nvPr>
        </p:nvSpPr>
        <p:spPr/>
        <p:txBody>
          <a:bodyPr/>
          <a:lstStyle/>
          <a:p>
            <a:fld id="{B3FA2C20-024A-426B-BB83-FA4B6F18FB0C}" type="datetimeFigureOut">
              <a:rPr lang="it-IT" smtClean="0"/>
              <a:t>03/06/2026</a:t>
            </a:fld>
            <a:endParaRPr lang="it-IT"/>
          </a:p>
        </p:txBody>
      </p:sp>
      <p:sp>
        <p:nvSpPr>
          <p:cNvPr id="3" name="Segnaposto piè di pagina 2">
            <a:extLst>
              <a:ext uri="{FF2B5EF4-FFF2-40B4-BE49-F238E27FC236}">
                <a16:creationId xmlns:a16="http://schemas.microsoft.com/office/drawing/2014/main" id="{B39E3B64-3B91-F841-D2CE-0D9BDF3A16FF}"/>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A63254CA-6475-8B40-F15D-7ACE6FD9650A}"/>
              </a:ext>
            </a:extLst>
          </p:cNvPr>
          <p:cNvSpPr>
            <a:spLocks noGrp="1"/>
          </p:cNvSpPr>
          <p:nvPr>
            <p:ph type="sldNum" sz="quarter" idx="12"/>
          </p:nvPr>
        </p:nvSpPr>
        <p:spPr/>
        <p:txBody>
          <a:bodyPr/>
          <a:lstStyle/>
          <a:p>
            <a:fld id="{1BC0E4D2-096C-44B6-99FE-DF29C2B8A82A}" type="slidenum">
              <a:rPr lang="it-IT" smtClean="0"/>
              <a:t>‹N›</a:t>
            </a:fld>
            <a:endParaRPr lang="it-IT"/>
          </a:p>
        </p:txBody>
      </p:sp>
    </p:spTree>
    <p:extLst>
      <p:ext uri="{BB962C8B-B14F-4D97-AF65-F5344CB8AC3E}">
        <p14:creationId xmlns:p14="http://schemas.microsoft.com/office/powerpoint/2010/main" val="644368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21AEE00-CA1F-EC66-B1CD-834C45EC87A7}"/>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38F29947-8BDC-BB59-7652-C37E77AF7D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5E93FD9E-83DF-44E2-7E63-1876BA3671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67D46CB0-5891-6685-73AA-D2BE5E7F2A1C}"/>
              </a:ext>
            </a:extLst>
          </p:cNvPr>
          <p:cNvSpPr>
            <a:spLocks noGrp="1"/>
          </p:cNvSpPr>
          <p:nvPr>
            <p:ph type="dt" sz="half" idx="10"/>
          </p:nvPr>
        </p:nvSpPr>
        <p:spPr/>
        <p:txBody>
          <a:bodyPr/>
          <a:lstStyle/>
          <a:p>
            <a:fld id="{B3FA2C20-024A-426B-BB83-FA4B6F18FB0C}" type="datetimeFigureOut">
              <a:rPr lang="it-IT" smtClean="0"/>
              <a:t>03/06/2026</a:t>
            </a:fld>
            <a:endParaRPr lang="it-IT"/>
          </a:p>
        </p:txBody>
      </p:sp>
      <p:sp>
        <p:nvSpPr>
          <p:cNvPr id="6" name="Segnaposto piè di pagina 5">
            <a:extLst>
              <a:ext uri="{FF2B5EF4-FFF2-40B4-BE49-F238E27FC236}">
                <a16:creationId xmlns:a16="http://schemas.microsoft.com/office/drawing/2014/main" id="{DBBBD6A2-4A71-6696-1EC9-A82D407C95FC}"/>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46FE77D6-C0CB-021A-8780-5829B0D5E48F}"/>
              </a:ext>
            </a:extLst>
          </p:cNvPr>
          <p:cNvSpPr>
            <a:spLocks noGrp="1"/>
          </p:cNvSpPr>
          <p:nvPr>
            <p:ph type="sldNum" sz="quarter" idx="12"/>
          </p:nvPr>
        </p:nvSpPr>
        <p:spPr/>
        <p:txBody>
          <a:bodyPr/>
          <a:lstStyle/>
          <a:p>
            <a:fld id="{1BC0E4D2-096C-44B6-99FE-DF29C2B8A82A}" type="slidenum">
              <a:rPr lang="it-IT" smtClean="0"/>
              <a:t>‹N›</a:t>
            </a:fld>
            <a:endParaRPr lang="it-IT"/>
          </a:p>
        </p:txBody>
      </p:sp>
    </p:spTree>
    <p:extLst>
      <p:ext uri="{BB962C8B-B14F-4D97-AF65-F5344CB8AC3E}">
        <p14:creationId xmlns:p14="http://schemas.microsoft.com/office/powerpoint/2010/main" val="4244282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528146A-2E34-F705-9FC3-6E43C9287B9D}"/>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BB68491A-383B-FB17-F2CD-9C4C8F2D40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C7B5D269-4883-C0E3-E673-F8E3FFF6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7BF3ED29-4D40-0E72-79A7-B7C4DCDFCB48}"/>
              </a:ext>
            </a:extLst>
          </p:cNvPr>
          <p:cNvSpPr>
            <a:spLocks noGrp="1"/>
          </p:cNvSpPr>
          <p:nvPr>
            <p:ph type="dt" sz="half" idx="10"/>
          </p:nvPr>
        </p:nvSpPr>
        <p:spPr/>
        <p:txBody>
          <a:bodyPr/>
          <a:lstStyle/>
          <a:p>
            <a:fld id="{B3FA2C20-024A-426B-BB83-FA4B6F18FB0C}" type="datetimeFigureOut">
              <a:rPr lang="it-IT" smtClean="0"/>
              <a:t>03/06/2026</a:t>
            </a:fld>
            <a:endParaRPr lang="it-IT"/>
          </a:p>
        </p:txBody>
      </p:sp>
      <p:sp>
        <p:nvSpPr>
          <p:cNvPr id="6" name="Segnaposto piè di pagina 5">
            <a:extLst>
              <a:ext uri="{FF2B5EF4-FFF2-40B4-BE49-F238E27FC236}">
                <a16:creationId xmlns:a16="http://schemas.microsoft.com/office/drawing/2014/main" id="{23B0440F-4E6C-BC26-4CBE-2AA303D59C4F}"/>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43D44821-8BEE-C428-6773-906D009BB6DC}"/>
              </a:ext>
            </a:extLst>
          </p:cNvPr>
          <p:cNvSpPr>
            <a:spLocks noGrp="1"/>
          </p:cNvSpPr>
          <p:nvPr>
            <p:ph type="sldNum" sz="quarter" idx="12"/>
          </p:nvPr>
        </p:nvSpPr>
        <p:spPr/>
        <p:txBody>
          <a:bodyPr/>
          <a:lstStyle/>
          <a:p>
            <a:fld id="{1BC0E4D2-096C-44B6-99FE-DF29C2B8A82A}" type="slidenum">
              <a:rPr lang="it-IT" smtClean="0"/>
              <a:t>‹N›</a:t>
            </a:fld>
            <a:endParaRPr lang="it-IT"/>
          </a:p>
        </p:txBody>
      </p:sp>
    </p:spTree>
    <p:extLst>
      <p:ext uri="{BB962C8B-B14F-4D97-AF65-F5344CB8AC3E}">
        <p14:creationId xmlns:p14="http://schemas.microsoft.com/office/powerpoint/2010/main" val="2496963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4795878-3876-0449-BB2D-C02927E2503D}"/>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F0EB1BAC-5111-FF6B-DD38-660F19E2D048}"/>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2909F4E4-5412-A172-3DDA-93A6526DC8A2}"/>
              </a:ext>
            </a:extLst>
          </p:cNvPr>
          <p:cNvSpPr>
            <a:spLocks noGrp="1"/>
          </p:cNvSpPr>
          <p:nvPr>
            <p:ph type="dt" sz="half" idx="10"/>
          </p:nvPr>
        </p:nvSpPr>
        <p:spPr/>
        <p:txBody>
          <a:bodyPr/>
          <a:lstStyle/>
          <a:p>
            <a:fld id="{B3FA2C20-024A-426B-BB83-FA4B6F18FB0C}" type="datetimeFigureOut">
              <a:rPr lang="it-IT" smtClean="0"/>
              <a:t>03/06/2026</a:t>
            </a:fld>
            <a:endParaRPr lang="it-IT"/>
          </a:p>
        </p:txBody>
      </p:sp>
      <p:sp>
        <p:nvSpPr>
          <p:cNvPr id="5" name="Segnaposto piè di pagina 4">
            <a:extLst>
              <a:ext uri="{FF2B5EF4-FFF2-40B4-BE49-F238E27FC236}">
                <a16:creationId xmlns:a16="http://schemas.microsoft.com/office/drawing/2014/main" id="{D8C52F15-725F-BDEF-395D-60E80EB4EE2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D72F0BD-DE48-C22F-A731-E431266F8C65}"/>
              </a:ext>
            </a:extLst>
          </p:cNvPr>
          <p:cNvSpPr>
            <a:spLocks noGrp="1"/>
          </p:cNvSpPr>
          <p:nvPr>
            <p:ph type="sldNum" sz="quarter" idx="12"/>
          </p:nvPr>
        </p:nvSpPr>
        <p:spPr/>
        <p:txBody>
          <a:bodyPr/>
          <a:lstStyle/>
          <a:p>
            <a:fld id="{1BC0E4D2-096C-44B6-99FE-DF29C2B8A82A}" type="slidenum">
              <a:rPr lang="it-IT" smtClean="0"/>
              <a:t>‹N›</a:t>
            </a:fld>
            <a:endParaRPr lang="it-IT"/>
          </a:p>
        </p:txBody>
      </p:sp>
    </p:spTree>
    <p:extLst>
      <p:ext uri="{BB962C8B-B14F-4D97-AF65-F5344CB8AC3E}">
        <p14:creationId xmlns:p14="http://schemas.microsoft.com/office/powerpoint/2010/main" val="3861997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68965A78-E74E-F687-3C53-5BF7865AECC8}"/>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D1C81AC1-4FC4-2C63-A22E-1B3AEAF1FEE0}"/>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BD206185-E0D7-7CE3-8CF0-B4E6678A2F61}"/>
              </a:ext>
            </a:extLst>
          </p:cNvPr>
          <p:cNvSpPr>
            <a:spLocks noGrp="1"/>
          </p:cNvSpPr>
          <p:nvPr>
            <p:ph type="dt" sz="half" idx="10"/>
          </p:nvPr>
        </p:nvSpPr>
        <p:spPr/>
        <p:txBody>
          <a:bodyPr/>
          <a:lstStyle/>
          <a:p>
            <a:fld id="{B3FA2C20-024A-426B-BB83-FA4B6F18FB0C}" type="datetimeFigureOut">
              <a:rPr lang="it-IT" smtClean="0"/>
              <a:t>03/06/2026</a:t>
            </a:fld>
            <a:endParaRPr lang="it-IT"/>
          </a:p>
        </p:txBody>
      </p:sp>
      <p:sp>
        <p:nvSpPr>
          <p:cNvPr id="5" name="Segnaposto piè di pagina 4">
            <a:extLst>
              <a:ext uri="{FF2B5EF4-FFF2-40B4-BE49-F238E27FC236}">
                <a16:creationId xmlns:a16="http://schemas.microsoft.com/office/drawing/2014/main" id="{60BF4BC1-C927-08B0-C566-01C656FC19E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1FC8CA33-ABC6-5A82-72F3-DF9830D12CED}"/>
              </a:ext>
            </a:extLst>
          </p:cNvPr>
          <p:cNvSpPr>
            <a:spLocks noGrp="1"/>
          </p:cNvSpPr>
          <p:nvPr>
            <p:ph type="sldNum" sz="quarter" idx="12"/>
          </p:nvPr>
        </p:nvSpPr>
        <p:spPr/>
        <p:txBody>
          <a:bodyPr/>
          <a:lstStyle/>
          <a:p>
            <a:fld id="{1BC0E4D2-096C-44B6-99FE-DF29C2B8A82A}" type="slidenum">
              <a:rPr lang="it-IT" smtClean="0"/>
              <a:t>‹N›</a:t>
            </a:fld>
            <a:endParaRPr lang="it-IT"/>
          </a:p>
        </p:txBody>
      </p:sp>
    </p:spTree>
    <p:extLst>
      <p:ext uri="{BB962C8B-B14F-4D97-AF65-F5344CB8AC3E}">
        <p14:creationId xmlns:p14="http://schemas.microsoft.com/office/powerpoint/2010/main" val="1616164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5F60ACF2-5E1F-B7C3-A1F2-4619593CE8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FE96645E-017B-B7CB-8864-E9F89E8F66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553E4D22-7C13-10BC-9616-370D56E5E2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3FA2C20-024A-426B-BB83-FA4B6F18FB0C}" type="datetimeFigureOut">
              <a:rPr lang="it-IT" smtClean="0"/>
              <a:t>03/06/2026</a:t>
            </a:fld>
            <a:endParaRPr lang="it-IT"/>
          </a:p>
        </p:txBody>
      </p:sp>
      <p:sp>
        <p:nvSpPr>
          <p:cNvPr id="5" name="Segnaposto piè di pagina 4">
            <a:extLst>
              <a:ext uri="{FF2B5EF4-FFF2-40B4-BE49-F238E27FC236}">
                <a16:creationId xmlns:a16="http://schemas.microsoft.com/office/drawing/2014/main" id="{2D22A0A9-AA05-476D-92C9-C4A9BE0DD7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463B344D-3064-7DF3-4CA5-2D0713FE36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C0E4D2-096C-44B6-99FE-DF29C2B8A82A}" type="slidenum">
              <a:rPr lang="it-IT" smtClean="0"/>
              <a:t>‹N›</a:t>
            </a:fld>
            <a:endParaRPr lang="it-IT"/>
          </a:p>
        </p:txBody>
      </p:sp>
    </p:spTree>
    <p:extLst>
      <p:ext uri="{BB962C8B-B14F-4D97-AF65-F5344CB8AC3E}">
        <p14:creationId xmlns:p14="http://schemas.microsoft.com/office/powerpoint/2010/main" val="5817363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magine 6">
            <a:extLst>
              <a:ext uri="{FF2B5EF4-FFF2-40B4-BE49-F238E27FC236}">
                <a16:creationId xmlns:a16="http://schemas.microsoft.com/office/drawing/2014/main" id="{2E3FD58E-9CFD-7330-48E1-295FB90141B0}"/>
              </a:ext>
            </a:extLst>
          </p:cNvPr>
          <p:cNvPicPr>
            <a:picLocks noChangeAspect="1"/>
          </p:cNvPicPr>
          <p:nvPr/>
        </p:nvPicPr>
        <p:blipFill>
          <a:blip r:embed="rId2">
            <a:alphaModFix amt="80000"/>
          </a:blip>
          <a:srcRect l="4925" t="9494" r="4014" b="8347"/>
          <a:stretch>
            <a:fillRect/>
          </a:stretch>
        </p:blipFill>
        <p:spPr>
          <a:xfrm>
            <a:off x="529138" y="554182"/>
            <a:ext cx="11302640" cy="5726545"/>
          </a:xfrm>
          <a:prstGeom prst="rect">
            <a:avLst/>
          </a:prstGeom>
        </p:spPr>
      </p:pic>
      <p:sp>
        <p:nvSpPr>
          <p:cNvPr id="20" name="Figura a mano libera: forma 19">
            <a:extLst>
              <a:ext uri="{FF2B5EF4-FFF2-40B4-BE49-F238E27FC236}">
                <a16:creationId xmlns:a16="http://schemas.microsoft.com/office/drawing/2014/main" id="{C4CDBBBD-7CD2-FABC-923C-BED6A013E42C}"/>
              </a:ext>
            </a:extLst>
          </p:cNvPr>
          <p:cNvSpPr/>
          <p:nvPr/>
        </p:nvSpPr>
        <p:spPr>
          <a:xfrm>
            <a:off x="9516976" y="-20529"/>
            <a:ext cx="2675023" cy="1479328"/>
          </a:xfrm>
          <a:custGeom>
            <a:avLst/>
            <a:gdLst>
              <a:gd name="csX0" fmla="*/ 0 w 2675023"/>
              <a:gd name="csY0" fmla="*/ 0 h 1479328"/>
              <a:gd name="csX1" fmla="*/ 2675023 w 2675023"/>
              <a:gd name="csY1" fmla="*/ 0 h 1479328"/>
              <a:gd name="csX2" fmla="*/ 2675023 w 2675023"/>
              <a:gd name="csY2" fmla="*/ 283633 h 1479328"/>
              <a:gd name="csX3" fmla="*/ 1479328 w 2675023"/>
              <a:gd name="csY3" fmla="*/ 1479328 h 1479328"/>
            </a:gdLst>
            <a:ahLst/>
            <a:cxnLst>
              <a:cxn ang="0">
                <a:pos x="csX0" y="csY0"/>
              </a:cxn>
              <a:cxn ang="0">
                <a:pos x="csX1" y="csY1"/>
              </a:cxn>
              <a:cxn ang="0">
                <a:pos x="csX2" y="csY2"/>
              </a:cxn>
              <a:cxn ang="0">
                <a:pos x="csX3" y="csY3"/>
              </a:cxn>
            </a:cxnLst>
            <a:rect l="l" t="t" r="r" b="b"/>
            <a:pathLst>
              <a:path w="2675023" h="1479328">
                <a:moveTo>
                  <a:pt x="0" y="0"/>
                </a:moveTo>
                <a:lnTo>
                  <a:pt x="2675023" y="0"/>
                </a:lnTo>
                <a:lnTo>
                  <a:pt x="2675023" y="283633"/>
                </a:lnTo>
                <a:lnTo>
                  <a:pt x="1479328" y="1479328"/>
                </a:lnTo>
                <a:close/>
              </a:path>
            </a:pathLst>
          </a:cu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3" name="Figura a mano libera: forma 22">
            <a:extLst>
              <a:ext uri="{FF2B5EF4-FFF2-40B4-BE49-F238E27FC236}">
                <a16:creationId xmlns:a16="http://schemas.microsoft.com/office/drawing/2014/main" id="{3EB6ED2E-227E-83A6-D416-9F3F2F051DED}"/>
              </a:ext>
            </a:extLst>
          </p:cNvPr>
          <p:cNvSpPr/>
          <p:nvPr/>
        </p:nvSpPr>
        <p:spPr>
          <a:xfrm>
            <a:off x="6989459" y="5941826"/>
            <a:ext cx="1832348" cy="916174"/>
          </a:xfrm>
          <a:custGeom>
            <a:avLst/>
            <a:gdLst>
              <a:gd name="csX0" fmla="*/ 916174 w 1832348"/>
              <a:gd name="csY0" fmla="*/ 0 h 916174"/>
              <a:gd name="csX1" fmla="*/ 1832348 w 1832348"/>
              <a:gd name="csY1" fmla="*/ 916174 h 916174"/>
              <a:gd name="csX2" fmla="*/ 0 w 1832348"/>
              <a:gd name="csY2" fmla="*/ 916174 h 916174"/>
            </a:gdLst>
            <a:ahLst/>
            <a:cxnLst>
              <a:cxn ang="0">
                <a:pos x="csX0" y="csY0"/>
              </a:cxn>
              <a:cxn ang="0">
                <a:pos x="csX1" y="csY1"/>
              </a:cxn>
              <a:cxn ang="0">
                <a:pos x="csX2" y="csY2"/>
              </a:cxn>
            </a:cxnLst>
            <a:rect l="l" t="t" r="r" b="b"/>
            <a:pathLst>
              <a:path w="1832348" h="916174">
                <a:moveTo>
                  <a:pt x="916174" y="0"/>
                </a:moveTo>
                <a:lnTo>
                  <a:pt x="1832348" y="916174"/>
                </a:lnTo>
                <a:lnTo>
                  <a:pt x="0" y="91617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6" name="Figura a mano libera: forma 25">
            <a:extLst>
              <a:ext uri="{FF2B5EF4-FFF2-40B4-BE49-F238E27FC236}">
                <a16:creationId xmlns:a16="http://schemas.microsoft.com/office/drawing/2014/main" id="{6832E091-2E69-E9D7-55E5-6C0920858D92}"/>
              </a:ext>
            </a:extLst>
          </p:cNvPr>
          <p:cNvSpPr/>
          <p:nvPr/>
        </p:nvSpPr>
        <p:spPr>
          <a:xfrm>
            <a:off x="6713034" y="6581576"/>
            <a:ext cx="552849" cy="276424"/>
          </a:xfrm>
          <a:custGeom>
            <a:avLst/>
            <a:gdLst>
              <a:gd name="csX0" fmla="*/ 276424 w 552849"/>
              <a:gd name="csY0" fmla="*/ 0 h 276424"/>
              <a:gd name="csX1" fmla="*/ 552849 w 552849"/>
              <a:gd name="csY1" fmla="*/ 276424 h 276424"/>
              <a:gd name="csX2" fmla="*/ 0 w 552849"/>
              <a:gd name="csY2" fmla="*/ 276424 h 276424"/>
            </a:gdLst>
            <a:ahLst/>
            <a:cxnLst>
              <a:cxn ang="0">
                <a:pos x="csX0" y="csY0"/>
              </a:cxn>
              <a:cxn ang="0">
                <a:pos x="csX1" y="csY1"/>
              </a:cxn>
              <a:cxn ang="0">
                <a:pos x="csX2" y="csY2"/>
              </a:cxn>
            </a:cxnLst>
            <a:rect l="l" t="t" r="r" b="b"/>
            <a:pathLst>
              <a:path w="552849" h="276424">
                <a:moveTo>
                  <a:pt x="276424" y="0"/>
                </a:moveTo>
                <a:lnTo>
                  <a:pt x="552849" y="276424"/>
                </a:lnTo>
                <a:lnTo>
                  <a:pt x="0" y="27642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8" name="Rettangolo 27">
            <a:extLst>
              <a:ext uri="{FF2B5EF4-FFF2-40B4-BE49-F238E27FC236}">
                <a16:creationId xmlns:a16="http://schemas.microsoft.com/office/drawing/2014/main" id="{47F6D6B4-4EB9-696D-2AC1-BD99E478B10D}"/>
              </a:ext>
            </a:extLst>
          </p:cNvPr>
          <p:cNvSpPr/>
          <p:nvPr/>
        </p:nvSpPr>
        <p:spPr>
          <a:xfrm rot="2700000">
            <a:off x="10282723" y="756077"/>
            <a:ext cx="576000" cy="576000"/>
          </a:xfrm>
          <a:prstGeom prst="rect">
            <a:avLst/>
          </a:pr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igura a mano libera: forma 14">
            <a:extLst>
              <a:ext uri="{FF2B5EF4-FFF2-40B4-BE49-F238E27FC236}">
                <a16:creationId xmlns:a16="http://schemas.microsoft.com/office/drawing/2014/main" id="{F318295B-215C-4191-BC81-118C07F7D168}"/>
              </a:ext>
            </a:extLst>
          </p:cNvPr>
          <p:cNvSpPr/>
          <p:nvPr/>
        </p:nvSpPr>
        <p:spPr>
          <a:xfrm>
            <a:off x="1" y="1"/>
            <a:ext cx="1637673" cy="1584633"/>
          </a:xfrm>
          <a:custGeom>
            <a:avLst/>
            <a:gdLst>
              <a:gd name="csX0" fmla="*/ 0 w 1637673"/>
              <a:gd name="csY0" fmla="*/ 0 h 1584633"/>
              <a:gd name="csX1" fmla="*/ 1325832 w 1637673"/>
              <a:gd name="csY1" fmla="*/ 0 h 1584633"/>
              <a:gd name="csX2" fmla="*/ 1637673 w 1637673"/>
              <a:gd name="csY2" fmla="*/ 311841 h 1584633"/>
              <a:gd name="csX3" fmla="*/ 364881 w 1637673"/>
              <a:gd name="csY3" fmla="*/ 1584633 h 1584633"/>
              <a:gd name="csX4" fmla="*/ 0 w 1637673"/>
              <a:gd name="csY4" fmla="*/ 1219752 h 1584633"/>
            </a:gdLst>
            <a:ahLst/>
            <a:cxnLst>
              <a:cxn ang="0">
                <a:pos x="csX0" y="csY0"/>
              </a:cxn>
              <a:cxn ang="0">
                <a:pos x="csX1" y="csY1"/>
              </a:cxn>
              <a:cxn ang="0">
                <a:pos x="csX2" y="csY2"/>
              </a:cxn>
              <a:cxn ang="0">
                <a:pos x="csX3" y="csY3"/>
              </a:cxn>
              <a:cxn ang="0">
                <a:pos x="csX4" y="csY4"/>
              </a:cxn>
            </a:cxnLst>
            <a:rect l="l" t="t" r="r" b="b"/>
            <a:pathLst>
              <a:path w="1637673" h="1584633">
                <a:moveTo>
                  <a:pt x="0" y="0"/>
                </a:moveTo>
                <a:lnTo>
                  <a:pt x="1325832" y="0"/>
                </a:lnTo>
                <a:lnTo>
                  <a:pt x="1637673" y="311841"/>
                </a:lnTo>
                <a:lnTo>
                  <a:pt x="364881" y="1584633"/>
                </a:lnTo>
                <a:lnTo>
                  <a:pt x="0" y="1219752"/>
                </a:lnTo>
                <a:close/>
              </a:path>
            </a:pathLst>
          </a:cu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7" name="Rettangolo 26">
            <a:extLst>
              <a:ext uri="{FF2B5EF4-FFF2-40B4-BE49-F238E27FC236}">
                <a16:creationId xmlns:a16="http://schemas.microsoft.com/office/drawing/2014/main" id="{556AED0E-A2F3-6CCB-A24A-2116F759C9CD}"/>
              </a:ext>
            </a:extLst>
          </p:cNvPr>
          <p:cNvSpPr/>
          <p:nvPr/>
        </p:nvSpPr>
        <p:spPr>
          <a:xfrm rot="2700000">
            <a:off x="942381" y="431135"/>
            <a:ext cx="576000" cy="576000"/>
          </a:xfrm>
          <a:prstGeom prst="rect">
            <a:avLst/>
          </a:pr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 name="Titolo 8">
            <a:extLst>
              <a:ext uri="{FF2B5EF4-FFF2-40B4-BE49-F238E27FC236}">
                <a16:creationId xmlns:a16="http://schemas.microsoft.com/office/drawing/2014/main" id="{A50FDD6B-36F0-99D4-D563-F8809C312A87}"/>
              </a:ext>
            </a:extLst>
          </p:cNvPr>
          <p:cNvSpPr>
            <a:spLocks noGrp="1"/>
          </p:cNvSpPr>
          <p:nvPr>
            <p:ph type="ctrTitle"/>
          </p:nvPr>
        </p:nvSpPr>
        <p:spPr/>
        <p:txBody>
          <a:bodyPr/>
          <a:lstStyle/>
          <a:p>
            <a:r>
              <a:rPr lang="it-IT" b="1" i="1" dirty="0"/>
              <a:t>Pipeline Builder</a:t>
            </a:r>
          </a:p>
        </p:txBody>
      </p:sp>
      <p:sp>
        <p:nvSpPr>
          <p:cNvPr id="10" name="Sottotitolo 9">
            <a:extLst>
              <a:ext uri="{FF2B5EF4-FFF2-40B4-BE49-F238E27FC236}">
                <a16:creationId xmlns:a16="http://schemas.microsoft.com/office/drawing/2014/main" id="{582CB0D5-CD65-0245-41BE-A8BF2E2DC48E}"/>
              </a:ext>
            </a:extLst>
          </p:cNvPr>
          <p:cNvSpPr>
            <a:spLocks noGrp="1"/>
          </p:cNvSpPr>
          <p:nvPr>
            <p:ph type="subTitle" idx="1"/>
          </p:nvPr>
        </p:nvSpPr>
        <p:spPr/>
        <p:txBody>
          <a:bodyPr/>
          <a:lstStyle/>
          <a:p>
            <a:r>
              <a:rPr lang="it-IT" i="1" dirty="0"/>
              <a:t>Author: Samuele Mazziotti</a:t>
            </a:r>
          </a:p>
        </p:txBody>
      </p:sp>
      <p:sp>
        <p:nvSpPr>
          <p:cNvPr id="12" name="CasellaDiTesto 11">
            <a:extLst>
              <a:ext uri="{FF2B5EF4-FFF2-40B4-BE49-F238E27FC236}">
                <a16:creationId xmlns:a16="http://schemas.microsoft.com/office/drawing/2014/main" id="{16785B2C-A571-5B8F-F9BB-6D9D24B0062F}"/>
              </a:ext>
            </a:extLst>
          </p:cNvPr>
          <p:cNvSpPr txBox="1"/>
          <p:nvPr/>
        </p:nvSpPr>
        <p:spPr>
          <a:xfrm>
            <a:off x="529138" y="5476583"/>
            <a:ext cx="5806151" cy="923330"/>
          </a:xfrm>
          <a:prstGeom prst="rect">
            <a:avLst/>
          </a:prstGeom>
          <a:noFill/>
        </p:spPr>
        <p:txBody>
          <a:bodyPr wrap="square" rtlCol="0">
            <a:spAutoFit/>
          </a:bodyPr>
          <a:lstStyle/>
          <a:p>
            <a:r>
              <a:rPr lang="it-IT" i="1" dirty="0"/>
              <a:t>Student ID: 0001132769</a:t>
            </a:r>
          </a:p>
          <a:p>
            <a:r>
              <a:rPr lang="it-IT" i="1" dirty="0"/>
              <a:t>Advisor: Prof. Marco Patella</a:t>
            </a:r>
          </a:p>
          <a:p>
            <a:r>
              <a:rPr lang="it-IT" i="1" dirty="0"/>
              <a:t>Academic Year: 2025-26</a:t>
            </a:r>
          </a:p>
        </p:txBody>
      </p:sp>
    </p:spTree>
    <p:extLst>
      <p:ext uri="{BB962C8B-B14F-4D97-AF65-F5344CB8AC3E}">
        <p14:creationId xmlns:p14="http://schemas.microsoft.com/office/powerpoint/2010/main" val="5363830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01249-F733-C962-5DAD-D31E281F3EAB}"/>
            </a:ext>
          </a:extLst>
        </p:cNvPr>
        <p:cNvGrpSpPr/>
        <p:nvPr/>
      </p:nvGrpSpPr>
      <p:grpSpPr>
        <a:xfrm>
          <a:off x="0" y="0"/>
          <a:ext cx="0" cy="0"/>
          <a:chOff x="0" y="0"/>
          <a:chExt cx="0" cy="0"/>
        </a:xfrm>
      </p:grpSpPr>
      <p:pic>
        <p:nvPicPr>
          <p:cNvPr id="7" name="Immagine 6">
            <a:extLst>
              <a:ext uri="{FF2B5EF4-FFF2-40B4-BE49-F238E27FC236}">
                <a16:creationId xmlns:a16="http://schemas.microsoft.com/office/drawing/2014/main" id="{3CA1FB1E-F3BC-669B-DACF-06C43E579A16}"/>
              </a:ext>
            </a:extLst>
          </p:cNvPr>
          <p:cNvPicPr>
            <a:picLocks noChangeAspect="1"/>
          </p:cNvPicPr>
          <p:nvPr/>
        </p:nvPicPr>
        <p:blipFill>
          <a:blip r:embed="rId3">
            <a:alphaModFix amt="80000"/>
          </a:blip>
          <a:srcRect l="4925" t="9494" r="4014" b="8347"/>
          <a:stretch>
            <a:fillRect/>
          </a:stretch>
        </p:blipFill>
        <p:spPr>
          <a:xfrm>
            <a:off x="529138" y="554182"/>
            <a:ext cx="11302640" cy="5726545"/>
          </a:xfrm>
          <a:prstGeom prst="rect">
            <a:avLst/>
          </a:prstGeom>
        </p:spPr>
      </p:pic>
      <p:sp>
        <p:nvSpPr>
          <p:cNvPr id="20" name="Figura a mano libera: forma 19">
            <a:extLst>
              <a:ext uri="{FF2B5EF4-FFF2-40B4-BE49-F238E27FC236}">
                <a16:creationId xmlns:a16="http://schemas.microsoft.com/office/drawing/2014/main" id="{9C751482-DF03-8738-7565-A3089CDBB0DC}"/>
              </a:ext>
            </a:extLst>
          </p:cNvPr>
          <p:cNvSpPr/>
          <p:nvPr/>
        </p:nvSpPr>
        <p:spPr>
          <a:xfrm>
            <a:off x="9516976" y="-20529"/>
            <a:ext cx="2675023" cy="1479328"/>
          </a:xfrm>
          <a:custGeom>
            <a:avLst/>
            <a:gdLst>
              <a:gd name="csX0" fmla="*/ 0 w 2675023"/>
              <a:gd name="csY0" fmla="*/ 0 h 1479328"/>
              <a:gd name="csX1" fmla="*/ 2675023 w 2675023"/>
              <a:gd name="csY1" fmla="*/ 0 h 1479328"/>
              <a:gd name="csX2" fmla="*/ 2675023 w 2675023"/>
              <a:gd name="csY2" fmla="*/ 283633 h 1479328"/>
              <a:gd name="csX3" fmla="*/ 1479328 w 2675023"/>
              <a:gd name="csY3" fmla="*/ 1479328 h 1479328"/>
            </a:gdLst>
            <a:ahLst/>
            <a:cxnLst>
              <a:cxn ang="0">
                <a:pos x="csX0" y="csY0"/>
              </a:cxn>
              <a:cxn ang="0">
                <a:pos x="csX1" y="csY1"/>
              </a:cxn>
              <a:cxn ang="0">
                <a:pos x="csX2" y="csY2"/>
              </a:cxn>
              <a:cxn ang="0">
                <a:pos x="csX3" y="csY3"/>
              </a:cxn>
            </a:cxnLst>
            <a:rect l="l" t="t" r="r" b="b"/>
            <a:pathLst>
              <a:path w="2675023" h="1479328">
                <a:moveTo>
                  <a:pt x="0" y="0"/>
                </a:moveTo>
                <a:lnTo>
                  <a:pt x="2675023" y="0"/>
                </a:lnTo>
                <a:lnTo>
                  <a:pt x="2675023" y="283633"/>
                </a:lnTo>
                <a:lnTo>
                  <a:pt x="1479328" y="1479328"/>
                </a:lnTo>
                <a:close/>
              </a:path>
            </a:pathLst>
          </a:cu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3" name="Figura a mano libera: forma 22">
            <a:extLst>
              <a:ext uri="{FF2B5EF4-FFF2-40B4-BE49-F238E27FC236}">
                <a16:creationId xmlns:a16="http://schemas.microsoft.com/office/drawing/2014/main" id="{78ABA437-B504-2094-B030-6056A2176ADA}"/>
              </a:ext>
            </a:extLst>
          </p:cNvPr>
          <p:cNvSpPr/>
          <p:nvPr/>
        </p:nvSpPr>
        <p:spPr>
          <a:xfrm>
            <a:off x="6989459" y="5941826"/>
            <a:ext cx="1832348" cy="916174"/>
          </a:xfrm>
          <a:custGeom>
            <a:avLst/>
            <a:gdLst>
              <a:gd name="csX0" fmla="*/ 916174 w 1832348"/>
              <a:gd name="csY0" fmla="*/ 0 h 916174"/>
              <a:gd name="csX1" fmla="*/ 1832348 w 1832348"/>
              <a:gd name="csY1" fmla="*/ 916174 h 916174"/>
              <a:gd name="csX2" fmla="*/ 0 w 1832348"/>
              <a:gd name="csY2" fmla="*/ 916174 h 916174"/>
            </a:gdLst>
            <a:ahLst/>
            <a:cxnLst>
              <a:cxn ang="0">
                <a:pos x="csX0" y="csY0"/>
              </a:cxn>
              <a:cxn ang="0">
                <a:pos x="csX1" y="csY1"/>
              </a:cxn>
              <a:cxn ang="0">
                <a:pos x="csX2" y="csY2"/>
              </a:cxn>
            </a:cxnLst>
            <a:rect l="l" t="t" r="r" b="b"/>
            <a:pathLst>
              <a:path w="1832348" h="916174">
                <a:moveTo>
                  <a:pt x="916174" y="0"/>
                </a:moveTo>
                <a:lnTo>
                  <a:pt x="1832348" y="916174"/>
                </a:lnTo>
                <a:lnTo>
                  <a:pt x="0" y="91617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6" name="Figura a mano libera: forma 25">
            <a:extLst>
              <a:ext uri="{FF2B5EF4-FFF2-40B4-BE49-F238E27FC236}">
                <a16:creationId xmlns:a16="http://schemas.microsoft.com/office/drawing/2014/main" id="{028393D1-5616-5156-D20D-2357149DF82D}"/>
              </a:ext>
            </a:extLst>
          </p:cNvPr>
          <p:cNvSpPr/>
          <p:nvPr/>
        </p:nvSpPr>
        <p:spPr>
          <a:xfrm>
            <a:off x="6713034" y="6581576"/>
            <a:ext cx="552849" cy="276424"/>
          </a:xfrm>
          <a:custGeom>
            <a:avLst/>
            <a:gdLst>
              <a:gd name="csX0" fmla="*/ 276424 w 552849"/>
              <a:gd name="csY0" fmla="*/ 0 h 276424"/>
              <a:gd name="csX1" fmla="*/ 552849 w 552849"/>
              <a:gd name="csY1" fmla="*/ 276424 h 276424"/>
              <a:gd name="csX2" fmla="*/ 0 w 552849"/>
              <a:gd name="csY2" fmla="*/ 276424 h 276424"/>
            </a:gdLst>
            <a:ahLst/>
            <a:cxnLst>
              <a:cxn ang="0">
                <a:pos x="csX0" y="csY0"/>
              </a:cxn>
              <a:cxn ang="0">
                <a:pos x="csX1" y="csY1"/>
              </a:cxn>
              <a:cxn ang="0">
                <a:pos x="csX2" y="csY2"/>
              </a:cxn>
            </a:cxnLst>
            <a:rect l="l" t="t" r="r" b="b"/>
            <a:pathLst>
              <a:path w="552849" h="276424">
                <a:moveTo>
                  <a:pt x="276424" y="0"/>
                </a:moveTo>
                <a:lnTo>
                  <a:pt x="552849" y="276424"/>
                </a:lnTo>
                <a:lnTo>
                  <a:pt x="0" y="27642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8" name="Rettangolo 27">
            <a:extLst>
              <a:ext uri="{FF2B5EF4-FFF2-40B4-BE49-F238E27FC236}">
                <a16:creationId xmlns:a16="http://schemas.microsoft.com/office/drawing/2014/main" id="{F5303085-B2C3-B7D7-4583-D3F2B2272870}"/>
              </a:ext>
            </a:extLst>
          </p:cNvPr>
          <p:cNvSpPr/>
          <p:nvPr/>
        </p:nvSpPr>
        <p:spPr>
          <a:xfrm rot="2700000">
            <a:off x="10282723" y="756077"/>
            <a:ext cx="576000" cy="576000"/>
          </a:xfrm>
          <a:prstGeom prst="rect">
            <a:avLst/>
          </a:pr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igura a mano libera: forma 14">
            <a:extLst>
              <a:ext uri="{FF2B5EF4-FFF2-40B4-BE49-F238E27FC236}">
                <a16:creationId xmlns:a16="http://schemas.microsoft.com/office/drawing/2014/main" id="{C043B631-4282-E1E3-006A-8C13DE2D3951}"/>
              </a:ext>
            </a:extLst>
          </p:cNvPr>
          <p:cNvSpPr/>
          <p:nvPr/>
        </p:nvSpPr>
        <p:spPr>
          <a:xfrm>
            <a:off x="1" y="1"/>
            <a:ext cx="1637673" cy="1584633"/>
          </a:xfrm>
          <a:custGeom>
            <a:avLst/>
            <a:gdLst>
              <a:gd name="csX0" fmla="*/ 0 w 1637673"/>
              <a:gd name="csY0" fmla="*/ 0 h 1584633"/>
              <a:gd name="csX1" fmla="*/ 1325832 w 1637673"/>
              <a:gd name="csY1" fmla="*/ 0 h 1584633"/>
              <a:gd name="csX2" fmla="*/ 1637673 w 1637673"/>
              <a:gd name="csY2" fmla="*/ 311841 h 1584633"/>
              <a:gd name="csX3" fmla="*/ 364881 w 1637673"/>
              <a:gd name="csY3" fmla="*/ 1584633 h 1584633"/>
              <a:gd name="csX4" fmla="*/ 0 w 1637673"/>
              <a:gd name="csY4" fmla="*/ 1219752 h 1584633"/>
            </a:gdLst>
            <a:ahLst/>
            <a:cxnLst>
              <a:cxn ang="0">
                <a:pos x="csX0" y="csY0"/>
              </a:cxn>
              <a:cxn ang="0">
                <a:pos x="csX1" y="csY1"/>
              </a:cxn>
              <a:cxn ang="0">
                <a:pos x="csX2" y="csY2"/>
              </a:cxn>
              <a:cxn ang="0">
                <a:pos x="csX3" y="csY3"/>
              </a:cxn>
              <a:cxn ang="0">
                <a:pos x="csX4" y="csY4"/>
              </a:cxn>
            </a:cxnLst>
            <a:rect l="l" t="t" r="r" b="b"/>
            <a:pathLst>
              <a:path w="1637673" h="1584633">
                <a:moveTo>
                  <a:pt x="0" y="0"/>
                </a:moveTo>
                <a:lnTo>
                  <a:pt x="1325832" y="0"/>
                </a:lnTo>
                <a:lnTo>
                  <a:pt x="1637673" y="311841"/>
                </a:lnTo>
                <a:lnTo>
                  <a:pt x="364881" y="1584633"/>
                </a:lnTo>
                <a:lnTo>
                  <a:pt x="0" y="1219752"/>
                </a:lnTo>
                <a:close/>
              </a:path>
            </a:pathLst>
          </a:cu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7" name="Rettangolo 26">
            <a:extLst>
              <a:ext uri="{FF2B5EF4-FFF2-40B4-BE49-F238E27FC236}">
                <a16:creationId xmlns:a16="http://schemas.microsoft.com/office/drawing/2014/main" id="{42C22EFC-A9D8-07BC-DB0F-05F36970681E}"/>
              </a:ext>
            </a:extLst>
          </p:cNvPr>
          <p:cNvSpPr/>
          <p:nvPr/>
        </p:nvSpPr>
        <p:spPr>
          <a:xfrm rot="2700000">
            <a:off x="942381" y="431135"/>
            <a:ext cx="576000" cy="576000"/>
          </a:xfrm>
          <a:prstGeom prst="rect">
            <a:avLst/>
          </a:pr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EE1D8D51-5189-2754-8D61-DDF5EBA0FC8E}"/>
              </a:ext>
            </a:extLst>
          </p:cNvPr>
          <p:cNvSpPr>
            <a:spLocks noGrp="1"/>
          </p:cNvSpPr>
          <p:nvPr>
            <p:ph type="title"/>
          </p:nvPr>
        </p:nvSpPr>
        <p:spPr>
          <a:xfrm>
            <a:off x="818837" y="573895"/>
            <a:ext cx="10515600" cy="1325563"/>
          </a:xfrm>
        </p:spPr>
        <p:txBody>
          <a:bodyPr/>
          <a:lstStyle/>
          <a:p>
            <a:r>
              <a:rPr lang="it-IT" i="1" dirty="0" err="1"/>
              <a:t>Introduction</a:t>
            </a:r>
            <a:endParaRPr lang="it-IT" i="1" dirty="0"/>
          </a:p>
        </p:txBody>
      </p:sp>
      <p:sp>
        <p:nvSpPr>
          <p:cNvPr id="4" name="CasellaDiTesto 3">
            <a:extLst>
              <a:ext uri="{FF2B5EF4-FFF2-40B4-BE49-F238E27FC236}">
                <a16:creationId xmlns:a16="http://schemas.microsoft.com/office/drawing/2014/main" id="{1AC091C2-D133-3F2A-A639-C27F18DFCFC7}"/>
              </a:ext>
            </a:extLst>
          </p:cNvPr>
          <p:cNvSpPr txBox="1"/>
          <p:nvPr/>
        </p:nvSpPr>
        <p:spPr>
          <a:xfrm>
            <a:off x="838200" y="1742513"/>
            <a:ext cx="10139817" cy="1021556"/>
          </a:xfrm>
          <a:prstGeom prst="roundRect">
            <a:avLst/>
          </a:prstGeom>
          <a:solidFill>
            <a:srgbClr val="FFC000"/>
          </a:solidFill>
          <a:ln w="38100">
            <a:solidFill>
              <a:srgbClr val="215F9A"/>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it-IT" b="1" i="1" dirty="0">
                <a:solidFill>
                  <a:srgbClr val="13501B"/>
                </a:solidFill>
              </a:rPr>
              <a:t>Target</a:t>
            </a:r>
            <a:endParaRPr lang="it-IT" dirty="0">
              <a:solidFill>
                <a:srgbClr val="13501B"/>
              </a:solidFill>
            </a:endParaRPr>
          </a:p>
          <a:p>
            <a:pPr algn="ctr"/>
            <a:r>
              <a:rPr lang="en-US" dirty="0">
                <a:solidFill>
                  <a:srgbClr val="13501B"/>
                </a:solidFill>
              </a:rPr>
              <a:t>Design and develop a software system aimed at supporting the guided construction of data processing pipelines</a:t>
            </a:r>
            <a:endParaRPr lang="it-IT" dirty="0">
              <a:solidFill>
                <a:srgbClr val="13501B"/>
              </a:solidFill>
            </a:endParaRPr>
          </a:p>
        </p:txBody>
      </p:sp>
      <p:sp>
        <p:nvSpPr>
          <p:cNvPr id="5" name="CasellaDiTesto 4">
            <a:extLst>
              <a:ext uri="{FF2B5EF4-FFF2-40B4-BE49-F238E27FC236}">
                <a16:creationId xmlns:a16="http://schemas.microsoft.com/office/drawing/2014/main" id="{987F695B-4A0A-9CD7-BD55-9328D8E2EEDD}"/>
              </a:ext>
            </a:extLst>
          </p:cNvPr>
          <p:cNvSpPr txBox="1"/>
          <p:nvPr/>
        </p:nvSpPr>
        <p:spPr>
          <a:xfrm>
            <a:off x="2900265" y="4584788"/>
            <a:ext cx="2142408" cy="646331"/>
          </a:xfrm>
          <a:prstGeom prst="rect">
            <a:avLst/>
          </a:prstGeom>
          <a:noFill/>
          <a:ln w="28575">
            <a:solidFill>
              <a:srgbClr val="215F9A"/>
            </a:solidFill>
          </a:ln>
        </p:spPr>
        <p:txBody>
          <a:bodyPr wrap="square" rtlCol="0">
            <a:spAutoFit/>
          </a:bodyPr>
          <a:lstStyle/>
          <a:p>
            <a:pPr algn="ctr"/>
            <a:r>
              <a:rPr lang="en-US" dirty="0"/>
              <a:t>Definition of an </a:t>
            </a:r>
            <a:r>
              <a:rPr lang="en-US" b="1" i="1" dirty="0">
                <a:solidFill>
                  <a:srgbClr val="13501B"/>
                </a:solidFill>
              </a:rPr>
              <a:t>abstract model</a:t>
            </a:r>
            <a:endParaRPr lang="it-IT" b="1" i="1" dirty="0">
              <a:solidFill>
                <a:srgbClr val="13501B"/>
              </a:solidFill>
            </a:endParaRPr>
          </a:p>
        </p:txBody>
      </p:sp>
      <p:sp>
        <p:nvSpPr>
          <p:cNvPr id="6" name="Ovale 5">
            <a:extLst>
              <a:ext uri="{FF2B5EF4-FFF2-40B4-BE49-F238E27FC236}">
                <a16:creationId xmlns:a16="http://schemas.microsoft.com/office/drawing/2014/main" id="{AEF54192-EA9D-C59D-71F2-E3BDC47C02C5}"/>
              </a:ext>
            </a:extLst>
          </p:cNvPr>
          <p:cNvSpPr/>
          <p:nvPr/>
        </p:nvSpPr>
        <p:spPr>
          <a:xfrm>
            <a:off x="6180458" y="3331306"/>
            <a:ext cx="3600000" cy="2956374"/>
          </a:xfrm>
          <a:prstGeom prst="ellipse">
            <a:avLst/>
          </a:prstGeom>
          <a:solidFill>
            <a:schemeClr val="bg1"/>
          </a:solidFill>
          <a:ln w="28575">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it-IT" dirty="0">
                <a:ln>
                  <a:solidFill>
                    <a:srgbClr val="13501B"/>
                  </a:solidFill>
                </a:ln>
                <a:solidFill>
                  <a:srgbClr val="13501B"/>
                </a:solidFill>
              </a:rPr>
              <a:t>Software </a:t>
            </a:r>
            <a:r>
              <a:rPr lang="it-IT" dirty="0" err="1">
                <a:ln>
                  <a:solidFill>
                    <a:srgbClr val="13501B"/>
                  </a:solidFill>
                </a:ln>
                <a:solidFill>
                  <a:srgbClr val="13501B"/>
                </a:solidFill>
              </a:rPr>
              <a:t>architecture</a:t>
            </a:r>
            <a:r>
              <a:rPr lang="it-IT" dirty="0">
                <a:ln>
                  <a:solidFill>
                    <a:srgbClr val="13501B"/>
                  </a:solidFill>
                </a:ln>
                <a:solidFill>
                  <a:srgbClr val="13501B"/>
                </a:solidFill>
              </a:rPr>
              <a:t> </a:t>
            </a:r>
          </a:p>
        </p:txBody>
      </p:sp>
      <p:sp>
        <p:nvSpPr>
          <p:cNvPr id="8" name="CasellaDiTesto 7">
            <a:extLst>
              <a:ext uri="{FF2B5EF4-FFF2-40B4-BE49-F238E27FC236}">
                <a16:creationId xmlns:a16="http://schemas.microsoft.com/office/drawing/2014/main" id="{8D5EBEF8-4AC4-C075-64BD-21514439826C}"/>
              </a:ext>
            </a:extLst>
          </p:cNvPr>
          <p:cNvSpPr txBox="1"/>
          <p:nvPr/>
        </p:nvSpPr>
        <p:spPr>
          <a:xfrm>
            <a:off x="6517793" y="4092345"/>
            <a:ext cx="3128012" cy="1754326"/>
          </a:xfrm>
          <a:prstGeom prst="rect">
            <a:avLst/>
          </a:prstGeom>
          <a:noFill/>
        </p:spPr>
        <p:txBody>
          <a:bodyPr wrap="square" rtlCol="0">
            <a:spAutoFit/>
          </a:bodyPr>
          <a:lstStyle/>
          <a:p>
            <a:pPr marL="285750" indent="-285750">
              <a:buFont typeface="Arial" panose="020B0604020202020204" pitchFamily="34" charset="0"/>
              <a:buChar char="•"/>
            </a:pPr>
            <a:r>
              <a:rPr lang="it-IT" dirty="0" err="1"/>
              <a:t>Ensure</a:t>
            </a:r>
            <a:r>
              <a:rPr lang="it-IT" dirty="0"/>
              <a:t> the </a:t>
            </a:r>
            <a:r>
              <a:rPr lang="it-IT" dirty="0" err="1"/>
              <a:t>structural</a:t>
            </a:r>
            <a:r>
              <a:rPr lang="it-IT" dirty="0"/>
              <a:t> </a:t>
            </a:r>
            <a:r>
              <a:rPr lang="it-IT" dirty="0" err="1"/>
              <a:t>consistency</a:t>
            </a:r>
            <a:r>
              <a:rPr lang="it-IT" dirty="0"/>
              <a:t> of pipelines</a:t>
            </a:r>
          </a:p>
          <a:p>
            <a:pPr marL="285750" indent="-285750">
              <a:buFont typeface="Arial" panose="020B0604020202020204" pitchFamily="34" charset="0"/>
              <a:buChar char="•"/>
            </a:pPr>
            <a:r>
              <a:rPr lang="it-IT" dirty="0"/>
              <a:t>Guide the user </a:t>
            </a:r>
            <a:r>
              <a:rPr lang="it-IT" dirty="0" err="1"/>
              <a:t>during</a:t>
            </a:r>
            <a:r>
              <a:rPr lang="it-IT" dirty="0"/>
              <a:t> the </a:t>
            </a:r>
            <a:r>
              <a:rPr lang="it-IT" dirty="0" err="1"/>
              <a:t>composition</a:t>
            </a:r>
            <a:r>
              <a:rPr lang="it-IT" dirty="0"/>
              <a:t> </a:t>
            </a:r>
            <a:r>
              <a:rPr lang="it-IT" dirty="0" err="1"/>
              <a:t>process</a:t>
            </a:r>
            <a:endParaRPr lang="it-IT" dirty="0"/>
          </a:p>
          <a:p>
            <a:pPr marL="285750" indent="-285750">
              <a:buFont typeface="Arial" panose="020B0604020202020204" pitchFamily="34" charset="0"/>
              <a:buChar char="•"/>
            </a:pPr>
            <a:r>
              <a:rPr lang="it-IT" dirty="0" err="1"/>
              <a:t>Promote</a:t>
            </a:r>
            <a:r>
              <a:rPr lang="it-IT" dirty="0"/>
              <a:t> the </a:t>
            </a:r>
            <a:r>
              <a:rPr lang="it-IT" dirty="0" err="1"/>
              <a:t>reuse</a:t>
            </a:r>
            <a:r>
              <a:rPr lang="it-IT" dirty="0"/>
              <a:t> of </a:t>
            </a:r>
            <a:r>
              <a:rPr lang="it-IT" dirty="0" err="1"/>
              <a:t>elements</a:t>
            </a:r>
            <a:endParaRPr lang="it-IT" dirty="0"/>
          </a:p>
        </p:txBody>
      </p:sp>
      <p:cxnSp>
        <p:nvCxnSpPr>
          <p:cNvPr id="9" name="Connettore 2 8">
            <a:extLst>
              <a:ext uri="{FF2B5EF4-FFF2-40B4-BE49-F238E27FC236}">
                <a16:creationId xmlns:a16="http://schemas.microsoft.com/office/drawing/2014/main" id="{688947B1-9EE0-19E7-65D4-49A098252BB0}"/>
              </a:ext>
            </a:extLst>
          </p:cNvPr>
          <p:cNvCxnSpPr>
            <a:cxnSpLocks/>
            <a:stCxn id="4" idx="2"/>
            <a:endCxn id="5" idx="0"/>
          </p:cNvCxnSpPr>
          <p:nvPr/>
        </p:nvCxnSpPr>
        <p:spPr>
          <a:xfrm flipH="1">
            <a:off x="3971469" y="2764069"/>
            <a:ext cx="1936640" cy="1820719"/>
          </a:xfrm>
          <a:prstGeom prst="straightConnector1">
            <a:avLst/>
          </a:prstGeom>
          <a:ln w="28575">
            <a:solidFill>
              <a:srgbClr val="215F9A"/>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ttore 2 15">
            <a:extLst>
              <a:ext uri="{FF2B5EF4-FFF2-40B4-BE49-F238E27FC236}">
                <a16:creationId xmlns:a16="http://schemas.microsoft.com/office/drawing/2014/main" id="{E34B9E01-0C37-D91B-DA5B-90AF31FF38CE}"/>
              </a:ext>
            </a:extLst>
          </p:cNvPr>
          <p:cNvCxnSpPr>
            <a:cxnSpLocks/>
            <a:stCxn id="4" idx="2"/>
            <a:endCxn id="6" idx="1"/>
          </p:cNvCxnSpPr>
          <p:nvPr/>
        </p:nvCxnSpPr>
        <p:spPr>
          <a:xfrm>
            <a:off x="5908109" y="2764069"/>
            <a:ext cx="799557" cy="1000188"/>
          </a:xfrm>
          <a:prstGeom prst="straightConnector1">
            <a:avLst/>
          </a:prstGeom>
          <a:ln w="28575">
            <a:solidFill>
              <a:srgbClr val="215F9A"/>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647930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6AF28-10D0-391A-17EB-19DEC2552F22}"/>
            </a:ext>
          </a:extLst>
        </p:cNvPr>
        <p:cNvGrpSpPr/>
        <p:nvPr/>
      </p:nvGrpSpPr>
      <p:grpSpPr>
        <a:xfrm>
          <a:off x="0" y="0"/>
          <a:ext cx="0" cy="0"/>
          <a:chOff x="0" y="0"/>
          <a:chExt cx="0" cy="0"/>
        </a:xfrm>
      </p:grpSpPr>
      <p:pic>
        <p:nvPicPr>
          <p:cNvPr id="7" name="Immagine 6">
            <a:extLst>
              <a:ext uri="{FF2B5EF4-FFF2-40B4-BE49-F238E27FC236}">
                <a16:creationId xmlns:a16="http://schemas.microsoft.com/office/drawing/2014/main" id="{568F6E58-7325-F88E-C733-C8A6EF53DA29}"/>
              </a:ext>
            </a:extLst>
          </p:cNvPr>
          <p:cNvPicPr>
            <a:picLocks noChangeAspect="1"/>
          </p:cNvPicPr>
          <p:nvPr/>
        </p:nvPicPr>
        <p:blipFill>
          <a:blip r:embed="rId3">
            <a:alphaModFix amt="80000"/>
          </a:blip>
          <a:srcRect l="4925" t="9494" r="4014" b="8347"/>
          <a:stretch>
            <a:fillRect/>
          </a:stretch>
        </p:blipFill>
        <p:spPr>
          <a:xfrm>
            <a:off x="529138" y="554182"/>
            <a:ext cx="11302640" cy="5726545"/>
          </a:xfrm>
          <a:prstGeom prst="rect">
            <a:avLst/>
          </a:prstGeom>
        </p:spPr>
      </p:pic>
      <p:sp>
        <p:nvSpPr>
          <p:cNvPr id="20" name="Figura a mano libera: forma 19">
            <a:extLst>
              <a:ext uri="{FF2B5EF4-FFF2-40B4-BE49-F238E27FC236}">
                <a16:creationId xmlns:a16="http://schemas.microsoft.com/office/drawing/2014/main" id="{401F1F40-FAAA-F54F-4504-0E8BBD2C6529}"/>
              </a:ext>
            </a:extLst>
          </p:cNvPr>
          <p:cNvSpPr/>
          <p:nvPr/>
        </p:nvSpPr>
        <p:spPr>
          <a:xfrm>
            <a:off x="9516976" y="-20529"/>
            <a:ext cx="2675023" cy="1479328"/>
          </a:xfrm>
          <a:custGeom>
            <a:avLst/>
            <a:gdLst>
              <a:gd name="csX0" fmla="*/ 0 w 2675023"/>
              <a:gd name="csY0" fmla="*/ 0 h 1479328"/>
              <a:gd name="csX1" fmla="*/ 2675023 w 2675023"/>
              <a:gd name="csY1" fmla="*/ 0 h 1479328"/>
              <a:gd name="csX2" fmla="*/ 2675023 w 2675023"/>
              <a:gd name="csY2" fmla="*/ 283633 h 1479328"/>
              <a:gd name="csX3" fmla="*/ 1479328 w 2675023"/>
              <a:gd name="csY3" fmla="*/ 1479328 h 1479328"/>
            </a:gdLst>
            <a:ahLst/>
            <a:cxnLst>
              <a:cxn ang="0">
                <a:pos x="csX0" y="csY0"/>
              </a:cxn>
              <a:cxn ang="0">
                <a:pos x="csX1" y="csY1"/>
              </a:cxn>
              <a:cxn ang="0">
                <a:pos x="csX2" y="csY2"/>
              </a:cxn>
              <a:cxn ang="0">
                <a:pos x="csX3" y="csY3"/>
              </a:cxn>
            </a:cxnLst>
            <a:rect l="l" t="t" r="r" b="b"/>
            <a:pathLst>
              <a:path w="2675023" h="1479328">
                <a:moveTo>
                  <a:pt x="0" y="0"/>
                </a:moveTo>
                <a:lnTo>
                  <a:pt x="2675023" y="0"/>
                </a:lnTo>
                <a:lnTo>
                  <a:pt x="2675023" y="283633"/>
                </a:lnTo>
                <a:lnTo>
                  <a:pt x="1479328" y="1479328"/>
                </a:lnTo>
                <a:close/>
              </a:path>
            </a:pathLst>
          </a:cu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3" name="Figura a mano libera: forma 22">
            <a:extLst>
              <a:ext uri="{FF2B5EF4-FFF2-40B4-BE49-F238E27FC236}">
                <a16:creationId xmlns:a16="http://schemas.microsoft.com/office/drawing/2014/main" id="{79F562DA-6717-E420-F05F-1917397FEC71}"/>
              </a:ext>
            </a:extLst>
          </p:cNvPr>
          <p:cNvSpPr/>
          <p:nvPr/>
        </p:nvSpPr>
        <p:spPr>
          <a:xfrm>
            <a:off x="6989459" y="5941826"/>
            <a:ext cx="1832348" cy="916174"/>
          </a:xfrm>
          <a:custGeom>
            <a:avLst/>
            <a:gdLst>
              <a:gd name="csX0" fmla="*/ 916174 w 1832348"/>
              <a:gd name="csY0" fmla="*/ 0 h 916174"/>
              <a:gd name="csX1" fmla="*/ 1832348 w 1832348"/>
              <a:gd name="csY1" fmla="*/ 916174 h 916174"/>
              <a:gd name="csX2" fmla="*/ 0 w 1832348"/>
              <a:gd name="csY2" fmla="*/ 916174 h 916174"/>
            </a:gdLst>
            <a:ahLst/>
            <a:cxnLst>
              <a:cxn ang="0">
                <a:pos x="csX0" y="csY0"/>
              </a:cxn>
              <a:cxn ang="0">
                <a:pos x="csX1" y="csY1"/>
              </a:cxn>
              <a:cxn ang="0">
                <a:pos x="csX2" y="csY2"/>
              </a:cxn>
            </a:cxnLst>
            <a:rect l="l" t="t" r="r" b="b"/>
            <a:pathLst>
              <a:path w="1832348" h="916174">
                <a:moveTo>
                  <a:pt x="916174" y="0"/>
                </a:moveTo>
                <a:lnTo>
                  <a:pt x="1832348" y="916174"/>
                </a:lnTo>
                <a:lnTo>
                  <a:pt x="0" y="91617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6" name="Figura a mano libera: forma 25">
            <a:extLst>
              <a:ext uri="{FF2B5EF4-FFF2-40B4-BE49-F238E27FC236}">
                <a16:creationId xmlns:a16="http://schemas.microsoft.com/office/drawing/2014/main" id="{86B1B73B-9141-5CDA-8968-CE503B1420E1}"/>
              </a:ext>
            </a:extLst>
          </p:cNvPr>
          <p:cNvSpPr/>
          <p:nvPr/>
        </p:nvSpPr>
        <p:spPr>
          <a:xfrm>
            <a:off x="6713034" y="6581576"/>
            <a:ext cx="552849" cy="276424"/>
          </a:xfrm>
          <a:custGeom>
            <a:avLst/>
            <a:gdLst>
              <a:gd name="csX0" fmla="*/ 276424 w 552849"/>
              <a:gd name="csY0" fmla="*/ 0 h 276424"/>
              <a:gd name="csX1" fmla="*/ 552849 w 552849"/>
              <a:gd name="csY1" fmla="*/ 276424 h 276424"/>
              <a:gd name="csX2" fmla="*/ 0 w 552849"/>
              <a:gd name="csY2" fmla="*/ 276424 h 276424"/>
            </a:gdLst>
            <a:ahLst/>
            <a:cxnLst>
              <a:cxn ang="0">
                <a:pos x="csX0" y="csY0"/>
              </a:cxn>
              <a:cxn ang="0">
                <a:pos x="csX1" y="csY1"/>
              </a:cxn>
              <a:cxn ang="0">
                <a:pos x="csX2" y="csY2"/>
              </a:cxn>
            </a:cxnLst>
            <a:rect l="l" t="t" r="r" b="b"/>
            <a:pathLst>
              <a:path w="552849" h="276424">
                <a:moveTo>
                  <a:pt x="276424" y="0"/>
                </a:moveTo>
                <a:lnTo>
                  <a:pt x="552849" y="276424"/>
                </a:lnTo>
                <a:lnTo>
                  <a:pt x="0" y="27642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8" name="Rettangolo 27">
            <a:extLst>
              <a:ext uri="{FF2B5EF4-FFF2-40B4-BE49-F238E27FC236}">
                <a16:creationId xmlns:a16="http://schemas.microsoft.com/office/drawing/2014/main" id="{53F4416E-E2BB-00E7-05CA-1F83315E6B33}"/>
              </a:ext>
            </a:extLst>
          </p:cNvPr>
          <p:cNvSpPr/>
          <p:nvPr/>
        </p:nvSpPr>
        <p:spPr>
          <a:xfrm rot="2700000">
            <a:off x="10282723" y="756077"/>
            <a:ext cx="576000" cy="576000"/>
          </a:xfrm>
          <a:prstGeom prst="rect">
            <a:avLst/>
          </a:pr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igura a mano libera: forma 14">
            <a:extLst>
              <a:ext uri="{FF2B5EF4-FFF2-40B4-BE49-F238E27FC236}">
                <a16:creationId xmlns:a16="http://schemas.microsoft.com/office/drawing/2014/main" id="{8DD72410-2D3A-F40B-2915-CF3CFF6ED55C}"/>
              </a:ext>
            </a:extLst>
          </p:cNvPr>
          <p:cNvSpPr/>
          <p:nvPr/>
        </p:nvSpPr>
        <p:spPr>
          <a:xfrm>
            <a:off x="1" y="1"/>
            <a:ext cx="1637673" cy="1584633"/>
          </a:xfrm>
          <a:custGeom>
            <a:avLst/>
            <a:gdLst>
              <a:gd name="csX0" fmla="*/ 0 w 1637673"/>
              <a:gd name="csY0" fmla="*/ 0 h 1584633"/>
              <a:gd name="csX1" fmla="*/ 1325832 w 1637673"/>
              <a:gd name="csY1" fmla="*/ 0 h 1584633"/>
              <a:gd name="csX2" fmla="*/ 1637673 w 1637673"/>
              <a:gd name="csY2" fmla="*/ 311841 h 1584633"/>
              <a:gd name="csX3" fmla="*/ 364881 w 1637673"/>
              <a:gd name="csY3" fmla="*/ 1584633 h 1584633"/>
              <a:gd name="csX4" fmla="*/ 0 w 1637673"/>
              <a:gd name="csY4" fmla="*/ 1219752 h 1584633"/>
            </a:gdLst>
            <a:ahLst/>
            <a:cxnLst>
              <a:cxn ang="0">
                <a:pos x="csX0" y="csY0"/>
              </a:cxn>
              <a:cxn ang="0">
                <a:pos x="csX1" y="csY1"/>
              </a:cxn>
              <a:cxn ang="0">
                <a:pos x="csX2" y="csY2"/>
              </a:cxn>
              <a:cxn ang="0">
                <a:pos x="csX3" y="csY3"/>
              </a:cxn>
              <a:cxn ang="0">
                <a:pos x="csX4" y="csY4"/>
              </a:cxn>
            </a:cxnLst>
            <a:rect l="l" t="t" r="r" b="b"/>
            <a:pathLst>
              <a:path w="1637673" h="1584633">
                <a:moveTo>
                  <a:pt x="0" y="0"/>
                </a:moveTo>
                <a:lnTo>
                  <a:pt x="1325832" y="0"/>
                </a:lnTo>
                <a:lnTo>
                  <a:pt x="1637673" y="311841"/>
                </a:lnTo>
                <a:lnTo>
                  <a:pt x="364881" y="1584633"/>
                </a:lnTo>
                <a:lnTo>
                  <a:pt x="0" y="1219752"/>
                </a:lnTo>
                <a:close/>
              </a:path>
            </a:pathLst>
          </a:cu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7" name="Rettangolo 26">
            <a:extLst>
              <a:ext uri="{FF2B5EF4-FFF2-40B4-BE49-F238E27FC236}">
                <a16:creationId xmlns:a16="http://schemas.microsoft.com/office/drawing/2014/main" id="{AA326CE1-CCEC-3BE8-58A4-566CAD5E9433}"/>
              </a:ext>
            </a:extLst>
          </p:cNvPr>
          <p:cNvSpPr/>
          <p:nvPr/>
        </p:nvSpPr>
        <p:spPr>
          <a:xfrm rot="2700000">
            <a:off x="942381" y="431135"/>
            <a:ext cx="576000" cy="576000"/>
          </a:xfrm>
          <a:prstGeom prst="rect">
            <a:avLst/>
          </a:pr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BCC48AE7-C0E8-A7BA-6563-81AA71CB724D}"/>
              </a:ext>
            </a:extLst>
          </p:cNvPr>
          <p:cNvSpPr>
            <a:spLocks noGrp="1"/>
          </p:cNvSpPr>
          <p:nvPr>
            <p:ph type="title"/>
          </p:nvPr>
        </p:nvSpPr>
        <p:spPr>
          <a:xfrm>
            <a:off x="818837" y="584730"/>
            <a:ext cx="10515600" cy="1325563"/>
          </a:xfrm>
        </p:spPr>
        <p:txBody>
          <a:bodyPr/>
          <a:lstStyle/>
          <a:p>
            <a:r>
              <a:rPr lang="it-IT" i="1" dirty="0"/>
              <a:t>The Model - </a:t>
            </a:r>
            <a:r>
              <a:rPr lang="it-IT" i="1" dirty="0" err="1"/>
              <a:t>Entities</a:t>
            </a:r>
            <a:endParaRPr lang="it-IT" i="1" dirty="0"/>
          </a:p>
        </p:txBody>
      </p:sp>
      <p:sp>
        <p:nvSpPr>
          <p:cNvPr id="3" name="Rettangolo con angoli arrotondati 2">
            <a:extLst>
              <a:ext uri="{FF2B5EF4-FFF2-40B4-BE49-F238E27FC236}">
                <a16:creationId xmlns:a16="http://schemas.microsoft.com/office/drawing/2014/main" id="{CE2BFE95-32BF-47BB-7D16-DECF50508C6E}"/>
              </a:ext>
            </a:extLst>
          </p:cNvPr>
          <p:cNvSpPr/>
          <p:nvPr/>
        </p:nvSpPr>
        <p:spPr>
          <a:xfrm>
            <a:off x="838200" y="1702526"/>
            <a:ext cx="10139817" cy="612934"/>
          </a:xfrm>
          <a:prstGeom prst="roundRect">
            <a:avLst/>
          </a:prstGeom>
          <a:solidFill>
            <a:schemeClr val="bg1"/>
          </a:solidFill>
          <a:ln w="28575">
            <a:solidFill>
              <a:srgbClr val="215F9A"/>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it-IT" sz="3000" b="1" i="1" dirty="0" err="1">
                <a:solidFill>
                  <a:srgbClr val="13501B"/>
                </a:solidFill>
              </a:rPr>
              <a:t>Context</a:t>
            </a:r>
            <a:endParaRPr lang="it-IT" sz="3000" b="1" i="1" dirty="0">
              <a:solidFill>
                <a:srgbClr val="13501B"/>
              </a:solidFill>
            </a:endParaRPr>
          </a:p>
        </p:txBody>
      </p:sp>
      <p:sp>
        <p:nvSpPr>
          <p:cNvPr id="9" name="Rettangolo con angoli arrotondati 8">
            <a:extLst>
              <a:ext uri="{FF2B5EF4-FFF2-40B4-BE49-F238E27FC236}">
                <a16:creationId xmlns:a16="http://schemas.microsoft.com/office/drawing/2014/main" id="{6E7994CB-B804-B1CF-E895-95C13A5AE6E1}"/>
              </a:ext>
            </a:extLst>
          </p:cNvPr>
          <p:cNvSpPr/>
          <p:nvPr/>
        </p:nvSpPr>
        <p:spPr>
          <a:xfrm>
            <a:off x="1420061" y="2955115"/>
            <a:ext cx="2520000" cy="1260000"/>
          </a:xfrm>
          <a:prstGeom prst="roundRect">
            <a:avLst/>
          </a:prstGeom>
          <a:solidFill>
            <a:schemeClr val="bg1"/>
          </a:solidFill>
          <a:ln w="28575">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3000" b="1" i="1" dirty="0">
                <a:solidFill>
                  <a:srgbClr val="13501B"/>
                </a:solidFill>
              </a:rPr>
              <a:t>ObjectType</a:t>
            </a:r>
          </a:p>
        </p:txBody>
      </p:sp>
      <p:sp>
        <p:nvSpPr>
          <p:cNvPr id="10" name="Rettangolo con angoli arrotondati 9">
            <a:extLst>
              <a:ext uri="{FF2B5EF4-FFF2-40B4-BE49-F238E27FC236}">
                <a16:creationId xmlns:a16="http://schemas.microsoft.com/office/drawing/2014/main" id="{82E2F0F8-6CED-2C9F-099A-0E3F9294A026}"/>
              </a:ext>
            </a:extLst>
          </p:cNvPr>
          <p:cNvSpPr/>
          <p:nvPr/>
        </p:nvSpPr>
        <p:spPr>
          <a:xfrm>
            <a:off x="7643429" y="2955115"/>
            <a:ext cx="2520000" cy="1260000"/>
          </a:xfrm>
          <a:prstGeom prst="roundRect">
            <a:avLst/>
          </a:prstGeom>
          <a:solidFill>
            <a:schemeClr val="bg1"/>
          </a:solidFill>
          <a:ln w="28575">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3000" b="1" i="1" dirty="0" err="1">
                <a:solidFill>
                  <a:srgbClr val="13501B"/>
                </a:solidFill>
              </a:rPr>
              <a:t>Algorithm</a:t>
            </a:r>
            <a:endParaRPr lang="it-IT" sz="3000" b="1" i="1" dirty="0">
              <a:solidFill>
                <a:srgbClr val="13501B"/>
              </a:solidFill>
            </a:endParaRPr>
          </a:p>
        </p:txBody>
      </p:sp>
      <p:sp>
        <p:nvSpPr>
          <p:cNvPr id="11" name="Rettangolo con angoli arrotondati 10">
            <a:extLst>
              <a:ext uri="{FF2B5EF4-FFF2-40B4-BE49-F238E27FC236}">
                <a16:creationId xmlns:a16="http://schemas.microsoft.com/office/drawing/2014/main" id="{438A99D4-2C31-FBE5-592D-7111EFC71D57}"/>
              </a:ext>
            </a:extLst>
          </p:cNvPr>
          <p:cNvSpPr/>
          <p:nvPr/>
        </p:nvSpPr>
        <p:spPr>
          <a:xfrm>
            <a:off x="4648108" y="4526528"/>
            <a:ext cx="2520000" cy="1260000"/>
          </a:xfrm>
          <a:prstGeom prst="roundRect">
            <a:avLst/>
          </a:prstGeom>
          <a:solidFill>
            <a:schemeClr val="bg1"/>
          </a:solidFill>
          <a:ln w="28575">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3000" b="1" i="1" dirty="0">
                <a:solidFill>
                  <a:srgbClr val="13501B"/>
                </a:solidFill>
              </a:rPr>
              <a:t>Pipeline</a:t>
            </a:r>
          </a:p>
        </p:txBody>
      </p:sp>
    </p:spTree>
    <p:extLst>
      <p:ext uri="{BB962C8B-B14F-4D97-AF65-F5344CB8AC3E}">
        <p14:creationId xmlns:p14="http://schemas.microsoft.com/office/powerpoint/2010/main" val="184468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F309C-1F60-A228-F7F7-E1BDEB08949F}"/>
            </a:ext>
          </a:extLst>
        </p:cNvPr>
        <p:cNvGrpSpPr/>
        <p:nvPr/>
      </p:nvGrpSpPr>
      <p:grpSpPr>
        <a:xfrm>
          <a:off x="0" y="0"/>
          <a:ext cx="0" cy="0"/>
          <a:chOff x="0" y="0"/>
          <a:chExt cx="0" cy="0"/>
        </a:xfrm>
      </p:grpSpPr>
      <p:pic>
        <p:nvPicPr>
          <p:cNvPr id="7" name="Immagine 6">
            <a:extLst>
              <a:ext uri="{FF2B5EF4-FFF2-40B4-BE49-F238E27FC236}">
                <a16:creationId xmlns:a16="http://schemas.microsoft.com/office/drawing/2014/main" id="{E1F1798C-DE87-F9E2-F44C-716E1490F3AA}"/>
              </a:ext>
            </a:extLst>
          </p:cNvPr>
          <p:cNvPicPr>
            <a:picLocks noChangeAspect="1"/>
          </p:cNvPicPr>
          <p:nvPr/>
        </p:nvPicPr>
        <p:blipFill>
          <a:blip r:embed="rId3">
            <a:alphaModFix amt="80000"/>
          </a:blip>
          <a:srcRect l="4925" t="9494" r="4014" b="8347"/>
          <a:stretch>
            <a:fillRect/>
          </a:stretch>
        </p:blipFill>
        <p:spPr>
          <a:xfrm>
            <a:off x="529138" y="554182"/>
            <a:ext cx="11302640" cy="5726545"/>
          </a:xfrm>
          <a:prstGeom prst="rect">
            <a:avLst/>
          </a:prstGeom>
        </p:spPr>
      </p:pic>
      <p:sp>
        <p:nvSpPr>
          <p:cNvPr id="4" name="Rettangolo con angoli arrotondati 3">
            <a:extLst>
              <a:ext uri="{FF2B5EF4-FFF2-40B4-BE49-F238E27FC236}">
                <a16:creationId xmlns:a16="http://schemas.microsoft.com/office/drawing/2014/main" id="{4F78585D-989B-D002-A8BA-A3E837D8AD26}"/>
              </a:ext>
            </a:extLst>
          </p:cNvPr>
          <p:cNvSpPr/>
          <p:nvPr/>
        </p:nvSpPr>
        <p:spPr>
          <a:xfrm>
            <a:off x="818837" y="1700754"/>
            <a:ext cx="10139817" cy="4699159"/>
          </a:xfrm>
          <a:prstGeom prst="roundRect">
            <a:avLst/>
          </a:prstGeom>
          <a:solidFill>
            <a:srgbClr val="FFC000"/>
          </a:solidFill>
          <a:ln w="38100">
            <a:solidFill>
              <a:srgbClr val="215F9A"/>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it-IT" sz="3000" b="1" i="1" dirty="0" err="1">
                <a:solidFill>
                  <a:srgbClr val="13501B"/>
                </a:solidFill>
              </a:rPr>
              <a:t>Context</a:t>
            </a:r>
            <a:endParaRPr lang="it-IT" sz="3000" b="1" i="1" dirty="0">
              <a:solidFill>
                <a:srgbClr val="13501B"/>
              </a:solidFill>
            </a:endParaRPr>
          </a:p>
          <a:p>
            <a:pPr algn="ctr"/>
            <a:endParaRPr lang="it-IT" sz="3000" b="1" i="1" dirty="0"/>
          </a:p>
          <a:p>
            <a:pPr algn="ctr"/>
            <a:endParaRPr lang="it-IT" sz="3000" b="1" i="1" dirty="0">
              <a:solidFill>
                <a:schemeClr val="dk1"/>
              </a:solidFill>
            </a:endParaRPr>
          </a:p>
          <a:p>
            <a:pPr algn="ctr"/>
            <a:endParaRPr lang="it-IT" sz="3000" b="1" i="1" dirty="0"/>
          </a:p>
          <a:p>
            <a:pPr algn="ctr"/>
            <a:endParaRPr lang="it-IT" sz="3000" b="1" i="1" dirty="0">
              <a:solidFill>
                <a:schemeClr val="dk1"/>
              </a:solidFill>
            </a:endParaRPr>
          </a:p>
          <a:p>
            <a:pPr algn="ctr"/>
            <a:endParaRPr lang="it-IT" sz="3000" b="1" i="1" dirty="0"/>
          </a:p>
          <a:p>
            <a:pPr algn="ctr"/>
            <a:endParaRPr lang="it-IT" sz="3000" b="1" i="1" dirty="0">
              <a:solidFill>
                <a:schemeClr val="dk1"/>
              </a:solidFill>
            </a:endParaRPr>
          </a:p>
          <a:p>
            <a:pPr algn="ctr"/>
            <a:endParaRPr lang="it-IT" sz="3000" b="1" i="1" dirty="0"/>
          </a:p>
          <a:p>
            <a:pPr algn="ctr"/>
            <a:endParaRPr lang="it-IT" sz="3000" b="1" i="1" dirty="0">
              <a:solidFill>
                <a:schemeClr val="dk1"/>
              </a:solidFill>
            </a:endParaRPr>
          </a:p>
        </p:txBody>
      </p:sp>
      <p:sp>
        <p:nvSpPr>
          <p:cNvPr id="20" name="Figura a mano libera: forma 19">
            <a:extLst>
              <a:ext uri="{FF2B5EF4-FFF2-40B4-BE49-F238E27FC236}">
                <a16:creationId xmlns:a16="http://schemas.microsoft.com/office/drawing/2014/main" id="{9203A58B-3A70-D356-E91B-0C89B6427EBC}"/>
              </a:ext>
            </a:extLst>
          </p:cNvPr>
          <p:cNvSpPr/>
          <p:nvPr/>
        </p:nvSpPr>
        <p:spPr>
          <a:xfrm>
            <a:off x="9516976" y="-20529"/>
            <a:ext cx="2675023" cy="1479328"/>
          </a:xfrm>
          <a:custGeom>
            <a:avLst/>
            <a:gdLst>
              <a:gd name="csX0" fmla="*/ 0 w 2675023"/>
              <a:gd name="csY0" fmla="*/ 0 h 1479328"/>
              <a:gd name="csX1" fmla="*/ 2675023 w 2675023"/>
              <a:gd name="csY1" fmla="*/ 0 h 1479328"/>
              <a:gd name="csX2" fmla="*/ 2675023 w 2675023"/>
              <a:gd name="csY2" fmla="*/ 283633 h 1479328"/>
              <a:gd name="csX3" fmla="*/ 1479328 w 2675023"/>
              <a:gd name="csY3" fmla="*/ 1479328 h 1479328"/>
            </a:gdLst>
            <a:ahLst/>
            <a:cxnLst>
              <a:cxn ang="0">
                <a:pos x="csX0" y="csY0"/>
              </a:cxn>
              <a:cxn ang="0">
                <a:pos x="csX1" y="csY1"/>
              </a:cxn>
              <a:cxn ang="0">
                <a:pos x="csX2" y="csY2"/>
              </a:cxn>
              <a:cxn ang="0">
                <a:pos x="csX3" y="csY3"/>
              </a:cxn>
            </a:cxnLst>
            <a:rect l="l" t="t" r="r" b="b"/>
            <a:pathLst>
              <a:path w="2675023" h="1479328">
                <a:moveTo>
                  <a:pt x="0" y="0"/>
                </a:moveTo>
                <a:lnTo>
                  <a:pt x="2675023" y="0"/>
                </a:lnTo>
                <a:lnTo>
                  <a:pt x="2675023" y="283633"/>
                </a:lnTo>
                <a:lnTo>
                  <a:pt x="1479328" y="1479328"/>
                </a:lnTo>
                <a:close/>
              </a:path>
            </a:pathLst>
          </a:cu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3" name="Figura a mano libera: forma 22">
            <a:extLst>
              <a:ext uri="{FF2B5EF4-FFF2-40B4-BE49-F238E27FC236}">
                <a16:creationId xmlns:a16="http://schemas.microsoft.com/office/drawing/2014/main" id="{E1B33C03-5209-4178-6D8C-17ACD3FA0CC2}"/>
              </a:ext>
            </a:extLst>
          </p:cNvPr>
          <p:cNvSpPr/>
          <p:nvPr/>
        </p:nvSpPr>
        <p:spPr>
          <a:xfrm>
            <a:off x="6989459" y="5941826"/>
            <a:ext cx="1832348" cy="916174"/>
          </a:xfrm>
          <a:custGeom>
            <a:avLst/>
            <a:gdLst>
              <a:gd name="csX0" fmla="*/ 916174 w 1832348"/>
              <a:gd name="csY0" fmla="*/ 0 h 916174"/>
              <a:gd name="csX1" fmla="*/ 1832348 w 1832348"/>
              <a:gd name="csY1" fmla="*/ 916174 h 916174"/>
              <a:gd name="csX2" fmla="*/ 0 w 1832348"/>
              <a:gd name="csY2" fmla="*/ 916174 h 916174"/>
            </a:gdLst>
            <a:ahLst/>
            <a:cxnLst>
              <a:cxn ang="0">
                <a:pos x="csX0" y="csY0"/>
              </a:cxn>
              <a:cxn ang="0">
                <a:pos x="csX1" y="csY1"/>
              </a:cxn>
              <a:cxn ang="0">
                <a:pos x="csX2" y="csY2"/>
              </a:cxn>
            </a:cxnLst>
            <a:rect l="l" t="t" r="r" b="b"/>
            <a:pathLst>
              <a:path w="1832348" h="916174">
                <a:moveTo>
                  <a:pt x="916174" y="0"/>
                </a:moveTo>
                <a:lnTo>
                  <a:pt x="1832348" y="916174"/>
                </a:lnTo>
                <a:lnTo>
                  <a:pt x="0" y="91617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6" name="Figura a mano libera: forma 25">
            <a:extLst>
              <a:ext uri="{FF2B5EF4-FFF2-40B4-BE49-F238E27FC236}">
                <a16:creationId xmlns:a16="http://schemas.microsoft.com/office/drawing/2014/main" id="{28C539B3-488E-4773-44EB-C8D069EA8C50}"/>
              </a:ext>
            </a:extLst>
          </p:cNvPr>
          <p:cNvSpPr/>
          <p:nvPr/>
        </p:nvSpPr>
        <p:spPr>
          <a:xfrm>
            <a:off x="6713034" y="6581576"/>
            <a:ext cx="552849" cy="276424"/>
          </a:xfrm>
          <a:custGeom>
            <a:avLst/>
            <a:gdLst>
              <a:gd name="csX0" fmla="*/ 276424 w 552849"/>
              <a:gd name="csY0" fmla="*/ 0 h 276424"/>
              <a:gd name="csX1" fmla="*/ 552849 w 552849"/>
              <a:gd name="csY1" fmla="*/ 276424 h 276424"/>
              <a:gd name="csX2" fmla="*/ 0 w 552849"/>
              <a:gd name="csY2" fmla="*/ 276424 h 276424"/>
            </a:gdLst>
            <a:ahLst/>
            <a:cxnLst>
              <a:cxn ang="0">
                <a:pos x="csX0" y="csY0"/>
              </a:cxn>
              <a:cxn ang="0">
                <a:pos x="csX1" y="csY1"/>
              </a:cxn>
              <a:cxn ang="0">
                <a:pos x="csX2" y="csY2"/>
              </a:cxn>
            </a:cxnLst>
            <a:rect l="l" t="t" r="r" b="b"/>
            <a:pathLst>
              <a:path w="552849" h="276424">
                <a:moveTo>
                  <a:pt x="276424" y="0"/>
                </a:moveTo>
                <a:lnTo>
                  <a:pt x="552849" y="276424"/>
                </a:lnTo>
                <a:lnTo>
                  <a:pt x="0" y="27642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8" name="Rettangolo 27">
            <a:extLst>
              <a:ext uri="{FF2B5EF4-FFF2-40B4-BE49-F238E27FC236}">
                <a16:creationId xmlns:a16="http://schemas.microsoft.com/office/drawing/2014/main" id="{894E6C52-6F6B-9427-D823-8107BE0EDEC0}"/>
              </a:ext>
            </a:extLst>
          </p:cNvPr>
          <p:cNvSpPr/>
          <p:nvPr/>
        </p:nvSpPr>
        <p:spPr>
          <a:xfrm rot="2700000">
            <a:off x="10282723" y="756077"/>
            <a:ext cx="576000" cy="576000"/>
          </a:xfrm>
          <a:prstGeom prst="rect">
            <a:avLst/>
          </a:pr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igura a mano libera: forma 14">
            <a:extLst>
              <a:ext uri="{FF2B5EF4-FFF2-40B4-BE49-F238E27FC236}">
                <a16:creationId xmlns:a16="http://schemas.microsoft.com/office/drawing/2014/main" id="{FE2E069A-C9A0-15FB-EA75-8FF1BA4C7C78}"/>
              </a:ext>
            </a:extLst>
          </p:cNvPr>
          <p:cNvSpPr/>
          <p:nvPr/>
        </p:nvSpPr>
        <p:spPr>
          <a:xfrm>
            <a:off x="1" y="1"/>
            <a:ext cx="1637673" cy="1584633"/>
          </a:xfrm>
          <a:custGeom>
            <a:avLst/>
            <a:gdLst>
              <a:gd name="csX0" fmla="*/ 0 w 1637673"/>
              <a:gd name="csY0" fmla="*/ 0 h 1584633"/>
              <a:gd name="csX1" fmla="*/ 1325832 w 1637673"/>
              <a:gd name="csY1" fmla="*/ 0 h 1584633"/>
              <a:gd name="csX2" fmla="*/ 1637673 w 1637673"/>
              <a:gd name="csY2" fmla="*/ 311841 h 1584633"/>
              <a:gd name="csX3" fmla="*/ 364881 w 1637673"/>
              <a:gd name="csY3" fmla="*/ 1584633 h 1584633"/>
              <a:gd name="csX4" fmla="*/ 0 w 1637673"/>
              <a:gd name="csY4" fmla="*/ 1219752 h 1584633"/>
            </a:gdLst>
            <a:ahLst/>
            <a:cxnLst>
              <a:cxn ang="0">
                <a:pos x="csX0" y="csY0"/>
              </a:cxn>
              <a:cxn ang="0">
                <a:pos x="csX1" y="csY1"/>
              </a:cxn>
              <a:cxn ang="0">
                <a:pos x="csX2" y="csY2"/>
              </a:cxn>
              <a:cxn ang="0">
                <a:pos x="csX3" y="csY3"/>
              </a:cxn>
              <a:cxn ang="0">
                <a:pos x="csX4" y="csY4"/>
              </a:cxn>
            </a:cxnLst>
            <a:rect l="l" t="t" r="r" b="b"/>
            <a:pathLst>
              <a:path w="1637673" h="1584633">
                <a:moveTo>
                  <a:pt x="0" y="0"/>
                </a:moveTo>
                <a:lnTo>
                  <a:pt x="1325832" y="0"/>
                </a:lnTo>
                <a:lnTo>
                  <a:pt x="1637673" y="311841"/>
                </a:lnTo>
                <a:lnTo>
                  <a:pt x="364881" y="1584633"/>
                </a:lnTo>
                <a:lnTo>
                  <a:pt x="0" y="1219752"/>
                </a:lnTo>
                <a:close/>
              </a:path>
            </a:pathLst>
          </a:cu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7" name="Rettangolo 26">
            <a:extLst>
              <a:ext uri="{FF2B5EF4-FFF2-40B4-BE49-F238E27FC236}">
                <a16:creationId xmlns:a16="http://schemas.microsoft.com/office/drawing/2014/main" id="{E2165AA6-97A6-7538-4B3C-D8A89A9D661D}"/>
              </a:ext>
            </a:extLst>
          </p:cNvPr>
          <p:cNvSpPr/>
          <p:nvPr/>
        </p:nvSpPr>
        <p:spPr>
          <a:xfrm rot="2700000">
            <a:off x="942381" y="431135"/>
            <a:ext cx="576000" cy="576000"/>
          </a:xfrm>
          <a:prstGeom prst="rect">
            <a:avLst/>
          </a:pr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D156AD0A-E038-0DC9-B71B-4A38BA353814}"/>
              </a:ext>
            </a:extLst>
          </p:cNvPr>
          <p:cNvSpPr>
            <a:spLocks noGrp="1"/>
          </p:cNvSpPr>
          <p:nvPr>
            <p:ph type="title"/>
          </p:nvPr>
        </p:nvSpPr>
        <p:spPr>
          <a:xfrm>
            <a:off x="818837" y="584730"/>
            <a:ext cx="10515600" cy="1325563"/>
          </a:xfrm>
        </p:spPr>
        <p:txBody>
          <a:bodyPr/>
          <a:lstStyle/>
          <a:p>
            <a:r>
              <a:rPr lang="it-IT" i="1" dirty="0"/>
              <a:t>The Model - </a:t>
            </a:r>
            <a:r>
              <a:rPr lang="it-IT" i="1" dirty="0" err="1"/>
              <a:t>Entities</a:t>
            </a:r>
            <a:endParaRPr lang="it-IT" i="1" dirty="0"/>
          </a:p>
        </p:txBody>
      </p:sp>
      <p:sp>
        <p:nvSpPr>
          <p:cNvPr id="9" name="Rettangolo con angoli arrotondati 8">
            <a:extLst>
              <a:ext uri="{FF2B5EF4-FFF2-40B4-BE49-F238E27FC236}">
                <a16:creationId xmlns:a16="http://schemas.microsoft.com/office/drawing/2014/main" id="{A4624D58-6B62-1291-9165-1C8C1AC8CE3F}"/>
              </a:ext>
            </a:extLst>
          </p:cNvPr>
          <p:cNvSpPr/>
          <p:nvPr/>
        </p:nvSpPr>
        <p:spPr>
          <a:xfrm>
            <a:off x="1420061" y="2955115"/>
            <a:ext cx="2520000" cy="1260000"/>
          </a:xfrm>
          <a:prstGeom prst="roundRect">
            <a:avLst/>
          </a:prstGeom>
          <a:solidFill>
            <a:schemeClr val="bg1"/>
          </a:solidFill>
          <a:ln w="28575">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3000" b="1" i="1" dirty="0">
                <a:solidFill>
                  <a:srgbClr val="13501B"/>
                </a:solidFill>
              </a:rPr>
              <a:t>ObjectType</a:t>
            </a:r>
          </a:p>
        </p:txBody>
      </p:sp>
      <p:sp>
        <p:nvSpPr>
          <p:cNvPr id="10" name="Rettangolo con angoli arrotondati 9">
            <a:extLst>
              <a:ext uri="{FF2B5EF4-FFF2-40B4-BE49-F238E27FC236}">
                <a16:creationId xmlns:a16="http://schemas.microsoft.com/office/drawing/2014/main" id="{50A4E349-2D99-F9F8-36EC-179D613D6098}"/>
              </a:ext>
            </a:extLst>
          </p:cNvPr>
          <p:cNvSpPr/>
          <p:nvPr/>
        </p:nvSpPr>
        <p:spPr>
          <a:xfrm>
            <a:off x="7643429" y="2955115"/>
            <a:ext cx="2520000" cy="1260000"/>
          </a:xfrm>
          <a:prstGeom prst="roundRect">
            <a:avLst/>
          </a:prstGeom>
          <a:solidFill>
            <a:schemeClr val="bg1"/>
          </a:solidFill>
          <a:ln w="28575">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3000" b="1" i="1" dirty="0" err="1">
                <a:solidFill>
                  <a:srgbClr val="13501B"/>
                </a:solidFill>
              </a:rPr>
              <a:t>Algorithm</a:t>
            </a:r>
            <a:endParaRPr lang="it-IT" sz="3000" b="1" i="1" dirty="0">
              <a:solidFill>
                <a:srgbClr val="13501B"/>
              </a:solidFill>
            </a:endParaRPr>
          </a:p>
        </p:txBody>
      </p:sp>
      <p:sp>
        <p:nvSpPr>
          <p:cNvPr id="11" name="Rettangolo con angoli arrotondati 10">
            <a:extLst>
              <a:ext uri="{FF2B5EF4-FFF2-40B4-BE49-F238E27FC236}">
                <a16:creationId xmlns:a16="http://schemas.microsoft.com/office/drawing/2014/main" id="{BB55FB30-9AF4-6030-7E30-F12E07C50C3E}"/>
              </a:ext>
            </a:extLst>
          </p:cNvPr>
          <p:cNvSpPr/>
          <p:nvPr/>
        </p:nvSpPr>
        <p:spPr>
          <a:xfrm>
            <a:off x="4648108" y="4526528"/>
            <a:ext cx="2520000" cy="1260000"/>
          </a:xfrm>
          <a:prstGeom prst="roundRect">
            <a:avLst/>
          </a:prstGeom>
          <a:solidFill>
            <a:schemeClr val="bg1"/>
          </a:solidFill>
          <a:ln w="28575">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3000" b="1" i="1" dirty="0">
                <a:solidFill>
                  <a:srgbClr val="13501B"/>
                </a:solidFill>
              </a:rPr>
              <a:t>Pipeline</a:t>
            </a:r>
          </a:p>
        </p:txBody>
      </p:sp>
    </p:spTree>
    <p:extLst>
      <p:ext uri="{BB962C8B-B14F-4D97-AF65-F5344CB8AC3E}">
        <p14:creationId xmlns:p14="http://schemas.microsoft.com/office/powerpoint/2010/main" val="7285821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5D925-80BD-CB13-2FAB-F97CFC55EF64}"/>
            </a:ext>
          </a:extLst>
        </p:cNvPr>
        <p:cNvGrpSpPr/>
        <p:nvPr/>
      </p:nvGrpSpPr>
      <p:grpSpPr>
        <a:xfrm>
          <a:off x="0" y="0"/>
          <a:ext cx="0" cy="0"/>
          <a:chOff x="0" y="0"/>
          <a:chExt cx="0" cy="0"/>
        </a:xfrm>
      </p:grpSpPr>
      <p:pic>
        <p:nvPicPr>
          <p:cNvPr id="5" name="Immagine 4">
            <a:extLst>
              <a:ext uri="{FF2B5EF4-FFF2-40B4-BE49-F238E27FC236}">
                <a16:creationId xmlns:a16="http://schemas.microsoft.com/office/drawing/2014/main" id="{B2134D25-8B35-EACB-BB74-452802D9A7EC}"/>
              </a:ext>
            </a:extLst>
          </p:cNvPr>
          <p:cNvPicPr>
            <a:picLocks noChangeAspect="1"/>
          </p:cNvPicPr>
          <p:nvPr/>
        </p:nvPicPr>
        <p:blipFill>
          <a:blip r:embed="rId3">
            <a:extLst>
              <a:ext uri="{28A0092B-C50C-407E-A947-70E740481C1C}">
                <a14:useLocalDpi xmlns:a14="http://schemas.microsoft.com/office/drawing/2010/main" val="0"/>
              </a:ext>
            </a:extLst>
          </a:blip>
          <a:srcRect l="13432" t="16178" r="12852" b="12214"/>
          <a:stretch>
            <a:fillRect/>
          </a:stretch>
        </p:blipFill>
        <p:spPr>
          <a:xfrm>
            <a:off x="1702105" y="1510852"/>
            <a:ext cx="8787789" cy="4656348"/>
          </a:xfrm>
          <a:prstGeom prst="rect">
            <a:avLst/>
          </a:prstGeom>
        </p:spPr>
      </p:pic>
      <p:sp>
        <p:nvSpPr>
          <p:cNvPr id="20" name="Figura a mano libera: forma 19">
            <a:extLst>
              <a:ext uri="{FF2B5EF4-FFF2-40B4-BE49-F238E27FC236}">
                <a16:creationId xmlns:a16="http://schemas.microsoft.com/office/drawing/2014/main" id="{BDCD83B2-F7FB-A08F-867C-6AB37046DF04}"/>
              </a:ext>
            </a:extLst>
          </p:cNvPr>
          <p:cNvSpPr/>
          <p:nvPr/>
        </p:nvSpPr>
        <p:spPr>
          <a:xfrm>
            <a:off x="9516976" y="-20529"/>
            <a:ext cx="2675023" cy="1479328"/>
          </a:xfrm>
          <a:custGeom>
            <a:avLst/>
            <a:gdLst>
              <a:gd name="csX0" fmla="*/ 0 w 2675023"/>
              <a:gd name="csY0" fmla="*/ 0 h 1479328"/>
              <a:gd name="csX1" fmla="*/ 2675023 w 2675023"/>
              <a:gd name="csY1" fmla="*/ 0 h 1479328"/>
              <a:gd name="csX2" fmla="*/ 2675023 w 2675023"/>
              <a:gd name="csY2" fmla="*/ 283633 h 1479328"/>
              <a:gd name="csX3" fmla="*/ 1479328 w 2675023"/>
              <a:gd name="csY3" fmla="*/ 1479328 h 1479328"/>
            </a:gdLst>
            <a:ahLst/>
            <a:cxnLst>
              <a:cxn ang="0">
                <a:pos x="csX0" y="csY0"/>
              </a:cxn>
              <a:cxn ang="0">
                <a:pos x="csX1" y="csY1"/>
              </a:cxn>
              <a:cxn ang="0">
                <a:pos x="csX2" y="csY2"/>
              </a:cxn>
              <a:cxn ang="0">
                <a:pos x="csX3" y="csY3"/>
              </a:cxn>
            </a:cxnLst>
            <a:rect l="l" t="t" r="r" b="b"/>
            <a:pathLst>
              <a:path w="2675023" h="1479328">
                <a:moveTo>
                  <a:pt x="0" y="0"/>
                </a:moveTo>
                <a:lnTo>
                  <a:pt x="2675023" y="0"/>
                </a:lnTo>
                <a:lnTo>
                  <a:pt x="2675023" y="283633"/>
                </a:lnTo>
                <a:lnTo>
                  <a:pt x="1479328" y="1479328"/>
                </a:lnTo>
                <a:close/>
              </a:path>
            </a:pathLst>
          </a:cu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3" name="Figura a mano libera: forma 22">
            <a:extLst>
              <a:ext uri="{FF2B5EF4-FFF2-40B4-BE49-F238E27FC236}">
                <a16:creationId xmlns:a16="http://schemas.microsoft.com/office/drawing/2014/main" id="{C48C9031-D47B-2747-8AB3-8D2997ACF288}"/>
              </a:ext>
            </a:extLst>
          </p:cNvPr>
          <p:cNvSpPr/>
          <p:nvPr/>
        </p:nvSpPr>
        <p:spPr>
          <a:xfrm>
            <a:off x="6989459" y="5941826"/>
            <a:ext cx="1832348" cy="916174"/>
          </a:xfrm>
          <a:custGeom>
            <a:avLst/>
            <a:gdLst>
              <a:gd name="csX0" fmla="*/ 916174 w 1832348"/>
              <a:gd name="csY0" fmla="*/ 0 h 916174"/>
              <a:gd name="csX1" fmla="*/ 1832348 w 1832348"/>
              <a:gd name="csY1" fmla="*/ 916174 h 916174"/>
              <a:gd name="csX2" fmla="*/ 0 w 1832348"/>
              <a:gd name="csY2" fmla="*/ 916174 h 916174"/>
            </a:gdLst>
            <a:ahLst/>
            <a:cxnLst>
              <a:cxn ang="0">
                <a:pos x="csX0" y="csY0"/>
              </a:cxn>
              <a:cxn ang="0">
                <a:pos x="csX1" y="csY1"/>
              </a:cxn>
              <a:cxn ang="0">
                <a:pos x="csX2" y="csY2"/>
              </a:cxn>
            </a:cxnLst>
            <a:rect l="l" t="t" r="r" b="b"/>
            <a:pathLst>
              <a:path w="1832348" h="916174">
                <a:moveTo>
                  <a:pt x="916174" y="0"/>
                </a:moveTo>
                <a:lnTo>
                  <a:pt x="1832348" y="916174"/>
                </a:lnTo>
                <a:lnTo>
                  <a:pt x="0" y="91617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6" name="Figura a mano libera: forma 25">
            <a:extLst>
              <a:ext uri="{FF2B5EF4-FFF2-40B4-BE49-F238E27FC236}">
                <a16:creationId xmlns:a16="http://schemas.microsoft.com/office/drawing/2014/main" id="{380DD330-E7D8-E22C-85B1-B90F53DEF232}"/>
              </a:ext>
            </a:extLst>
          </p:cNvPr>
          <p:cNvSpPr/>
          <p:nvPr/>
        </p:nvSpPr>
        <p:spPr>
          <a:xfrm>
            <a:off x="6713034" y="6581576"/>
            <a:ext cx="552849" cy="276424"/>
          </a:xfrm>
          <a:custGeom>
            <a:avLst/>
            <a:gdLst>
              <a:gd name="csX0" fmla="*/ 276424 w 552849"/>
              <a:gd name="csY0" fmla="*/ 0 h 276424"/>
              <a:gd name="csX1" fmla="*/ 552849 w 552849"/>
              <a:gd name="csY1" fmla="*/ 276424 h 276424"/>
              <a:gd name="csX2" fmla="*/ 0 w 552849"/>
              <a:gd name="csY2" fmla="*/ 276424 h 276424"/>
            </a:gdLst>
            <a:ahLst/>
            <a:cxnLst>
              <a:cxn ang="0">
                <a:pos x="csX0" y="csY0"/>
              </a:cxn>
              <a:cxn ang="0">
                <a:pos x="csX1" y="csY1"/>
              </a:cxn>
              <a:cxn ang="0">
                <a:pos x="csX2" y="csY2"/>
              </a:cxn>
            </a:cxnLst>
            <a:rect l="l" t="t" r="r" b="b"/>
            <a:pathLst>
              <a:path w="552849" h="276424">
                <a:moveTo>
                  <a:pt x="276424" y="0"/>
                </a:moveTo>
                <a:lnTo>
                  <a:pt x="552849" y="276424"/>
                </a:lnTo>
                <a:lnTo>
                  <a:pt x="0" y="27642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8" name="Rettangolo 27">
            <a:extLst>
              <a:ext uri="{FF2B5EF4-FFF2-40B4-BE49-F238E27FC236}">
                <a16:creationId xmlns:a16="http://schemas.microsoft.com/office/drawing/2014/main" id="{0CEF3ADD-D5F7-4636-E532-960E57C9332A}"/>
              </a:ext>
            </a:extLst>
          </p:cNvPr>
          <p:cNvSpPr/>
          <p:nvPr/>
        </p:nvSpPr>
        <p:spPr>
          <a:xfrm rot="2700000">
            <a:off x="10282723" y="756077"/>
            <a:ext cx="576000" cy="576000"/>
          </a:xfrm>
          <a:prstGeom prst="rect">
            <a:avLst/>
          </a:pr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igura a mano libera: forma 14">
            <a:extLst>
              <a:ext uri="{FF2B5EF4-FFF2-40B4-BE49-F238E27FC236}">
                <a16:creationId xmlns:a16="http://schemas.microsoft.com/office/drawing/2014/main" id="{4072F2E2-C6E5-B186-B000-1228F644FF36}"/>
              </a:ext>
            </a:extLst>
          </p:cNvPr>
          <p:cNvSpPr/>
          <p:nvPr/>
        </p:nvSpPr>
        <p:spPr>
          <a:xfrm>
            <a:off x="1" y="1"/>
            <a:ext cx="1637673" cy="1584633"/>
          </a:xfrm>
          <a:custGeom>
            <a:avLst/>
            <a:gdLst>
              <a:gd name="csX0" fmla="*/ 0 w 1637673"/>
              <a:gd name="csY0" fmla="*/ 0 h 1584633"/>
              <a:gd name="csX1" fmla="*/ 1325832 w 1637673"/>
              <a:gd name="csY1" fmla="*/ 0 h 1584633"/>
              <a:gd name="csX2" fmla="*/ 1637673 w 1637673"/>
              <a:gd name="csY2" fmla="*/ 311841 h 1584633"/>
              <a:gd name="csX3" fmla="*/ 364881 w 1637673"/>
              <a:gd name="csY3" fmla="*/ 1584633 h 1584633"/>
              <a:gd name="csX4" fmla="*/ 0 w 1637673"/>
              <a:gd name="csY4" fmla="*/ 1219752 h 1584633"/>
            </a:gdLst>
            <a:ahLst/>
            <a:cxnLst>
              <a:cxn ang="0">
                <a:pos x="csX0" y="csY0"/>
              </a:cxn>
              <a:cxn ang="0">
                <a:pos x="csX1" y="csY1"/>
              </a:cxn>
              <a:cxn ang="0">
                <a:pos x="csX2" y="csY2"/>
              </a:cxn>
              <a:cxn ang="0">
                <a:pos x="csX3" y="csY3"/>
              </a:cxn>
              <a:cxn ang="0">
                <a:pos x="csX4" y="csY4"/>
              </a:cxn>
            </a:cxnLst>
            <a:rect l="l" t="t" r="r" b="b"/>
            <a:pathLst>
              <a:path w="1637673" h="1584633">
                <a:moveTo>
                  <a:pt x="0" y="0"/>
                </a:moveTo>
                <a:lnTo>
                  <a:pt x="1325832" y="0"/>
                </a:lnTo>
                <a:lnTo>
                  <a:pt x="1637673" y="311841"/>
                </a:lnTo>
                <a:lnTo>
                  <a:pt x="364881" y="1584633"/>
                </a:lnTo>
                <a:lnTo>
                  <a:pt x="0" y="1219752"/>
                </a:lnTo>
                <a:close/>
              </a:path>
            </a:pathLst>
          </a:cu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7" name="Rettangolo 26">
            <a:extLst>
              <a:ext uri="{FF2B5EF4-FFF2-40B4-BE49-F238E27FC236}">
                <a16:creationId xmlns:a16="http://schemas.microsoft.com/office/drawing/2014/main" id="{3AD28E09-7AFF-2E4E-6EF0-EA101A655DBF}"/>
              </a:ext>
            </a:extLst>
          </p:cNvPr>
          <p:cNvSpPr/>
          <p:nvPr/>
        </p:nvSpPr>
        <p:spPr>
          <a:xfrm rot="2700000">
            <a:off x="942381" y="431135"/>
            <a:ext cx="576000" cy="576000"/>
          </a:xfrm>
          <a:prstGeom prst="rect">
            <a:avLst/>
          </a:pr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Titolo 1">
            <a:extLst>
              <a:ext uri="{FF2B5EF4-FFF2-40B4-BE49-F238E27FC236}">
                <a16:creationId xmlns:a16="http://schemas.microsoft.com/office/drawing/2014/main" id="{03E6E21B-5075-45A5-9D1F-372558312E4E}"/>
              </a:ext>
            </a:extLst>
          </p:cNvPr>
          <p:cNvSpPr>
            <a:spLocks noGrp="1"/>
          </p:cNvSpPr>
          <p:nvPr>
            <p:ph type="title"/>
          </p:nvPr>
        </p:nvSpPr>
        <p:spPr>
          <a:xfrm>
            <a:off x="818837" y="584730"/>
            <a:ext cx="10515600" cy="1325563"/>
          </a:xfrm>
        </p:spPr>
        <p:txBody>
          <a:bodyPr/>
          <a:lstStyle/>
          <a:p>
            <a:r>
              <a:rPr lang="it-IT" i="1" dirty="0"/>
              <a:t>The Model</a:t>
            </a:r>
          </a:p>
        </p:txBody>
      </p:sp>
    </p:spTree>
    <p:extLst>
      <p:ext uri="{BB962C8B-B14F-4D97-AF65-F5344CB8AC3E}">
        <p14:creationId xmlns:p14="http://schemas.microsoft.com/office/powerpoint/2010/main" val="30799446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009FA-F522-79EF-D5B0-C268CDBFA839}"/>
            </a:ext>
          </a:extLst>
        </p:cNvPr>
        <p:cNvGrpSpPr/>
        <p:nvPr/>
      </p:nvGrpSpPr>
      <p:grpSpPr>
        <a:xfrm>
          <a:off x="0" y="0"/>
          <a:ext cx="0" cy="0"/>
          <a:chOff x="0" y="0"/>
          <a:chExt cx="0" cy="0"/>
        </a:xfrm>
      </p:grpSpPr>
      <p:sp>
        <p:nvSpPr>
          <p:cNvPr id="20" name="Figura a mano libera: forma 19">
            <a:extLst>
              <a:ext uri="{FF2B5EF4-FFF2-40B4-BE49-F238E27FC236}">
                <a16:creationId xmlns:a16="http://schemas.microsoft.com/office/drawing/2014/main" id="{CCDB374E-A4E0-78C5-7FC3-3D1D98BDF824}"/>
              </a:ext>
            </a:extLst>
          </p:cNvPr>
          <p:cNvSpPr/>
          <p:nvPr/>
        </p:nvSpPr>
        <p:spPr>
          <a:xfrm>
            <a:off x="9516976" y="-20529"/>
            <a:ext cx="2675023" cy="1479328"/>
          </a:xfrm>
          <a:custGeom>
            <a:avLst/>
            <a:gdLst>
              <a:gd name="csX0" fmla="*/ 0 w 2675023"/>
              <a:gd name="csY0" fmla="*/ 0 h 1479328"/>
              <a:gd name="csX1" fmla="*/ 2675023 w 2675023"/>
              <a:gd name="csY1" fmla="*/ 0 h 1479328"/>
              <a:gd name="csX2" fmla="*/ 2675023 w 2675023"/>
              <a:gd name="csY2" fmla="*/ 283633 h 1479328"/>
              <a:gd name="csX3" fmla="*/ 1479328 w 2675023"/>
              <a:gd name="csY3" fmla="*/ 1479328 h 1479328"/>
            </a:gdLst>
            <a:ahLst/>
            <a:cxnLst>
              <a:cxn ang="0">
                <a:pos x="csX0" y="csY0"/>
              </a:cxn>
              <a:cxn ang="0">
                <a:pos x="csX1" y="csY1"/>
              </a:cxn>
              <a:cxn ang="0">
                <a:pos x="csX2" y="csY2"/>
              </a:cxn>
              <a:cxn ang="0">
                <a:pos x="csX3" y="csY3"/>
              </a:cxn>
            </a:cxnLst>
            <a:rect l="l" t="t" r="r" b="b"/>
            <a:pathLst>
              <a:path w="2675023" h="1479328">
                <a:moveTo>
                  <a:pt x="0" y="0"/>
                </a:moveTo>
                <a:lnTo>
                  <a:pt x="2675023" y="0"/>
                </a:lnTo>
                <a:lnTo>
                  <a:pt x="2675023" y="283633"/>
                </a:lnTo>
                <a:lnTo>
                  <a:pt x="1479328" y="1479328"/>
                </a:lnTo>
                <a:close/>
              </a:path>
            </a:pathLst>
          </a:cu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dirty="0"/>
          </a:p>
        </p:txBody>
      </p:sp>
      <p:sp>
        <p:nvSpPr>
          <p:cNvPr id="23" name="Figura a mano libera: forma 22">
            <a:extLst>
              <a:ext uri="{FF2B5EF4-FFF2-40B4-BE49-F238E27FC236}">
                <a16:creationId xmlns:a16="http://schemas.microsoft.com/office/drawing/2014/main" id="{7EC92F19-4E17-6416-0334-82438AD7FAF4}"/>
              </a:ext>
            </a:extLst>
          </p:cNvPr>
          <p:cNvSpPr/>
          <p:nvPr/>
        </p:nvSpPr>
        <p:spPr>
          <a:xfrm>
            <a:off x="6989459" y="5941826"/>
            <a:ext cx="1832348" cy="916174"/>
          </a:xfrm>
          <a:custGeom>
            <a:avLst/>
            <a:gdLst>
              <a:gd name="csX0" fmla="*/ 916174 w 1832348"/>
              <a:gd name="csY0" fmla="*/ 0 h 916174"/>
              <a:gd name="csX1" fmla="*/ 1832348 w 1832348"/>
              <a:gd name="csY1" fmla="*/ 916174 h 916174"/>
              <a:gd name="csX2" fmla="*/ 0 w 1832348"/>
              <a:gd name="csY2" fmla="*/ 916174 h 916174"/>
            </a:gdLst>
            <a:ahLst/>
            <a:cxnLst>
              <a:cxn ang="0">
                <a:pos x="csX0" y="csY0"/>
              </a:cxn>
              <a:cxn ang="0">
                <a:pos x="csX1" y="csY1"/>
              </a:cxn>
              <a:cxn ang="0">
                <a:pos x="csX2" y="csY2"/>
              </a:cxn>
            </a:cxnLst>
            <a:rect l="l" t="t" r="r" b="b"/>
            <a:pathLst>
              <a:path w="1832348" h="916174">
                <a:moveTo>
                  <a:pt x="916174" y="0"/>
                </a:moveTo>
                <a:lnTo>
                  <a:pt x="1832348" y="916174"/>
                </a:lnTo>
                <a:lnTo>
                  <a:pt x="0" y="91617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dirty="0"/>
          </a:p>
        </p:txBody>
      </p:sp>
      <p:sp>
        <p:nvSpPr>
          <p:cNvPr id="26" name="Figura a mano libera: forma 25">
            <a:extLst>
              <a:ext uri="{FF2B5EF4-FFF2-40B4-BE49-F238E27FC236}">
                <a16:creationId xmlns:a16="http://schemas.microsoft.com/office/drawing/2014/main" id="{C5ABFCDB-1060-B645-98C7-2BDBAD3353C3}"/>
              </a:ext>
            </a:extLst>
          </p:cNvPr>
          <p:cNvSpPr/>
          <p:nvPr/>
        </p:nvSpPr>
        <p:spPr>
          <a:xfrm>
            <a:off x="6713034" y="6581576"/>
            <a:ext cx="552849" cy="276424"/>
          </a:xfrm>
          <a:custGeom>
            <a:avLst/>
            <a:gdLst>
              <a:gd name="csX0" fmla="*/ 276424 w 552849"/>
              <a:gd name="csY0" fmla="*/ 0 h 276424"/>
              <a:gd name="csX1" fmla="*/ 552849 w 552849"/>
              <a:gd name="csY1" fmla="*/ 276424 h 276424"/>
              <a:gd name="csX2" fmla="*/ 0 w 552849"/>
              <a:gd name="csY2" fmla="*/ 276424 h 276424"/>
            </a:gdLst>
            <a:ahLst/>
            <a:cxnLst>
              <a:cxn ang="0">
                <a:pos x="csX0" y="csY0"/>
              </a:cxn>
              <a:cxn ang="0">
                <a:pos x="csX1" y="csY1"/>
              </a:cxn>
              <a:cxn ang="0">
                <a:pos x="csX2" y="csY2"/>
              </a:cxn>
            </a:cxnLst>
            <a:rect l="l" t="t" r="r" b="b"/>
            <a:pathLst>
              <a:path w="552849" h="276424">
                <a:moveTo>
                  <a:pt x="276424" y="0"/>
                </a:moveTo>
                <a:lnTo>
                  <a:pt x="552849" y="276424"/>
                </a:lnTo>
                <a:lnTo>
                  <a:pt x="0" y="27642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dirty="0"/>
          </a:p>
        </p:txBody>
      </p:sp>
      <p:sp>
        <p:nvSpPr>
          <p:cNvPr id="28" name="Rettangolo 27">
            <a:extLst>
              <a:ext uri="{FF2B5EF4-FFF2-40B4-BE49-F238E27FC236}">
                <a16:creationId xmlns:a16="http://schemas.microsoft.com/office/drawing/2014/main" id="{5F9DBF8E-9B59-3451-C81F-4E1B4D397E52}"/>
              </a:ext>
            </a:extLst>
          </p:cNvPr>
          <p:cNvSpPr/>
          <p:nvPr/>
        </p:nvSpPr>
        <p:spPr>
          <a:xfrm rot="2700000">
            <a:off x="10282723" y="756077"/>
            <a:ext cx="576000" cy="576000"/>
          </a:xfrm>
          <a:prstGeom prst="rect">
            <a:avLst/>
          </a:pr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5" name="Figura a mano libera: forma 14">
            <a:extLst>
              <a:ext uri="{FF2B5EF4-FFF2-40B4-BE49-F238E27FC236}">
                <a16:creationId xmlns:a16="http://schemas.microsoft.com/office/drawing/2014/main" id="{2E070352-EB20-42E7-FFC5-ACFF6E4118E5}"/>
              </a:ext>
            </a:extLst>
          </p:cNvPr>
          <p:cNvSpPr/>
          <p:nvPr/>
        </p:nvSpPr>
        <p:spPr>
          <a:xfrm>
            <a:off x="1" y="1"/>
            <a:ext cx="1637673" cy="1584633"/>
          </a:xfrm>
          <a:custGeom>
            <a:avLst/>
            <a:gdLst>
              <a:gd name="csX0" fmla="*/ 0 w 1637673"/>
              <a:gd name="csY0" fmla="*/ 0 h 1584633"/>
              <a:gd name="csX1" fmla="*/ 1325832 w 1637673"/>
              <a:gd name="csY1" fmla="*/ 0 h 1584633"/>
              <a:gd name="csX2" fmla="*/ 1637673 w 1637673"/>
              <a:gd name="csY2" fmla="*/ 311841 h 1584633"/>
              <a:gd name="csX3" fmla="*/ 364881 w 1637673"/>
              <a:gd name="csY3" fmla="*/ 1584633 h 1584633"/>
              <a:gd name="csX4" fmla="*/ 0 w 1637673"/>
              <a:gd name="csY4" fmla="*/ 1219752 h 1584633"/>
            </a:gdLst>
            <a:ahLst/>
            <a:cxnLst>
              <a:cxn ang="0">
                <a:pos x="csX0" y="csY0"/>
              </a:cxn>
              <a:cxn ang="0">
                <a:pos x="csX1" y="csY1"/>
              </a:cxn>
              <a:cxn ang="0">
                <a:pos x="csX2" y="csY2"/>
              </a:cxn>
              <a:cxn ang="0">
                <a:pos x="csX3" y="csY3"/>
              </a:cxn>
              <a:cxn ang="0">
                <a:pos x="csX4" y="csY4"/>
              </a:cxn>
            </a:cxnLst>
            <a:rect l="l" t="t" r="r" b="b"/>
            <a:pathLst>
              <a:path w="1637673" h="1584633">
                <a:moveTo>
                  <a:pt x="0" y="0"/>
                </a:moveTo>
                <a:lnTo>
                  <a:pt x="1325832" y="0"/>
                </a:lnTo>
                <a:lnTo>
                  <a:pt x="1637673" y="311841"/>
                </a:lnTo>
                <a:lnTo>
                  <a:pt x="364881" y="1584633"/>
                </a:lnTo>
                <a:lnTo>
                  <a:pt x="0" y="1219752"/>
                </a:lnTo>
                <a:close/>
              </a:path>
            </a:pathLst>
          </a:cu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noProof="0" dirty="0"/>
          </a:p>
        </p:txBody>
      </p:sp>
      <p:sp>
        <p:nvSpPr>
          <p:cNvPr id="27" name="Rettangolo 26">
            <a:extLst>
              <a:ext uri="{FF2B5EF4-FFF2-40B4-BE49-F238E27FC236}">
                <a16:creationId xmlns:a16="http://schemas.microsoft.com/office/drawing/2014/main" id="{ECDD4F9E-0EA4-5B2F-3CC3-AE59A4488CAA}"/>
              </a:ext>
            </a:extLst>
          </p:cNvPr>
          <p:cNvSpPr/>
          <p:nvPr/>
        </p:nvSpPr>
        <p:spPr>
          <a:xfrm rot="2700000">
            <a:off x="942381" y="431135"/>
            <a:ext cx="576000" cy="576000"/>
          </a:xfrm>
          <a:prstGeom prst="rect">
            <a:avLst/>
          </a:pr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olo 1">
            <a:extLst>
              <a:ext uri="{FF2B5EF4-FFF2-40B4-BE49-F238E27FC236}">
                <a16:creationId xmlns:a16="http://schemas.microsoft.com/office/drawing/2014/main" id="{677E0B5C-5923-554A-215F-EBA6BC79DC9F}"/>
              </a:ext>
            </a:extLst>
          </p:cNvPr>
          <p:cNvSpPr>
            <a:spLocks noGrp="1"/>
          </p:cNvSpPr>
          <p:nvPr>
            <p:ph type="title"/>
          </p:nvPr>
        </p:nvSpPr>
        <p:spPr>
          <a:xfrm>
            <a:off x="823087" y="636783"/>
            <a:ext cx="10515600" cy="1325563"/>
          </a:xfrm>
        </p:spPr>
        <p:txBody>
          <a:bodyPr/>
          <a:lstStyle/>
          <a:p>
            <a:r>
              <a:rPr lang="en-GB" i="1" noProof="0" dirty="0"/>
              <a:t>Technologies</a:t>
            </a:r>
          </a:p>
        </p:txBody>
      </p:sp>
      <p:pic>
        <p:nvPicPr>
          <p:cNvPr id="5" name="Immagine 4">
            <a:extLst>
              <a:ext uri="{FF2B5EF4-FFF2-40B4-BE49-F238E27FC236}">
                <a16:creationId xmlns:a16="http://schemas.microsoft.com/office/drawing/2014/main" id="{2F53063D-36E1-9D45-ECB1-52BBBD872137}"/>
              </a:ext>
            </a:extLst>
          </p:cNvPr>
          <p:cNvPicPr>
            <a:picLocks noChangeAspect="1"/>
          </p:cNvPicPr>
          <p:nvPr/>
        </p:nvPicPr>
        <p:blipFill>
          <a:blip r:embed="rId3"/>
          <a:srcRect l="4888" t="2705" r="6400" b="3185"/>
          <a:stretch>
            <a:fillRect/>
          </a:stretch>
        </p:blipFill>
        <p:spPr>
          <a:xfrm>
            <a:off x="1691127" y="1735204"/>
            <a:ext cx="8062175" cy="4724707"/>
          </a:xfrm>
          <a:prstGeom prst="rect">
            <a:avLst/>
          </a:prstGeom>
        </p:spPr>
      </p:pic>
    </p:spTree>
    <p:extLst>
      <p:ext uri="{BB962C8B-B14F-4D97-AF65-F5344CB8AC3E}">
        <p14:creationId xmlns:p14="http://schemas.microsoft.com/office/powerpoint/2010/main" val="2940301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7F803-1DF1-D2BC-D3FE-FF7CFD5F30B6}"/>
            </a:ext>
          </a:extLst>
        </p:cNvPr>
        <p:cNvGrpSpPr/>
        <p:nvPr/>
      </p:nvGrpSpPr>
      <p:grpSpPr>
        <a:xfrm>
          <a:off x="0" y="0"/>
          <a:ext cx="0" cy="0"/>
          <a:chOff x="0" y="0"/>
          <a:chExt cx="0" cy="0"/>
        </a:xfrm>
      </p:grpSpPr>
      <p:sp>
        <p:nvSpPr>
          <p:cNvPr id="20" name="Figura a mano libera: forma 19">
            <a:extLst>
              <a:ext uri="{FF2B5EF4-FFF2-40B4-BE49-F238E27FC236}">
                <a16:creationId xmlns:a16="http://schemas.microsoft.com/office/drawing/2014/main" id="{30AFE873-64E5-96DB-C55F-8E194FD6857E}"/>
              </a:ext>
            </a:extLst>
          </p:cNvPr>
          <p:cNvSpPr/>
          <p:nvPr/>
        </p:nvSpPr>
        <p:spPr>
          <a:xfrm>
            <a:off x="9516976" y="-20529"/>
            <a:ext cx="2675023" cy="1479328"/>
          </a:xfrm>
          <a:custGeom>
            <a:avLst/>
            <a:gdLst>
              <a:gd name="csX0" fmla="*/ 0 w 2675023"/>
              <a:gd name="csY0" fmla="*/ 0 h 1479328"/>
              <a:gd name="csX1" fmla="*/ 2675023 w 2675023"/>
              <a:gd name="csY1" fmla="*/ 0 h 1479328"/>
              <a:gd name="csX2" fmla="*/ 2675023 w 2675023"/>
              <a:gd name="csY2" fmla="*/ 283633 h 1479328"/>
              <a:gd name="csX3" fmla="*/ 1479328 w 2675023"/>
              <a:gd name="csY3" fmla="*/ 1479328 h 1479328"/>
            </a:gdLst>
            <a:ahLst/>
            <a:cxnLst>
              <a:cxn ang="0">
                <a:pos x="csX0" y="csY0"/>
              </a:cxn>
              <a:cxn ang="0">
                <a:pos x="csX1" y="csY1"/>
              </a:cxn>
              <a:cxn ang="0">
                <a:pos x="csX2" y="csY2"/>
              </a:cxn>
              <a:cxn ang="0">
                <a:pos x="csX3" y="csY3"/>
              </a:cxn>
            </a:cxnLst>
            <a:rect l="l" t="t" r="r" b="b"/>
            <a:pathLst>
              <a:path w="2675023" h="1479328">
                <a:moveTo>
                  <a:pt x="0" y="0"/>
                </a:moveTo>
                <a:lnTo>
                  <a:pt x="2675023" y="0"/>
                </a:lnTo>
                <a:lnTo>
                  <a:pt x="2675023" y="283633"/>
                </a:lnTo>
                <a:lnTo>
                  <a:pt x="1479328" y="1479328"/>
                </a:lnTo>
                <a:close/>
              </a:path>
            </a:pathLst>
          </a:cu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3" name="Figura a mano libera: forma 22">
            <a:extLst>
              <a:ext uri="{FF2B5EF4-FFF2-40B4-BE49-F238E27FC236}">
                <a16:creationId xmlns:a16="http://schemas.microsoft.com/office/drawing/2014/main" id="{6822D946-F1A7-7933-76B4-92E2EF562E10}"/>
              </a:ext>
            </a:extLst>
          </p:cNvPr>
          <p:cNvSpPr/>
          <p:nvPr/>
        </p:nvSpPr>
        <p:spPr>
          <a:xfrm>
            <a:off x="6989459" y="5941826"/>
            <a:ext cx="1832348" cy="916174"/>
          </a:xfrm>
          <a:custGeom>
            <a:avLst/>
            <a:gdLst>
              <a:gd name="csX0" fmla="*/ 916174 w 1832348"/>
              <a:gd name="csY0" fmla="*/ 0 h 916174"/>
              <a:gd name="csX1" fmla="*/ 1832348 w 1832348"/>
              <a:gd name="csY1" fmla="*/ 916174 h 916174"/>
              <a:gd name="csX2" fmla="*/ 0 w 1832348"/>
              <a:gd name="csY2" fmla="*/ 916174 h 916174"/>
            </a:gdLst>
            <a:ahLst/>
            <a:cxnLst>
              <a:cxn ang="0">
                <a:pos x="csX0" y="csY0"/>
              </a:cxn>
              <a:cxn ang="0">
                <a:pos x="csX1" y="csY1"/>
              </a:cxn>
              <a:cxn ang="0">
                <a:pos x="csX2" y="csY2"/>
              </a:cxn>
            </a:cxnLst>
            <a:rect l="l" t="t" r="r" b="b"/>
            <a:pathLst>
              <a:path w="1832348" h="916174">
                <a:moveTo>
                  <a:pt x="916174" y="0"/>
                </a:moveTo>
                <a:lnTo>
                  <a:pt x="1832348" y="916174"/>
                </a:lnTo>
                <a:lnTo>
                  <a:pt x="0" y="91617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6" name="Figura a mano libera: forma 25">
            <a:extLst>
              <a:ext uri="{FF2B5EF4-FFF2-40B4-BE49-F238E27FC236}">
                <a16:creationId xmlns:a16="http://schemas.microsoft.com/office/drawing/2014/main" id="{35D078D7-D885-2330-5B0D-541E0A206C44}"/>
              </a:ext>
            </a:extLst>
          </p:cNvPr>
          <p:cNvSpPr/>
          <p:nvPr/>
        </p:nvSpPr>
        <p:spPr>
          <a:xfrm>
            <a:off x="6713034" y="6581576"/>
            <a:ext cx="552849" cy="276424"/>
          </a:xfrm>
          <a:custGeom>
            <a:avLst/>
            <a:gdLst>
              <a:gd name="csX0" fmla="*/ 276424 w 552849"/>
              <a:gd name="csY0" fmla="*/ 0 h 276424"/>
              <a:gd name="csX1" fmla="*/ 552849 w 552849"/>
              <a:gd name="csY1" fmla="*/ 276424 h 276424"/>
              <a:gd name="csX2" fmla="*/ 0 w 552849"/>
              <a:gd name="csY2" fmla="*/ 276424 h 276424"/>
            </a:gdLst>
            <a:ahLst/>
            <a:cxnLst>
              <a:cxn ang="0">
                <a:pos x="csX0" y="csY0"/>
              </a:cxn>
              <a:cxn ang="0">
                <a:pos x="csX1" y="csY1"/>
              </a:cxn>
              <a:cxn ang="0">
                <a:pos x="csX2" y="csY2"/>
              </a:cxn>
            </a:cxnLst>
            <a:rect l="l" t="t" r="r" b="b"/>
            <a:pathLst>
              <a:path w="552849" h="276424">
                <a:moveTo>
                  <a:pt x="276424" y="0"/>
                </a:moveTo>
                <a:lnTo>
                  <a:pt x="552849" y="276424"/>
                </a:lnTo>
                <a:lnTo>
                  <a:pt x="0" y="27642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8" name="Rettangolo 27">
            <a:extLst>
              <a:ext uri="{FF2B5EF4-FFF2-40B4-BE49-F238E27FC236}">
                <a16:creationId xmlns:a16="http://schemas.microsoft.com/office/drawing/2014/main" id="{1A47255C-D1FA-8239-73EA-C768FE8358D2}"/>
              </a:ext>
            </a:extLst>
          </p:cNvPr>
          <p:cNvSpPr/>
          <p:nvPr/>
        </p:nvSpPr>
        <p:spPr>
          <a:xfrm rot="2700000">
            <a:off x="10282723" y="756077"/>
            <a:ext cx="576000" cy="576000"/>
          </a:xfrm>
          <a:prstGeom prst="rect">
            <a:avLst/>
          </a:pr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igura a mano libera: forma 14">
            <a:extLst>
              <a:ext uri="{FF2B5EF4-FFF2-40B4-BE49-F238E27FC236}">
                <a16:creationId xmlns:a16="http://schemas.microsoft.com/office/drawing/2014/main" id="{B385B23C-28FF-B892-4B65-8ADAE4868FEC}"/>
              </a:ext>
            </a:extLst>
          </p:cNvPr>
          <p:cNvSpPr/>
          <p:nvPr/>
        </p:nvSpPr>
        <p:spPr>
          <a:xfrm>
            <a:off x="1" y="1"/>
            <a:ext cx="1637673" cy="1584633"/>
          </a:xfrm>
          <a:custGeom>
            <a:avLst/>
            <a:gdLst>
              <a:gd name="csX0" fmla="*/ 0 w 1637673"/>
              <a:gd name="csY0" fmla="*/ 0 h 1584633"/>
              <a:gd name="csX1" fmla="*/ 1325832 w 1637673"/>
              <a:gd name="csY1" fmla="*/ 0 h 1584633"/>
              <a:gd name="csX2" fmla="*/ 1637673 w 1637673"/>
              <a:gd name="csY2" fmla="*/ 311841 h 1584633"/>
              <a:gd name="csX3" fmla="*/ 364881 w 1637673"/>
              <a:gd name="csY3" fmla="*/ 1584633 h 1584633"/>
              <a:gd name="csX4" fmla="*/ 0 w 1637673"/>
              <a:gd name="csY4" fmla="*/ 1219752 h 1584633"/>
            </a:gdLst>
            <a:ahLst/>
            <a:cxnLst>
              <a:cxn ang="0">
                <a:pos x="csX0" y="csY0"/>
              </a:cxn>
              <a:cxn ang="0">
                <a:pos x="csX1" y="csY1"/>
              </a:cxn>
              <a:cxn ang="0">
                <a:pos x="csX2" y="csY2"/>
              </a:cxn>
              <a:cxn ang="0">
                <a:pos x="csX3" y="csY3"/>
              </a:cxn>
              <a:cxn ang="0">
                <a:pos x="csX4" y="csY4"/>
              </a:cxn>
            </a:cxnLst>
            <a:rect l="l" t="t" r="r" b="b"/>
            <a:pathLst>
              <a:path w="1637673" h="1584633">
                <a:moveTo>
                  <a:pt x="0" y="0"/>
                </a:moveTo>
                <a:lnTo>
                  <a:pt x="1325832" y="0"/>
                </a:lnTo>
                <a:lnTo>
                  <a:pt x="1637673" y="311841"/>
                </a:lnTo>
                <a:lnTo>
                  <a:pt x="364881" y="1584633"/>
                </a:lnTo>
                <a:lnTo>
                  <a:pt x="0" y="1219752"/>
                </a:lnTo>
                <a:close/>
              </a:path>
            </a:pathLst>
          </a:cu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7" name="Rettangolo 26">
            <a:extLst>
              <a:ext uri="{FF2B5EF4-FFF2-40B4-BE49-F238E27FC236}">
                <a16:creationId xmlns:a16="http://schemas.microsoft.com/office/drawing/2014/main" id="{55A1321C-E66C-86D0-E9F5-8A4AF252BBE8}"/>
              </a:ext>
            </a:extLst>
          </p:cNvPr>
          <p:cNvSpPr/>
          <p:nvPr/>
        </p:nvSpPr>
        <p:spPr>
          <a:xfrm rot="2700000">
            <a:off x="942381" y="431135"/>
            <a:ext cx="576000" cy="576000"/>
          </a:xfrm>
          <a:prstGeom prst="rect">
            <a:avLst/>
          </a:pr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F7D619B0-A52B-2B85-89BA-A04FFDC4595F}"/>
              </a:ext>
            </a:extLst>
          </p:cNvPr>
          <p:cNvSpPr>
            <a:spLocks noGrp="1"/>
          </p:cNvSpPr>
          <p:nvPr>
            <p:ph type="title"/>
          </p:nvPr>
        </p:nvSpPr>
        <p:spPr>
          <a:xfrm>
            <a:off x="853313" y="565334"/>
            <a:ext cx="10515600" cy="1325563"/>
          </a:xfrm>
        </p:spPr>
        <p:txBody>
          <a:bodyPr/>
          <a:lstStyle/>
          <a:p>
            <a:r>
              <a:rPr lang="it-IT" i="1" dirty="0"/>
              <a:t>Software Architecture - </a:t>
            </a:r>
            <a:r>
              <a:rPr lang="it-IT" i="1" dirty="0" err="1"/>
              <a:t>Functional</a:t>
            </a:r>
            <a:r>
              <a:rPr lang="it-IT" i="1" dirty="0"/>
              <a:t> Areas</a:t>
            </a:r>
          </a:p>
        </p:txBody>
      </p:sp>
      <p:sp>
        <p:nvSpPr>
          <p:cNvPr id="4" name="Rettangolo con angoli arrotondati 3">
            <a:extLst>
              <a:ext uri="{FF2B5EF4-FFF2-40B4-BE49-F238E27FC236}">
                <a16:creationId xmlns:a16="http://schemas.microsoft.com/office/drawing/2014/main" id="{DE338F21-D2B2-D0FB-F633-0C59161AADC0}"/>
              </a:ext>
            </a:extLst>
          </p:cNvPr>
          <p:cNvSpPr/>
          <p:nvPr/>
        </p:nvSpPr>
        <p:spPr>
          <a:xfrm>
            <a:off x="4939228" y="3010513"/>
            <a:ext cx="1468198" cy="425019"/>
          </a:xfrm>
          <a:prstGeom prst="roundRect">
            <a:avLst/>
          </a:prstGeom>
          <a:solidFill>
            <a:srgbClr val="FFC000"/>
          </a:solidFill>
          <a:ln w="28575">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dirty="0">
                <a:solidFill>
                  <a:srgbClr val="13501B"/>
                </a:solidFill>
              </a:rPr>
              <a:t>API</a:t>
            </a:r>
          </a:p>
        </p:txBody>
      </p:sp>
      <p:sp>
        <p:nvSpPr>
          <p:cNvPr id="5" name="Rettangolo con angoli arrotondati 4">
            <a:extLst>
              <a:ext uri="{FF2B5EF4-FFF2-40B4-BE49-F238E27FC236}">
                <a16:creationId xmlns:a16="http://schemas.microsoft.com/office/drawing/2014/main" id="{68F8140E-EA8C-2A62-1D8A-98B9866A7768}"/>
              </a:ext>
            </a:extLst>
          </p:cNvPr>
          <p:cNvSpPr/>
          <p:nvPr/>
        </p:nvSpPr>
        <p:spPr>
          <a:xfrm>
            <a:off x="8520562" y="2531164"/>
            <a:ext cx="1861220" cy="636988"/>
          </a:xfrm>
          <a:prstGeom prst="roundRect">
            <a:avLst/>
          </a:prstGeom>
          <a:solidFill>
            <a:schemeClr val="accent5">
              <a:lumMod val="60000"/>
              <a:lumOff val="40000"/>
            </a:schemeClr>
          </a:solidFill>
          <a:ln w="28575">
            <a:solidFill>
              <a:srgbClr val="13501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i="1" dirty="0" err="1"/>
              <a:t>Algorithm</a:t>
            </a:r>
            <a:r>
              <a:rPr lang="it-IT" b="1" i="1" dirty="0"/>
              <a:t> </a:t>
            </a:r>
            <a:r>
              <a:rPr lang="it-IT" b="1" i="1" dirty="0" err="1"/>
              <a:t>Catalog</a:t>
            </a:r>
            <a:endParaRPr lang="it-IT" b="1" i="1" dirty="0">
              <a:solidFill>
                <a:schemeClr val="bg1"/>
              </a:solidFill>
            </a:endParaRPr>
          </a:p>
        </p:txBody>
      </p:sp>
      <p:sp>
        <p:nvSpPr>
          <p:cNvPr id="6" name="Rettangolo con angoli arrotondati 5">
            <a:extLst>
              <a:ext uri="{FF2B5EF4-FFF2-40B4-BE49-F238E27FC236}">
                <a16:creationId xmlns:a16="http://schemas.microsoft.com/office/drawing/2014/main" id="{565AF2CD-5494-9F0C-4BF8-9DA78EF04CBA}"/>
              </a:ext>
            </a:extLst>
          </p:cNvPr>
          <p:cNvSpPr/>
          <p:nvPr/>
        </p:nvSpPr>
        <p:spPr>
          <a:xfrm>
            <a:off x="3389971" y="4575300"/>
            <a:ext cx="2109885" cy="502599"/>
          </a:xfrm>
          <a:prstGeom prst="roundRect">
            <a:avLst/>
          </a:prstGeom>
          <a:solidFill>
            <a:srgbClr val="215F9A"/>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i="1" dirty="0" err="1">
                <a:solidFill>
                  <a:schemeClr val="bg1"/>
                </a:solidFill>
              </a:rPr>
              <a:t>Persistence</a:t>
            </a:r>
            <a:r>
              <a:rPr lang="it-IT" b="1" i="1" dirty="0">
                <a:solidFill>
                  <a:schemeClr val="bg1"/>
                </a:solidFill>
              </a:rPr>
              <a:t> Layer</a:t>
            </a:r>
          </a:p>
        </p:txBody>
      </p:sp>
      <p:sp>
        <p:nvSpPr>
          <p:cNvPr id="8" name="Rettangolo con angoli arrotondati 7">
            <a:extLst>
              <a:ext uri="{FF2B5EF4-FFF2-40B4-BE49-F238E27FC236}">
                <a16:creationId xmlns:a16="http://schemas.microsoft.com/office/drawing/2014/main" id="{6CCE2428-523C-6C28-5188-86C37C3040F0}"/>
              </a:ext>
            </a:extLst>
          </p:cNvPr>
          <p:cNvSpPr/>
          <p:nvPr/>
        </p:nvSpPr>
        <p:spPr>
          <a:xfrm>
            <a:off x="8520562" y="3367308"/>
            <a:ext cx="1114092" cy="628677"/>
          </a:xfrm>
          <a:prstGeom prst="roundRect">
            <a:avLst/>
          </a:prstGeom>
          <a:solidFill>
            <a:srgbClr val="13501B"/>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i="1" dirty="0">
                <a:solidFill>
                  <a:schemeClr val="bg1"/>
                </a:solidFill>
              </a:rPr>
              <a:t>Models</a:t>
            </a:r>
          </a:p>
        </p:txBody>
      </p:sp>
      <p:sp>
        <p:nvSpPr>
          <p:cNvPr id="9" name="Rettangolo con angoli arrotondati 8">
            <a:extLst>
              <a:ext uri="{FF2B5EF4-FFF2-40B4-BE49-F238E27FC236}">
                <a16:creationId xmlns:a16="http://schemas.microsoft.com/office/drawing/2014/main" id="{B81BE571-43D4-7D4B-35A4-7A1D6DE04820}"/>
              </a:ext>
            </a:extLst>
          </p:cNvPr>
          <p:cNvSpPr/>
          <p:nvPr/>
        </p:nvSpPr>
        <p:spPr>
          <a:xfrm>
            <a:off x="6835668" y="4466600"/>
            <a:ext cx="1986139" cy="720000"/>
          </a:xfrm>
          <a:prstGeom prst="roundRect">
            <a:avLst/>
          </a:prstGeom>
          <a:solidFill>
            <a:srgbClr val="C00000"/>
          </a:solidFill>
          <a:ln w="28575">
            <a:solidFill>
              <a:srgbClr val="13501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i="1" dirty="0" err="1">
                <a:solidFill>
                  <a:schemeClr val="bg1"/>
                </a:solidFill>
              </a:rPr>
              <a:t>Schemas</a:t>
            </a:r>
            <a:endParaRPr lang="it-IT" b="1" i="1" dirty="0">
              <a:solidFill>
                <a:schemeClr val="bg1"/>
              </a:solidFill>
            </a:endParaRPr>
          </a:p>
        </p:txBody>
      </p:sp>
      <p:sp>
        <p:nvSpPr>
          <p:cNvPr id="10" name="Rettangolo con angoli arrotondati 9">
            <a:extLst>
              <a:ext uri="{FF2B5EF4-FFF2-40B4-BE49-F238E27FC236}">
                <a16:creationId xmlns:a16="http://schemas.microsoft.com/office/drawing/2014/main" id="{86113668-289E-CB9A-9227-282CF3E6C7D1}"/>
              </a:ext>
            </a:extLst>
          </p:cNvPr>
          <p:cNvSpPr/>
          <p:nvPr/>
        </p:nvSpPr>
        <p:spPr>
          <a:xfrm>
            <a:off x="2524848" y="1672448"/>
            <a:ext cx="6296959" cy="634011"/>
          </a:xfrm>
          <a:prstGeom prst="roundRect">
            <a:avLst/>
          </a:prstGeom>
          <a:solidFill>
            <a:srgbClr val="4FB5E3"/>
          </a:solidFill>
          <a:ln>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i="1" dirty="0"/>
              <a:t>User Interface</a:t>
            </a:r>
          </a:p>
        </p:txBody>
      </p:sp>
      <p:sp>
        <p:nvSpPr>
          <p:cNvPr id="11" name="Rettangolo con angoli arrotondati 10">
            <a:extLst>
              <a:ext uri="{FF2B5EF4-FFF2-40B4-BE49-F238E27FC236}">
                <a16:creationId xmlns:a16="http://schemas.microsoft.com/office/drawing/2014/main" id="{88F6FB46-FB4C-A96F-FD20-84DB985DBCA0}"/>
              </a:ext>
            </a:extLst>
          </p:cNvPr>
          <p:cNvSpPr/>
          <p:nvPr/>
        </p:nvSpPr>
        <p:spPr>
          <a:xfrm>
            <a:off x="1488209" y="2863022"/>
            <a:ext cx="1440000" cy="720000"/>
          </a:xfrm>
          <a:prstGeom prst="roundRect">
            <a:avLst/>
          </a:prstGeom>
          <a:solidFill>
            <a:schemeClr val="bg1"/>
          </a:solidFill>
          <a:ln w="28575">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1" dirty="0" err="1">
                <a:solidFill>
                  <a:srgbClr val="13501B"/>
                </a:solidFill>
              </a:rPr>
              <a:t>Main</a:t>
            </a:r>
            <a:endParaRPr lang="it-IT" b="1" dirty="0">
              <a:solidFill>
                <a:srgbClr val="13501B"/>
              </a:solidFill>
            </a:endParaRPr>
          </a:p>
        </p:txBody>
      </p:sp>
      <p:cxnSp>
        <p:nvCxnSpPr>
          <p:cNvPr id="13" name="Connettore 2 12">
            <a:extLst>
              <a:ext uri="{FF2B5EF4-FFF2-40B4-BE49-F238E27FC236}">
                <a16:creationId xmlns:a16="http://schemas.microsoft.com/office/drawing/2014/main" id="{D6C8FA54-DA1C-D371-C535-1ADF1F2F98AA}"/>
              </a:ext>
            </a:extLst>
          </p:cNvPr>
          <p:cNvCxnSpPr>
            <a:cxnSpLocks/>
            <a:stCxn id="10" idx="2"/>
            <a:endCxn id="4" idx="0"/>
          </p:cNvCxnSpPr>
          <p:nvPr/>
        </p:nvCxnSpPr>
        <p:spPr>
          <a:xfrm flipH="1">
            <a:off x="5673327" y="2306459"/>
            <a:ext cx="1" cy="704054"/>
          </a:xfrm>
          <a:prstGeom prst="straightConnector1">
            <a:avLst/>
          </a:prstGeom>
          <a:ln w="19050" cap="flat" cmpd="sng" algn="ctr">
            <a:solidFill>
              <a:srgbClr val="215F9A"/>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33" name="Connettore a gomito 32">
            <a:extLst>
              <a:ext uri="{FF2B5EF4-FFF2-40B4-BE49-F238E27FC236}">
                <a16:creationId xmlns:a16="http://schemas.microsoft.com/office/drawing/2014/main" id="{093EF45D-F58D-6B36-292A-CF857FBE0B5E}"/>
              </a:ext>
            </a:extLst>
          </p:cNvPr>
          <p:cNvCxnSpPr>
            <a:cxnSpLocks/>
            <a:stCxn id="8" idx="2"/>
            <a:endCxn id="9" idx="3"/>
          </p:cNvCxnSpPr>
          <p:nvPr/>
        </p:nvCxnSpPr>
        <p:spPr>
          <a:xfrm rot="5400000">
            <a:off x="8534401" y="4283392"/>
            <a:ext cx="830615" cy="255801"/>
          </a:xfrm>
          <a:prstGeom prst="bentConnector2">
            <a:avLst/>
          </a:prstGeom>
          <a:ln>
            <a:solidFill>
              <a:srgbClr val="215F9A"/>
            </a:solidFill>
            <a:tailEnd type="triangle"/>
          </a:ln>
        </p:spPr>
        <p:style>
          <a:lnRef idx="2">
            <a:schemeClr val="accent1"/>
          </a:lnRef>
          <a:fillRef idx="0">
            <a:schemeClr val="accent1"/>
          </a:fillRef>
          <a:effectRef idx="1">
            <a:schemeClr val="accent1"/>
          </a:effectRef>
          <a:fontRef idx="minor">
            <a:schemeClr val="tx1"/>
          </a:fontRef>
        </p:style>
      </p:cxnSp>
      <p:cxnSp>
        <p:nvCxnSpPr>
          <p:cNvPr id="39" name="Connettore 2 38">
            <a:extLst>
              <a:ext uri="{FF2B5EF4-FFF2-40B4-BE49-F238E27FC236}">
                <a16:creationId xmlns:a16="http://schemas.microsoft.com/office/drawing/2014/main" id="{B9F4C93C-A5A6-2590-DD5B-9C152C3483F5}"/>
              </a:ext>
            </a:extLst>
          </p:cNvPr>
          <p:cNvCxnSpPr>
            <a:cxnSpLocks/>
            <a:stCxn id="9" idx="1"/>
            <a:endCxn id="6" idx="3"/>
          </p:cNvCxnSpPr>
          <p:nvPr/>
        </p:nvCxnSpPr>
        <p:spPr>
          <a:xfrm flipH="1">
            <a:off x="5499856" y="4826600"/>
            <a:ext cx="1335812" cy="0"/>
          </a:xfrm>
          <a:prstGeom prst="straightConnector1">
            <a:avLst/>
          </a:prstGeom>
          <a:ln>
            <a:solidFill>
              <a:srgbClr val="215F9A"/>
            </a:solidFill>
            <a:tailEnd type="triangle"/>
          </a:ln>
        </p:spPr>
        <p:style>
          <a:lnRef idx="2">
            <a:schemeClr val="accent1"/>
          </a:lnRef>
          <a:fillRef idx="0">
            <a:schemeClr val="accent1"/>
          </a:fillRef>
          <a:effectRef idx="1">
            <a:schemeClr val="accent1"/>
          </a:effectRef>
          <a:fontRef idx="minor">
            <a:schemeClr val="tx1"/>
          </a:fontRef>
        </p:style>
      </p:cxnSp>
      <p:cxnSp>
        <p:nvCxnSpPr>
          <p:cNvPr id="41" name="Connettore 2 40">
            <a:extLst>
              <a:ext uri="{FF2B5EF4-FFF2-40B4-BE49-F238E27FC236}">
                <a16:creationId xmlns:a16="http://schemas.microsoft.com/office/drawing/2014/main" id="{ACC8EF75-D295-37D9-3076-65C9EBAC2206}"/>
              </a:ext>
            </a:extLst>
          </p:cNvPr>
          <p:cNvCxnSpPr>
            <a:cxnSpLocks/>
            <a:stCxn id="11" idx="3"/>
            <a:endCxn id="4" idx="1"/>
          </p:cNvCxnSpPr>
          <p:nvPr/>
        </p:nvCxnSpPr>
        <p:spPr>
          <a:xfrm>
            <a:off x="2928209" y="3223022"/>
            <a:ext cx="2011019" cy="1"/>
          </a:xfrm>
          <a:prstGeom prst="straightConnector1">
            <a:avLst/>
          </a:prstGeom>
          <a:ln>
            <a:solidFill>
              <a:srgbClr val="215F9A"/>
            </a:solidFill>
            <a:tailEnd type="triangle"/>
          </a:ln>
        </p:spPr>
        <p:style>
          <a:lnRef idx="2">
            <a:schemeClr val="accent1"/>
          </a:lnRef>
          <a:fillRef idx="0">
            <a:schemeClr val="accent1"/>
          </a:fillRef>
          <a:effectRef idx="1">
            <a:schemeClr val="accent1"/>
          </a:effectRef>
          <a:fontRef idx="minor">
            <a:schemeClr val="tx1"/>
          </a:fontRef>
        </p:style>
      </p:cxnSp>
      <p:sp>
        <p:nvSpPr>
          <p:cNvPr id="52" name="Disco magnetico 51">
            <a:extLst>
              <a:ext uri="{FF2B5EF4-FFF2-40B4-BE49-F238E27FC236}">
                <a16:creationId xmlns:a16="http://schemas.microsoft.com/office/drawing/2014/main" id="{71036AE1-6217-67B8-6E3F-82C01485DC8E}"/>
              </a:ext>
            </a:extLst>
          </p:cNvPr>
          <p:cNvSpPr/>
          <p:nvPr/>
        </p:nvSpPr>
        <p:spPr>
          <a:xfrm>
            <a:off x="4120832" y="5773488"/>
            <a:ext cx="660400" cy="342900"/>
          </a:xfrm>
          <a:prstGeom prst="flowChartMagneticDisk">
            <a:avLst/>
          </a:prstGeom>
          <a:solidFill>
            <a:srgbClr val="215F9A"/>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3" name="Disco magnetico 52">
            <a:extLst>
              <a:ext uri="{FF2B5EF4-FFF2-40B4-BE49-F238E27FC236}">
                <a16:creationId xmlns:a16="http://schemas.microsoft.com/office/drawing/2014/main" id="{2D5237F5-935B-214D-32DB-0DE26460A75C}"/>
              </a:ext>
            </a:extLst>
          </p:cNvPr>
          <p:cNvSpPr/>
          <p:nvPr/>
        </p:nvSpPr>
        <p:spPr>
          <a:xfrm>
            <a:off x="4120832" y="5515539"/>
            <a:ext cx="660400" cy="342900"/>
          </a:xfrm>
          <a:prstGeom prst="flowChartMagneticDisk">
            <a:avLst/>
          </a:prstGeom>
          <a:solidFill>
            <a:srgbClr val="215F9A"/>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6" name="CasellaDiTesto 55">
            <a:extLst>
              <a:ext uri="{FF2B5EF4-FFF2-40B4-BE49-F238E27FC236}">
                <a16:creationId xmlns:a16="http://schemas.microsoft.com/office/drawing/2014/main" id="{A4FBBA35-FC65-8B9F-71C0-CB56F7E04FC9}"/>
              </a:ext>
            </a:extLst>
          </p:cNvPr>
          <p:cNvSpPr txBox="1"/>
          <p:nvPr/>
        </p:nvSpPr>
        <p:spPr>
          <a:xfrm>
            <a:off x="3767234" y="6161493"/>
            <a:ext cx="1338460" cy="369332"/>
          </a:xfrm>
          <a:prstGeom prst="rect">
            <a:avLst/>
          </a:prstGeom>
          <a:noFill/>
        </p:spPr>
        <p:txBody>
          <a:bodyPr wrap="square" rtlCol="0">
            <a:spAutoFit/>
          </a:bodyPr>
          <a:lstStyle/>
          <a:p>
            <a:pPr algn="ctr"/>
            <a:r>
              <a:rPr lang="it-IT" dirty="0"/>
              <a:t>Database</a:t>
            </a:r>
          </a:p>
        </p:txBody>
      </p:sp>
      <p:cxnSp>
        <p:nvCxnSpPr>
          <p:cNvPr id="63" name="Connettore 2 62">
            <a:extLst>
              <a:ext uri="{FF2B5EF4-FFF2-40B4-BE49-F238E27FC236}">
                <a16:creationId xmlns:a16="http://schemas.microsoft.com/office/drawing/2014/main" id="{B11B1023-2CF8-74E0-291F-11DA5C45CAD4}"/>
              </a:ext>
            </a:extLst>
          </p:cNvPr>
          <p:cNvCxnSpPr>
            <a:cxnSpLocks/>
            <a:stCxn id="11" idx="3"/>
            <a:endCxn id="6" idx="0"/>
          </p:cNvCxnSpPr>
          <p:nvPr/>
        </p:nvCxnSpPr>
        <p:spPr>
          <a:xfrm>
            <a:off x="2928209" y="3223022"/>
            <a:ext cx="1516705" cy="1352278"/>
          </a:xfrm>
          <a:prstGeom prst="straightConnector1">
            <a:avLst/>
          </a:prstGeom>
          <a:ln>
            <a:solidFill>
              <a:srgbClr val="215F9A"/>
            </a:solidFill>
            <a:tailEnd type="triangle"/>
          </a:ln>
        </p:spPr>
        <p:style>
          <a:lnRef idx="2">
            <a:schemeClr val="accent1"/>
          </a:lnRef>
          <a:fillRef idx="0">
            <a:schemeClr val="accent1"/>
          </a:fillRef>
          <a:effectRef idx="1">
            <a:schemeClr val="accent1"/>
          </a:effectRef>
          <a:fontRef idx="minor">
            <a:schemeClr val="tx1"/>
          </a:fontRef>
        </p:style>
      </p:cxnSp>
      <p:cxnSp>
        <p:nvCxnSpPr>
          <p:cNvPr id="71" name="Connettore 2 70">
            <a:extLst>
              <a:ext uri="{FF2B5EF4-FFF2-40B4-BE49-F238E27FC236}">
                <a16:creationId xmlns:a16="http://schemas.microsoft.com/office/drawing/2014/main" id="{002A3B8C-251D-45BD-4AAC-9A50D24B1FE5}"/>
              </a:ext>
            </a:extLst>
          </p:cNvPr>
          <p:cNvCxnSpPr>
            <a:cxnSpLocks/>
            <a:stCxn id="5" idx="1"/>
            <a:endCxn id="4" idx="3"/>
          </p:cNvCxnSpPr>
          <p:nvPr/>
        </p:nvCxnSpPr>
        <p:spPr>
          <a:xfrm flipH="1">
            <a:off x="6407426" y="2849658"/>
            <a:ext cx="2113136" cy="373365"/>
          </a:xfrm>
          <a:prstGeom prst="straightConnector1">
            <a:avLst/>
          </a:prstGeom>
          <a:ln w="19050" cap="flat" cmpd="sng" algn="ctr">
            <a:solidFill>
              <a:srgbClr val="215F9A"/>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72" name="Connettore 2 71">
            <a:extLst>
              <a:ext uri="{FF2B5EF4-FFF2-40B4-BE49-F238E27FC236}">
                <a16:creationId xmlns:a16="http://schemas.microsoft.com/office/drawing/2014/main" id="{647BB9E6-E879-D952-68A4-EBB8A9872739}"/>
              </a:ext>
            </a:extLst>
          </p:cNvPr>
          <p:cNvCxnSpPr>
            <a:cxnSpLocks/>
            <a:stCxn id="4" idx="2"/>
            <a:endCxn id="6" idx="0"/>
          </p:cNvCxnSpPr>
          <p:nvPr/>
        </p:nvCxnSpPr>
        <p:spPr>
          <a:xfrm flipH="1">
            <a:off x="4444914" y="3435532"/>
            <a:ext cx="1228413" cy="1139768"/>
          </a:xfrm>
          <a:prstGeom prst="straightConnector1">
            <a:avLst/>
          </a:prstGeom>
          <a:ln w="19050" cap="flat" cmpd="sng" algn="ctr">
            <a:solidFill>
              <a:srgbClr val="215F9A"/>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80" name="Connettore 2 79">
            <a:extLst>
              <a:ext uri="{FF2B5EF4-FFF2-40B4-BE49-F238E27FC236}">
                <a16:creationId xmlns:a16="http://schemas.microsoft.com/office/drawing/2014/main" id="{A1CDECBE-FAF5-F536-0F89-01FF1BE2CD0E}"/>
              </a:ext>
            </a:extLst>
          </p:cNvPr>
          <p:cNvCxnSpPr>
            <a:cxnSpLocks/>
            <a:stCxn id="4" idx="2"/>
            <a:endCxn id="9" idx="0"/>
          </p:cNvCxnSpPr>
          <p:nvPr/>
        </p:nvCxnSpPr>
        <p:spPr>
          <a:xfrm>
            <a:off x="5673327" y="3435532"/>
            <a:ext cx="2155411" cy="10310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2" name="Connettore 2 81">
            <a:extLst>
              <a:ext uri="{FF2B5EF4-FFF2-40B4-BE49-F238E27FC236}">
                <a16:creationId xmlns:a16="http://schemas.microsoft.com/office/drawing/2014/main" id="{DFC22670-7F49-78DF-6C0F-726EEC47BDEC}"/>
              </a:ext>
            </a:extLst>
          </p:cNvPr>
          <p:cNvCxnSpPr>
            <a:cxnSpLocks/>
            <a:stCxn id="53" idx="1"/>
            <a:endCxn id="6" idx="2"/>
          </p:cNvCxnSpPr>
          <p:nvPr/>
        </p:nvCxnSpPr>
        <p:spPr>
          <a:xfrm flipH="1" flipV="1">
            <a:off x="4444914" y="5077899"/>
            <a:ext cx="6118" cy="437640"/>
          </a:xfrm>
          <a:prstGeom prst="straightConnector1">
            <a:avLst/>
          </a:prstGeom>
          <a:ln w="19050" cap="flat" cmpd="sng" algn="ctr">
            <a:solidFill>
              <a:srgbClr val="215F9A"/>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87" name="Connettore 2 86">
            <a:extLst>
              <a:ext uri="{FF2B5EF4-FFF2-40B4-BE49-F238E27FC236}">
                <a16:creationId xmlns:a16="http://schemas.microsoft.com/office/drawing/2014/main" id="{7662C9EE-0EBD-4D67-DF29-F9458BB37FA7}"/>
              </a:ext>
            </a:extLst>
          </p:cNvPr>
          <p:cNvCxnSpPr>
            <a:cxnSpLocks/>
            <a:stCxn id="8" idx="1"/>
            <a:endCxn id="4" idx="3"/>
          </p:cNvCxnSpPr>
          <p:nvPr/>
        </p:nvCxnSpPr>
        <p:spPr>
          <a:xfrm flipH="1" flipV="1">
            <a:off x="6407426" y="3223023"/>
            <a:ext cx="2113136" cy="458624"/>
          </a:xfrm>
          <a:prstGeom prst="straightConnector1">
            <a:avLst/>
          </a:prstGeom>
          <a:ln w="19050" cap="flat" cmpd="sng" algn="ctr">
            <a:solidFill>
              <a:srgbClr val="215F9A"/>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91" name="Connettore a gomito 90">
            <a:extLst>
              <a:ext uri="{FF2B5EF4-FFF2-40B4-BE49-F238E27FC236}">
                <a16:creationId xmlns:a16="http://schemas.microsoft.com/office/drawing/2014/main" id="{B2BB4625-38BF-1B52-2DF0-7F7E7552B508}"/>
              </a:ext>
            </a:extLst>
          </p:cNvPr>
          <p:cNvCxnSpPr>
            <a:cxnSpLocks/>
            <a:stCxn id="5" idx="3"/>
            <a:endCxn id="8" idx="3"/>
          </p:cNvCxnSpPr>
          <p:nvPr/>
        </p:nvCxnSpPr>
        <p:spPr>
          <a:xfrm flipH="1">
            <a:off x="9634654" y="2849658"/>
            <a:ext cx="747128" cy="831989"/>
          </a:xfrm>
          <a:prstGeom prst="bentConnector3">
            <a:avLst>
              <a:gd name="adj1" fmla="val -30597"/>
            </a:avLst>
          </a:prstGeom>
          <a:ln w="19050" cap="flat" cmpd="sng" algn="ctr">
            <a:solidFill>
              <a:srgbClr val="215F9A"/>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7704619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8F8EB-37C2-4435-F651-612CFDD196C3}"/>
            </a:ext>
          </a:extLst>
        </p:cNvPr>
        <p:cNvGrpSpPr/>
        <p:nvPr/>
      </p:nvGrpSpPr>
      <p:grpSpPr>
        <a:xfrm>
          <a:off x="0" y="0"/>
          <a:ext cx="0" cy="0"/>
          <a:chOff x="0" y="0"/>
          <a:chExt cx="0" cy="0"/>
        </a:xfrm>
      </p:grpSpPr>
      <p:pic>
        <p:nvPicPr>
          <p:cNvPr id="7" name="Immagine 6">
            <a:extLst>
              <a:ext uri="{FF2B5EF4-FFF2-40B4-BE49-F238E27FC236}">
                <a16:creationId xmlns:a16="http://schemas.microsoft.com/office/drawing/2014/main" id="{0BBB687E-E2F7-2189-5547-2577CAD82795}"/>
              </a:ext>
            </a:extLst>
          </p:cNvPr>
          <p:cNvPicPr>
            <a:picLocks noChangeAspect="1"/>
          </p:cNvPicPr>
          <p:nvPr/>
        </p:nvPicPr>
        <p:blipFill>
          <a:blip r:embed="rId3">
            <a:alphaModFix amt="80000"/>
          </a:blip>
          <a:srcRect l="4925" t="9494" r="4014" b="8347"/>
          <a:stretch>
            <a:fillRect/>
          </a:stretch>
        </p:blipFill>
        <p:spPr>
          <a:xfrm>
            <a:off x="529138" y="554182"/>
            <a:ext cx="11302640" cy="5726545"/>
          </a:xfrm>
          <a:prstGeom prst="rect">
            <a:avLst/>
          </a:prstGeom>
        </p:spPr>
      </p:pic>
      <p:sp>
        <p:nvSpPr>
          <p:cNvPr id="20" name="Figura a mano libera: forma 19">
            <a:extLst>
              <a:ext uri="{FF2B5EF4-FFF2-40B4-BE49-F238E27FC236}">
                <a16:creationId xmlns:a16="http://schemas.microsoft.com/office/drawing/2014/main" id="{2BB0AAC1-F1BD-2ADA-37D1-5B1D74E86395}"/>
              </a:ext>
            </a:extLst>
          </p:cNvPr>
          <p:cNvSpPr/>
          <p:nvPr/>
        </p:nvSpPr>
        <p:spPr>
          <a:xfrm>
            <a:off x="9516976" y="-20529"/>
            <a:ext cx="2675023" cy="1479328"/>
          </a:xfrm>
          <a:custGeom>
            <a:avLst/>
            <a:gdLst>
              <a:gd name="csX0" fmla="*/ 0 w 2675023"/>
              <a:gd name="csY0" fmla="*/ 0 h 1479328"/>
              <a:gd name="csX1" fmla="*/ 2675023 w 2675023"/>
              <a:gd name="csY1" fmla="*/ 0 h 1479328"/>
              <a:gd name="csX2" fmla="*/ 2675023 w 2675023"/>
              <a:gd name="csY2" fmla="*/ 283633 h 1479328"/>
              <a:gd name="csX3" fmla="*/ 1479328 w 2675023"/>
              <a:gd name="csY3" fmla="*/ 1479328 h 1479328"/>
            </a:gdLst>
            <a:ahLst/>
            <a:cxnLst>
              <a:cxn ang="0">
                <a:pos x="csX0" y="csY0"/>
              </a:cxn>
              <a:cxn ang="0">
                <a:pos x="csX1" y="csY1"/>
              </a:cxn>
              <a:cxn ang="0">
                <a:pos x="csX2" y="csY2"/>
              </a:cxn>
              <a:cxn ang="0">
                <a:pos x="csX3" y="csY3"/>
              </a:cxn>
            </a:cxnLst>
            <a:rect l="l" t="t" r="r" b="b"/>
            <a:pathLst>
              <a:path w="2675023" h="1479328">
                <a:moveTo>
                  <a:pt x="0" y="0"/>
                </a:moveTo>
                <a:lnTo>
                  <a:pt x="2675023" y="0"/>
                </a:lnTo>
                <a:lnTo>
                  <a:pt x="2675023" y="283633"/>
                </a:lnTo>
                <a:lnTo>
                  <a:pt x="1479328" y="1479328"/>
                </a:lnTo>
                <a:close/>
              </a:path>
            </a:pathLst>
          </a:cu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3" name="Figura a mano libera: forma 22">
            <a:extLst>
              <a:ext uri="{FF2B5EF4-FFF2-40B4-BE49-F238E27FC236}">
                <a16:creationId xmlns:a16="http://schemas.microsoft.com/office/drawing/2014/main" id="{847C6B28-DBDA-5D26-3434-F278FE7EA315}"/>
              </a:ext>
            </a:extLst>
          </p:cNvPr>
          <p:cNvSpPr/>
          <p:nvPr/>
        </p:nvSpPr>
        <p:spPr>
          <a:xfrm>
            <a:off x="6989459" y="5941826"/>
            <a:ext cx="1832348" cy="916174"/>
          </a:xfrm>
          <a:custGeom>
            <a:avLst/>
            <a:gdLst>
              <a:gd name="csX0" fmla="*/ 916174 w 1832348"/>
              <a:gd name="csY0" fmla="*/ 0 h 916174"/>
              <a:gd name="csX1" fmla="*/ 1832348 w 1832348"/>
              <a:gd name="csY1" fmla="*/ 916174 h 916174"/>
              <a:gd name="csX2" fmla="*/ 0 w 1832348"/>
              <a:gd name="csY2" fmla="*/ 916174 h 916174"/>
            </a:gdLst>
            <a:ahLst/>
            <a:cxnLst>
              <a:cxn ang="0">
                <a:pos x="csX0" y="csY0"/>
              </a:cxn>
              <a:cxn ang="0">
                <a:pos x="csX1" y="csY1"/>
              </a:cxn>
              <a:cxn ang="0">
                <a:pos x="csX2" y="csY2"/>
              </a:cxn>
            </a:cxnLst>
            <a:rect l="l" t="t" r="r" b="b"/>
            <a:pathLst>
              <a:path w="1832348" h="916174">
                <a:moveTo>
                  <a:pt x="916174" y="0"/>
                </a:moveTo>
                <a:lnTo>
                  <a:pt x="1832348" y="916174"/>
                </a:lnTo>
                <a:lnTo>
                  <a:pt x="0" y="91617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6" name="Figura a mano libera: forma 25">
            <a:extLst>
              <a:ext uri="{FF2B5EF4-FFF2-40B4-BE49-F238E27FC236}">
                <a16:creationId xmlns:a16="http://schemas.microsoft.com/office/drawing/2014/main" id="{D96B3849-2F48-61FC-6050-1B52654D2191}"/>
              </a:ext>
            </a:extLst>
          </p:cNvPr>
          <p:cNvSpPr/>
          <p:nvPr/>
        </p:nvSpPr>
        <p:spPr>
          <a:xfrm>
            <a:off x="6713034" y="6581576"/>
            <a:ext cx="552849" cy="276424"/>
          </a:xfrm>
          <a:custGeom>
            <a:avLst/>
            <a:gdLst>
              <a:gd name="csX0" fmla="*/ 276424 w 552849"/>
              <a:gd name="csY0" fmla="*/ 0 h 276424"/>
              <a:gd name="csX1" fmla="*/ 552849 w 552849"/>
              <a:gd name="csY1" fmla="*/ 276424 h 276424"/>
              <a:gd name="csX2" fmla="*/ 0 w 552849"/>
              <a:gd name="csY2" fmla="*/ 276424 h 276424"/>
            </a:gdLst>
            <a:ahLst/>
            <a:cxnLst>
              <a:cxn ang="0">
                <a:pos x="csX0" y="csY0"/>
              </a:cxn>
              <a:cxn ang="0">
                <a:pos x="csX1" y="csY1"/>
              </a:cxn>
              <a:cxn ang="0">
                <a:pos x="csX2" y="csY2"/>
              </a:cxn>
            </a:cxnLst>
            <a:rect l="l" t="t" r="r" b="b"/>
            <a:pathLst>
              <a:path w="552849" h="276424">
                <a:moveTo>
                  <a:pt x="276424" y="0"/>
                </a:moveTo>
                <a:lnTo>
                  <a:pt x="552849" y="276424"/>
                </a:lnTo>
                <a:lnTo>
                  <a:pt x="0" y="27642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8" name="Rettangolo 27">
            <a:extLst>
              <a:ext uri="{FF2B5EF4-FFF2-40B4-BE49-F238E27FC236}">
                <a16:creationId xmlns:a16="http://schemas.microsoft.com/office/drawing/2014/main" id="{3A3E825F-9E87-433C-4C09-644265D85B25}"/>
              </a:ext>
            </a:extLst>
          </p:cNvPr>
          <p:cNvSpPr/>
          <p:nvPr/>
        </p:nvSpPr>
        <p:spPr>
          <a:xfrm rot="2700000">
            <a:off x="10282723" y="756077"/>
            <a:ext cx="576000" cy="576000"/>
          </a:xfrm>
          <a:prstGeom prst="rect">
            <a:avLst/>
          </a:pr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igura a mano libera: forma 14">
            <a:extLst>
              <a:ext uri="{FF2B5EF4-FFF2-40B4-BE49-F238E27FC236}">
                <a16:creationId xmlns:a16="http://schemas.microsoft.com/office/drawing/2014/main" id="{DEBAA1C2-83DB-AE25-7CCF-D572795DC039}"/>
              </a:ext>
            </a:extLst>
          </p:cNvPr>
          <p:cNvSpPr/>
          <p:nvPr/>
        </p:nvSpPr>
        <p:spPr>
          <a:xfrm>
            <a:off x="1" y="1"/>
            <a:ext cx="1637673" cy="1584633"/>
          </a:xfrm>
          <a:custGeom>
            <a:avLst/>
            <a:gdLst>
              <a:gd name="csX0" fmla="*/ 0 w 1637673"/>
              <a:gd name="csY0" fmla="*/ 0 h 1584633"/>
              <a:gd name="csX1" fmla="*/ 1325832 w 1637673"/>
              <a:gd name="csY1" fmla="*/ 0 h 1584633"/>
              <a:gd name="csX2" fmla="*/ 1637673 w 1637673"/>
              <a:gd name="csY2" fmla="*/ 311841 h 1584633"/>
              <a:gd name="csX3" fmla="*/ 364881 w 1637673"/>
              <a:gd name="csY3" fmla="*/ 1584633 h 1584633"/>
              <a:gd name="csX4" fmla="*/ 0 w 1637673"/>
              <a:gd name="csY4" fmla="*/ 1219752 h 1584633"/>
            </a:gdLst>
            <a:ahLst/>
            <a:cxnLst>
              <a:cxn ang="0">
                <a:pos x="csX0" y="csY0"/>
              </a:cxn>
              <a:cxn ang="0">
                <a:pos x="csX1" y="csY1"/>
              </a:cxn>
              <a:cxn ang="0">
                <a:pos x="csX2" y="csY2"/>
              </a:cxn>
              <a:cxn ang="0">
                <a:pos x="csX3" y="csY3"/>
              </a:cxn>
              <a:cxn ang="0">
                <a:pos x="csX4" y="csY4"/>
              </a:cxn>
            </a:cxnLst>
            <a:rect l="l" t="t" r="r" b="b"/>
            <a:pathLst>
              <a:path w="1637673" h="1584633">
                <a:moveTo>
                  <a:pt x="0" y="0"/>
                </a:moveTo>
                <a:lnTo>
                  <a:pt x="1325832" y="0"/>
                </a:lnTo>
                <a:lnTo>
                  <a:pt x="1637673" y="311841"/>
                </a:lnTo>
                <a:lnTo>
                  <a:pt x="364881" y="1584633"/>
                </a:lnTo>
                <a:lnTo>
                  <a:pt x="0" y="1219752"/>
                </a:lnTo>
                <a:close/>
              </a:path>
            </a:pathLst>
          </a:cu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7" name="Rettangolo 26">
            <a:extLst>
              <a:ext uri="{FF2B5EF4-FFF2-40B4-BE49-F238E27FC236}">
                <a16:creationId xmlns:a16="http://schemas.microsoft.com/office/drawing/2014/main" id="{2E0A3B64-DE00-5230-1710-8D00FC07A93E}"/>
              </a:ext>
            </a:extLst>
          </p:cNvPr>
          <p:cNvSpPr/>
          <p:nvPr/>
        </p:nvSpPr>
        <p:spPr>
          <a:xfrm rot="2700000">
            <a:off x="942381" y="431135"/>
            <a:ext cx="576000" cy="576000"/>
          </a:xfrm>
          <a:prstGeom prst="rect">
            <a:avLst/>
          </a:pr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9D0DB2FF-A063-45E5-4860-6C2C519523D5}"/>
              </a:ext>
            </a:extLst>
          </p:cNvPr>
          <p:cNvSpPr>
            <a:spLocks noGrp="1"/>
          </p:cNvSpPr>
          <p:nvPr>
            <p:ph type="title"/>
          </p:nvPr>
        </p:nvSpPr>
        <p:spPr>
          <a:xfrm>
            <a:off x="838200" y="576997"/>
            <a:ext cx="10515600" cy="1325563"/>
          </a:xfrm>
        </p:spPr>
        <p:txBody>
          <a:bodyPr/>
          <a:lstStyle/>
          <a:p>
            <a:r>
              <a:rPr lang="it-IT" i="1" dirty="0"/>
              <a:t>API</a:t>
            </a:r>
          </a:p>
        </p:txBody>
      </p:sp>
      <p:sp>
        <p:nvSpPr>
          <p:cNvPr id="5" name="CasellaDiTesto 4">
            <a:extLst>
              <a:ext uri="{FF2B5EF4-FFF2-40B4-BE49-F238E27FC236}">
                <a16:creationId xmlns:a16="http://schemas.microsoft.com/office/drawing/2014/main" id="{859EA09C-1FAC-9498-E6A6-26E703EF5CE8}"/>
              </a:ext>
            </a:extLst>
          </p:cNvPr>
          <p:cNvSpPr txBox="1"/>
          <p:nvPr/>
        </p:nvSpPr>
        <p:spPr>
          <a:xfrm>
            <a:off x="818837" y="3065220"/>
            <a:ext cx="4340992" cy="1754326"/>
          </a:xfrm>
          <a:prstGeom prst="rect">
            <a:avLst/>
          </a:prstGeom>
          <a:noFill/>
        </p:spPr>
        <p:txBody>
          <a:bodyPr wrap="square">
            <a:spAutoFit/>
          </a:bodyPr>
          <a:lstStyle/>
          <a:p>
            <a:r>
              <a:rPr lang="en-US" dirty="0"/>
              <a:t>They are organized into separate modules:</a:t>
            </a:r>
            <a:r>
              <a:rPr lang="it-IT" dirty="0"/>
              <a:t> </a:t>
            </a:r>
          </a:p>
          <a:p>
            <a:pPr marL="285750" indent="-285750">
              <a:buFont typeface="Wingdings" panose="05000000000000000000" pitchFamily="2" charset="2"/>
              <a:buChar char="v"/>
            </a:pPr>
            <a:r>
              <a:rPr lang="it-IT" dirty="0"/>
              <a:t>GestoreAPI.py</a:t>
            </a:r>
          </a:p>
          <a:p>
            <a:pPr marL="285750" indent="-285750">
              <a:buFont typeface="Wingdings" panose="05000000000000000000" pitchFamily="2" charset="2"/>
              <a:buChar char="v"/>
            </a:pPr>
            <a:r>
              <a:rPr lang="it-IT" dirty="0"/>
              <a:t>ObjectTypeAPI.py</a:t>
            </a:r>
          </a:p>
          <a:p>
            <a:pPr marL="285750" indent="-285750">
              <a:buFont typeface="Wingdings" panose="05000000000000000000" pitchFamily="2" charset="2"/>
              <a:buChar char="v"/>
            </a:pPr>
            <a:r>
              <a:rPr lang="it-IT" dirty="0"/>
              <a:t>AlgorithmsAPI.py</a:t>
            </a:r>
          </a:p>
          <a:p>
            <a:pPr marL="285750" indent="-285750">
              <a:buFont typeface="Wingdings" panose="05000000000000000000" pitchFamily="2" charset="2"/>
              <a:buChar char="v"/>
            </a:pPr>
            <a:r>
              <a:rPr lang="it-IT" dirty="0"/>
              <a:t>ContextAPI.py</a:t>
            </a:r>
          </a:p>
          <a:p>
            <a:pPr marL="285750" indent="-285750">
              <a:buFont typeface="Wingdings" panose="05000000000000000000" pitchFamily="2" charset="2"/>
              <a:buChar char="v"/>
            </a:pPr>
            <a:r>
              <a:rPr lang="it-IT" dirty="0"/>
              <a:t>PipelineAPI.py</a:t>
            </a:r>
          </a:p>
        </p:txBody>
      </p:sp>
      <p:sp>
        <p:nvSpPr>
          <p:cNvPr id="6" name="Ovale 5">
            <a:extLst>
              <a:ext uri="{FF2B5EF4-FFF2-40B4-BE49-F238E27FC236}">
                <a16:creationId xmlns:a16="http://schemas.microsoft.com/office/drawing/2014/main" id="{B38456D1-2B2A-A947-61C7-B5F9BDA4E395}"/>
              </a:ext>
            </a:extLst>
          </p:cNvPr>
          <p:cNvSpPr/>
          <p:nvPr/>
        </p:nvSpPr>
        <p:spPr>
          <a:xfrm>
            <a:off x="1097618" y="4447106"/>
            <a:ext cx="1612129" cy="344218"/>
          </a:xfrm>
          <a:prstGeom prst="ellipse">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 name="CasellaDiTesto 32">
            <a:extLst>
              <a:ext uri="{FF2B5EF4-FFF2-40B4-BE49-F238E27FC236}">
                <a16:creationId xmlns:a16="http://schemas.microsoft.com/office/drawing/2014/main" id="{881E8E3C-E6F1-AA1A-65AB-685CB3F2F427}"/>
              </a:ext>
            </a:extLst>
          </p:cNvPr>
          <p:cNvSpPr txBox="1"/>
          <p:nvPr/>
        </p:nvSpPr>
        <p:spPr>
          <a:xfrm>
            <a:off x="2495958" y="4940076"/>
            <a:ext cx="6046317" cy="1477328"/>
          </a:xfrm>
          <a:prstGeom prst="rect">
            <a:avLst/>
          </a:prstGeom>
          <a:noFill/>
        </p:spPr>
        <p:txBody>
          <a:bodyPr wrap="square" rtlCol="0">
            <a:spAutoFit/>
          </a:bodyPr>
          <a:lstStyle/>
          <a:p>
            <a:pPr marL="400050" indent="-400050">
              <a:buFont typeface="+mj-lt"/>
              <a:buAutoNum type="romanUcPeriod"/>
            </a:pPr>
            <a:r>
              <a:rPr lang="it-IT" dirty="0" err="1"/>
              <a:t>Maintains</a:t>
            </a:r>
            <a:r>
              <a:rPr lang="it-IT" dirty="0"/>
              <a:t> the temporary state of the </a:t>
            </a:r>
            <a:r>
              <a:rPr lang="it-IT" dirty="0" err="1"/>
              <a:t>composition</a:t>
            </a:r>
            <a:endParaRPr lang="it-IT" dirty="0"/>
          </a:p>
          <a:p>
            <a:pPr marL="400050" indent="-400050">
              <a:buFont typeface="+mj-lt"/>
              <a:buAutoNum type="romanUcPeriod"/>
            </a:pPr>
            <a:r>
              <a:rPr lang="it-IT" dirty="0"/>
              <a:t>Queries the </a:t>
            </a:r>
            <a:r>
              <a:rPr lang="it-IT" b="1" i="1" dirty="0" err="1">
                <a:solidFill>
                  <a:srgbClr val="13501B"/>
                </a:solidFill>
              </a:rPr>
              <a:t>algorithm</a:t>
            </a:r>
            <a:r>
              <a:rPr lang="it-IT" b="1" i="1" dirty="0">
                <a:solidFill>
                  <a:srgbClr val="13501B"/>
                </a:solidFill>
              </a:rPr>
              <a:t> </a:t>
            </a:r>
            <a:r>
              <a:rPr lang="it-IT" b="1" i="1" dirty="0" err="1">
                <a:solidFill>
                  <a:srgbClr val="13501B"/>
                </a:solidFill>
              </a:rPr>
              <a:t>catalog</a:t>
            </a:r>
            <a:endParaRPr lang="it-IT" b="1" i="1" dirty="0">
              <a:solidFill>
                <a:srgbClr val="13501B"/>
              </a:solidFill>
            </a:endParaRPr>
          </a:p>
          <a:p>
            <a:pPr marL="400050" indent="-400050">
              <a:buFont typeface="+mj-lt"/>
              <a:buAutoNum type="romanUcPeriod"/>
            </a:pPr>
            <a:r>
              <a:rPr lang="it-IT" dirty="0" err="1"/>
              <a:t>Returns</a:t>
            </a:r>
            <a:r>
              <a:rPr lang="it-IT" dirty="0"/>
              <a:t> to the user </a:t>
            </a:r>
            <a:r>
              <a:rPr lang="it-IT" dirty="0" err="1"/>
              <a:t>interface</a:t>
            </a:r>
            <a:r>
              <a:rPr lang="it-IT" dirty="0"/>
              <a:t> </a:t>
            </a:r>
            <a:r>
              <a:rPr lang="it-IT" dirty="0" err="1"/>
              <a:t>only</a:t>
            </a:r>
            <a:r>
              <a:rPr lang="it-IT" dirty="0"/>
              <a:t> the </a:t>
            </a:r>
            <a:r>
              <a:rPr lang="it-IT" dirty="0" err="1"/>
              <a:t>transformations</a:t>
            </a:r>
            <a:r>
              <a:rPr lang="it-IT" dirty="0"/>
              <a:t> </a:t>
            </a:r>
            <a:r>
              <a:rPr lang="it-IT" dirty="0" err="1"/>
              <a:t>compatible</a:t>
            </a:r>
            <a:r>
              <a:rPr lang="it-IT" dirty="0"/>
              <a:t> with the </a:t>
            </a:r>
            <a:r>
              <a:rPr lang="it-IT" dirty="0" err="1"/>
              <a:t>current</a:t>
            </a:r>
            <a:r>
              <a:rPr lang="it-IT" dirty="0"/>
              <a:t> state of the pipeline</a:t>
            </a:r>
          </a:p>
          <a:p>
            <a:pPr marL="400050" indent="-400050">
              <a:buFont typeface="+mj-lt"/>
              <a:buAutoNum type="romanUcPeriod"/>
            </a:pPr>
            <a:endParaRPr lang="it-IT" dirty="0"/>
          </a:p>
        </p:txBody>
      </p:sp>
      <p:cxnSp>
        <p:nvCxnSpPr>
          <p:cNvPr id="34" name="Connettore 2 33">
            <a:extLst>
              <a:ext uri="{FF2B5EF4-FFF2-40B4-BE49-F238E27FC236}">
                <a16:creationId xmlns:a16="http://schemas.microsoft.com/office/drawing/2014/main" id="{8EE9FDD3-53A4-084E-58D0-9AB006F2AE44}"/>
              </a:ext>
            </a:extLst>
          </p:cNvPr>
          <p:cNvCxnSpPr>
            <a:cxnSpLocks/>
            <a:stCxn id="6" idx="5"/>
          </p:cNvCxnSpPr>
          <p:nvPr/>
        </p:nvCxnSpPr>
        <p:spPr>
          <a:xfrm>
            <a:off x="2473656" y="4740914"/>
            <a:ext cx="366521" cy="203504"/>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sp>
        <p:nvSpPr>
          <p:cNvPr id="37" name="Ovale 36">
            <a:extLst>
              <a:ext uri="{FF2B5EF4-FFF2-40B4-BE49-F238E27FC236}">
                <a16:creationId xmlns:a16="http://schemas.microsoft.com/office/drawing/2014/main" id="{7C4C29C0-954B-606C-5582-42BB5510821F}"/>
              </a:ext>
            </a:extLst>
          </p:cNvPr>
          <p:cNvSpPr/>
          <p:nvPr/>
        </p:nvSpPr>
        <p:spPr>
          <a:xfrm>
            <a:off x="4114803" y="5211543"/>
            <a:ext cx="1981200" cy="384090"/>
          </a:xfrm>
          <a:prstGeom prst="ellipse">
            <a:avLst/>
          </a:prstGeom>
          <a:noFill/>
          <a:ln>
            <a:solidFill>
              <a:srgbClr val="13501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8" name="CasellaDiTesto 37">
            <a:extLst>
              <a:ext uri="{FF2B5EF4-FFF2-40B4-BE49-F238E27FC236}">
                <a16:creationId xmlns:a16="http://schemas.microsoft.com/office/drawing/2014/main" id="{AE984BE8-CEDA-A8F3-7AB5-CBBDF0C67131}"/>
              </a:ext>
            </a:extLst>
          </p:cNvPr>
          <p:cNvSpPr txBox="1"/>
          <p:nvPr/>
        </p:nvSpPr>
        <p:spPr>
          <a:xfrm>
            <a:off x="7727077" y="3064580"/>
            <a:ext cx="3250940" cy="1754326"/>
          </a:xfrm>
          <a:prstGeom prst="rect">
            <a:avLst/>
          </a:prstGeom>
          <a:noFill/>
        </p:spPr>
        <p:txBody>
          <a:bodyPr wrap="square" rtlCol="0">
            <a:spAutoFit/>
          </a:bodyPr>
          <a:lstStyle/>
          <a:p>
            <a:r>
              <a:rPr lang="it-IT" dirty="0"/>
              <a:t>Features:</a:t>
            </a:r>
          </a:p>
          <a:p>
            <a:pPr marL="285750" indent="-285750">
              <a:buFont typeface="Arial" panose="020B0604020202020204" pitchFamily="34" charset="0"/>
              <a:buChar char="•"/>
            </a:pPr>
            <a:r>
              <a:rPr lang="it-IT" dirty="0" err="1"/>
              <a:t>Is</a:t>
            </a:r>
            <a:r>
              <a:rPr lang="it-IT" dirty="0"/>
              <a:t> </a:t>
            </a:r>
            <a:r>
              <a:rPr lang="it-IT" dirty="0" err="1"/>
              <a:t>built</a:t>
            </a:r>
            <a:r>
              <a:rPr lang="it-IT" dirty="0"/>
              <a:t> from the data </a:t>
            </a:r>
            <a:r>
              <a:rPr lang="it-IT" dirty="0" err="1"/>
              <a:t>stored</a:t>
            </a:r>
            <a:r>
              <a:rPr lang="it-IT" dirty="0"/>
              <a:t> in the database</a:t>
            </a:r>
          </a:p>
          <a:p>
            <a:pPr marL="285750" indent="-285750">
              <a:buFont typeface="Arial" panose="020B0604020202020204" pitchFamily="34" charset="0"/>
              <a:buChar char="•"/>
            </a:pPr>
            <a:r>
              <a:rPr lang="it-IT" dirty="0" err="1"/>
              <a:t>It</a:t>
            </a:r>
            <a:r>
              <a:rPr lang="it-IT" dirty="0"/>
              <a:t> takes the </a:t>
            </a:r>
            <a:r>
              <a:rPr lang="it-IT" dirty="0" err="1"/>
              <a:t>selected</a:t>
            </a:r>
            <a:r>
              <a:rPr lang="it-IT" dirty="0"/>
              <a:t> </a:t>
            </a:r>
            <a:r>
              <a:rPr lang="it-IT" dirty="0" err="1"/>
              <a:t>context</a:t>
            </a:r>
            <a:r>
              <a:rPr lang="it-IT" dirty="0"/>
              <a:t> </a:t>
            </a:r>
            <a:r>
              <a:rPr lang="it-IT" dirty="0" err="1"/>
              <a:t>into</a:t>
            </a:r>
            <a:r>
              <a:rPr lang="it-IT" dirty="0"/>
              <a:t> account</a:t>
            </a:r>
          </a:p>
          <a:p>
            <a:pPr marL="285750" indent="-285750">
              <a:buFont typeface="Arial" panose="020B0604020202020204" pitchFamily="34" charset="0"/>
              <a:buChar char="•"/>
            </a:pPr>
            <a:r>
              <a:rPr lang="it-IT" dirty="0" err="1"/>
              <a:t>Used</a:t>
            </a:r>
            <a:r>
              <a:rPr lang="it-IT" dirty="0"/>
              <a:t> </a:t>
            </a:r>
            <a:r>
              <a:rPr lang="it-IT" dirty="0" err="1"/>
              <a:t>at</a:t>
            </a:r>
            <a:r>
              <a:rPr lang="it-IT" dirty="0"/>
              <a:t> </a:t>
            </a:r>
            <a:r>
              <a:rPr lang="it-IT" dirty="0" err="1"/>
              <a:t>runtime</a:t>
            </a:r>
            <a:endParaRPr lang="it-IT" dirty="0"/>
          </a:p>
        </p:txBody>
      </p:sp>
      <p:cxnSp>
        <p:nvCxnSpPr>
          <p:cNvPr id="41" name="Connettore 2 40">
            <a:extLst>
              <a:ext uri="{FF2B5EF4-FFF2-40B4-BE49-F238E27FC236}">
                <a16:creationId xmlns:a16="http://schemas.microsoft.com/office/drawing/2014/main" id="{DC56E786-30A9-9BB6-17D0-53E107223068}"/>
              </a:ext>
            </a:extLst>
          </p:cNvPr>
          <p:cNvCxnSpPr>
            <a:cxnSpLocks/>
          </p:cNvCxnSpPr>
          <p:nvPr/>
        </p:nvCxnSpPr>
        <p:spPr>
          <a:xfrm flipV="1">
            <a:off x="6194147" y="4273420"/>
            <a:ext cx="1532930" cy="705882"/>
          </a:xfrm>
          <a:prstGeom prst="straightConnector1">
            <a:avLst/>
          </a:prstGeom>
          <a:ln>
            <a:solidFill>
              <a:srgbClr val="13501B"/>
            </a:solidFill>
            <a:tailEnd type="triangle"/>
          </a:ln>
        </p:spPr>
        <p:style>
          <a:lnRef idx="2">
            <a:schemeClr val="accent1"/>
          </a:lnRef>
          <a:fillRef idx="0">
            <a:schemeClr val="accent1"/>
          </a:fillRef>
          <a:effectRef idx="1">
            <a:schemeClr val="accent1"/>
          </a:effectRef>
          <a:fontRef idx="minor">
            <a:schemeClr val="tx1"/>
          </a:fontRef>
        </p:style>
      </p:cxnSp>
      <p:sp>
        <p:nvSpPr>
          <p:cNvPr id="3" name="Titolo 1">
            <a:extLst>
              <a:ext uri="{FF2B5EF4-FFF2-40B4-BE49-F238E27FC236}">
                <a16:creationId xmlns:a16="http://schemas.microsoft.com/office/drawing/2014/main" id="{98D6BA3C-A6AB-AAB7-D67A-EF63F067B74B}"/>
              </a:ext>
            </a:extLst>
          </p:cNvPr>
          <p:cNvSpPr txBox="1">
            <a:spLocks/>
          </p:cNvSpPr>
          <p:nvPr/>
        </p:nvSpPr>
        <p:spPr>
          <a:xfrm>
            <a:off x="1786651" y="576996"/>
            <a:ext cx="478104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t-IT" i="1" dirty="0"/>
              <a:t>+ </a:t>
            </a:r>
            <a:r>
              <a:rPr lang="it-IT" i="1" dirty="0" err="1"/>
              <a:t>Algorithm</a:t>
            </a:r>
            <a:r>
              <a:rPr lang="it-IT" i="1" dirty="0"/>
              <a:t> </a:t>
            </a:r>
            <a:r>
              <a:rPr lang="it-IT" i="1" dirty="0" err="1"/>
              <a:t>Catalog</a:t>
            </a:r>
            <a:endParaRPr lang="it-IT" i="1" dirty="0"/>
          </a:p>
        </p:txBody>
      </p:sp>
      <p:sp>
        <p:nvSpPr>
          <p:cNvPr id="4" name="Rettangolo con angoli arrotondati 3">
            <a:extLst>
              <a:ext uri="{FF2B5EF4-FFF2-40B4-BE49-F238E27FC236}">
                <a16:creationId xmlns:a16="http://schemas.microsoft.com/office/drawing/2014/main" id="{009BFB0E-882B-43D9-F012-BC8F16315DC1}"/>
              </a:ext>
            </a:extLst>
          </p:cNvPr>
          <p:cNvSpPr/>
          <p:nvPr/>
        </p:nvSpPr>
        <p:spPr>
          <a:xfrm>
            <a:off x="924741" y="1739414"/>
            <a:ext cx="2732049" cy="984918"/>
          </a:xfrm>
          <a:prstGeom prst="roundRect">
            <a:avLst/>
          </a:prstGeom>
          <a:solidFill>
            <a:srgbClr val="FFC000"/>
          </a:solidFill>
          <a:ln w="28575">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13501B"/>
                </a:solidFill>
              </a:rPr>
              <a:t>Main access point to the system</a:t>
            </a:r>
            <a:endParaRPr lang="it-IT" b="1" dirty="0">
              <a:solidFill>
                <a:srgbClr val="13501B"/>
              </a:solidFill>
            </a:endParaRPr>
          </a:p>
        </p:txBody>
      </p:sp>
      <p:sp>
        <p:nvSpPr>
          <p:cNvPr id="8" name="Rettangolo con angoli arrotondati 7">
            <a:extLst>
              <a:ext uri="{FF2B5EF4-FFF2-40B4-BE49-F238E27FC236}">
                <a16:creationId xmlns:a16="http://schemas.microsoft.com/office/drawing/2014/main" id="{E29707B8-0296-7168-14DE-AC6EC334F0A5}"/>
              </a:ext>
            </a:extLst>
          </p:cNvPr>
          <p:cNvSpPr/>
          <p:nvPr/>
        </p:nvSpPr>
        <p:spPr>
          <a:xfrm>
            <a:off x="4771327" y="1736864"/>
            <a:ext cx="2818261" cy="984918"/>
          </a:xfrm>
          <a:prstGeom prst="roundRect">
            <a:avLst/>
          </a:prstGeom>
          <a:solidFill>
            <a:srgbClr val="FFC000"/>
          </a:solidFill>
          <a:ln w="28575">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13501B"/>
                </a:solidFill>
              </a:rPr>
              <a:t>Coordinates and ensures the consistency of system operations</a:t>
            </a:r>
            <a:endParaRPr lang="it-IT" dirty="0">
              <a:solidFill>
                <a:srgbClr val="13501B"/>
              </a:solidFill>
            </a:endParaRPr>
          </a:p>
        </p:txBody>
      </p:sp>
      <p:sp>
        <p:nvSpPr>
          <p:cNvPr id="9" name="Croce 8">
            <a:extLst>
              <a:ext uri="{FF2B5EF4-FFF2-40B4-BE49-F238E27FC236}">
                <a16:creationId xmlns:a16="http://schemas.microsoft.com/office/drawing/2014/main" id="{098EE946-B53A-F795-396A-DD396CA8C370}"/>
              </a:ext>
            </a:extLst>
          </p:cNvPr>
          <p:cNvSpPr/>
          <p:nvPr/>
        </p:nvSpPr>
        <p:spPr>
          <a:xfrm>
            <a:off x="3965852" y="1882044"/>
            <a:ext cx="546409" cy="529729"/>
          </a:xfrm>
          <a:prstGeom prst="plus">
            <a:avLst>
              <a:gd name="adj" fmla="val 44101"/>
            </a:avLst>
          </a:prstGeom>
          <a:solidFill>
            <a:srgbClr val="215F9A"/>
          </a:solidFill>
          <a:ln>
            <a:solidFill>
              <a:srgbClr val="215F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6155753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500"/>
                                        <p:tgtEl>
                                          <p:spTgt spid="3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500"/>
                                        <p:tgtEl>
                                          <p:spTgt spid="3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1"/>
                                        </p:tgtEl>
                                        <p:attrNameLst>
                                          <p:attrName>style.visibility</p:attrName>
                                        </p:attrNameLst>
                                      </p:cBhvr>
                                      <p:to>
                                        <p:strVal val="visible"/>
                                      </p:to>
                                    </p:set>
                                    <p:animEffect transition="in" filter="fade">
                                      <p:cBhvr>
                                        <p:cTn id="18" dur="500"/>
                                        <p:tgtEl>
                                          <p:spTgt spid="4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fade">
                                      <p:cBhvr>
                                        <p:cTn id="21" dur="500"/>
                                        <p:tgtEl>
                                          <p:spTgt spid="3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8"/>
                                        </p:tgtEl>
                                        <p:attrNameLst>
                                          <p:attrName>style.visibility</p:attrName>
                                        </p:attrNameLst>
                                      </p:cBhvr>
                                      <p:to>
                                        <p:strVal val="visible"/>
                                      </p:to>
                                    </p:set>
                                    <p:animEffect transition="in" filter="fade">
                                      <p:cBhvr>
                                        <p:cTn id="24" dur="500"/>
                                        <p:tgtEl>
                                          <p:spTgt spid="3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3" grpId="0"/>
      <p:bldP spid="37" grpId="0" animBg="1"/>
      <p:bldP spid="38" grpId="0"/>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B7A86-FD44-12E2-24B8-B26ADD02E4C4}"/>
            </a:ext>
          </a:extLst>
        </p:cNvPr>
        <p:cNvGrpSpPr/>
        <p:nvPr/>
      </p:nvGrpSpPr>
      <p:grpSpPr>
        <a:xfrm>
          <a:off x="0" y="0"/>
          <a:ext cx="0" cy="0"/>
          <a:chOff x="0" y="0"/>
          <a:chExt cx="0" cy="0"/>
        </a:xfrm>
      </p:grpSpPr>
      <p:pic>
        <p:nvPicPr>
          <p:cNvPr id="7" name="Immagine 6">
            <a:extLst>
              <a:ext uri="{FF2B5EF4-FFF2-40B4-BE49-F238E27FC236}">
                <a16:creationId xmlns:a16="http://schemas.microsoft.com/office/drawing/2014/main" id="{477B8CEF-28A1-C38C-0211-FB5CEE6EF56C}"/>
              </a:ext>
            </a:extLst>
          </p:cNvPr>
          <p:cNvPicPr>
            <a:picLocks noChangeAspect="1"/>
          </p:cNvPicPr>
          <p:nvPr/>
        </p:nvPicPr>
        <p:blipFill>
          <a:blip r:embed="rId3">
            <a:alphaModFix amt="80000"/>
          </a:blip>
          <a:srcRect l="4925" t="9494" r="4014" b="8347"/>
          <a:stretch>
            <a:fillRect/>
          </a:stretch>
        </p:blipFill>
        <p:spPr>
          <a:xfrm>
            <a:off x="529138" y="554182"/>
            <a:ext cx="11302640" cy="5726545"/>
          </a:xfrm>
          <a:prstGeom prst="rect">
            <a:avLst/>
          </a:prstGeom>
        </p:spPr>
      </p:pic>
      <p:sp>
        <p:nvSpPr>
          <p:cNvPr id="20" name="Figura a mano libera: forma 19">
            <a:extLst>
              <a:ext uri="{FF2B5EF4-FFF2-40B4-BE49-F238E27FC236}">
                <a16:creationId xmlns:a16="http://schemas.microsoft.com/office/drawing/2014/main" id="{B4B25704-316C-6F97-C12D-4E73A4ECE67B}"/>
              </a:ext>
            </a:extLst>
          </p:cNvPr>
          <p:cNvSpPr/>
          <p:nvPr/>
        </p:nvSpPr>
        <p:spPr>
          <a:xfrm>
            <a:off x="9516976" y="-20529"/>
            <a:ext cx="2675023" cy="1479328"/>
          </a:xfrm>
          <a:custGeom>
            <a:avLst/>
            <a:gdLst>
              <a:gd name="csX0" fmla="*/ 0 w 2675023"/>
              <a:gd name="csY0" fmla="*/ 0 h 1479328"/>
              <a:gd name="csX1" fmla="*/ 2675023 w 2675023"/>
              <a:gd name="csY1" fmla="*/ 0 h 1479328"/>
              <a:gd name="csX2" fmla="*/ 2675023 w 2675023"/>
              <a:gd name="csY2" fmla="*/ 283633 h 1479328"/>
              <a:gd name="csX3" fmla="*/ 1479328 w 2675023"/>
              <a:gd name="csY3" fmla="*/ 1479328 h 1479328"/>
            </a:gdLst>
            <a:ahLst/>
            <a:cxnLst>
              <a:cxn ang="0">
                <a:pos x="csX0" y="csY0"/>
              </a:cxn>
              <a:cxn ang="0">
                <a:pos x="csX1" y="csY1"/>
              </a:cxn>
              <a:cxn ang="0">
                <a:pos x="csX2" y="csY2"/>
              </a:cxn>
              <a:cxn ang="0">
                <a:pos x="csX3" y="csY3"/>
              </a:cxn>
            </a:cxnLst>
            <a:rect l="l" t="t" r="r" b="b"/>
            <a:pathLst>
              <a:path w="2675023" h="1479328">
                <a:moveTo>
                  <a:pt x="0" y="0"/>
                </a:moveTo>
                <a:lnTo>
                  <a:pt x="2675023" y="0"/>
                </a:lnTo>
                <a:lnTo>
                  <a:pt x="2675023" y="283633"/>
                </a:lnTo>
                <a:lnTo>
                  <a:pt x="1479328" y="1479328"/>
                </a:lnTo>
                <a:close/>
              </a:path>
            </a:pathLst>
          </a:cu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3" name="Figura a mano libera: forma 22">
            <a:extLst>
              <a:ext uri="{FF2B5EF4-FFF2-40B4-BE49-F238E27FC236}">
                <a16:creationId xmlns:a16="http://schemas.microsoft.com/office/drawing/2014/main" id="{27EA41EB-C15B-D7EA-A645-4E85CA199153}"/>
              </a:ext>
            </a:extLst>
          </p:cNvPr>
          <p:cNvSpPr/>
          <p:nvPr/>
        </p:nvSpPr>
        <p:spPr>
          <a:xfrm>
            <a:off x="6989459" y="5941826"/>
            <a:ext cx="1832348" cy="916174"/>
          </a:xfrm>
          <a:custGeom>
            <a:avLst/>
            <a:gdLst>
              <a:gd name="csX0" fmla="*/ 916174 w 1832348"/>
              <a:gd name="csY0" fmla="*/ 0 h 916174"/>
              <a:gd name="csX1" fmla="*/ 1832348 w 1832348"/>
              <a:gd name="csY1" fmla="*/ 916174 h 916174"/>
              <a:gd name="csX2" fmla="*/ 0 w 1832348"/>
              <a:gd name="csY2" fmla="*/ 916174 h 916174"/>
            </a:gdLst>
            <a:ahLst/>
            <a:cxnLst>
              <a:cxn ang="0">
                <a:pos x="csX0" y="csY0"/>
              </a:cxn>
              <a:cxn ang="0">
                <a:pos x="csX1" y="csY1"/>
              </a:cxn>
              <a:cxn ang="0">
                <a:pos x="csX2" y="csY2"/>
              </a:cxn>
            </a:cxnLst>
            <a:rect l="l" t="t" r="r" b="b"/>
            <a:pathLst>
              <a:path w="1832348" h="916174">
                <a:moveTo>
                  <a:pt x="916174" y="0"/>
                </a:moveTo>
                <a:lnTo>
                  <a:pt x="1832348" y="916174"/>
                </a:lnTo>
                <a:lnTo>
                  <a:pt x="0" y="91617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6" name="Figura a mano libera: forma 25">
            <a:extLst>
              <a:ext uri="{FF2B5EF4-FFF2-40B4-BE49-F238E27FC236}">
                <a16:creationId xmlns:a16="http://schemas.microsoft.com/office/drawing/2014/main" id="{DA3A1252-6715-4AA2-3D8F-8A8E488AD2CF}"/>
              </a:ext>
            </a:extLst>
          </p:cNvPr>
          <p:cNvSpPr/>
          <p:nvPr/>
        </p:nvSpPr>
        <p:spPr>
          <a:xfrm>
            <a:off x="6713034" y="6581576"/>
            <a:ext cx="552849" cy="276424"/>
          </a:xfrm>
          <a:custGeom>
            <a:avLst/>
            <a:gdLst>
              <a:gd name="csX0" fmla="*/ 276424 w 552849"/>
              <a:gd name="csY0" fmla="*/ 0 h 276424"/>
              <a:gd name="csX1" fmla="*/ 552849 w 552849"/>
              <a:gd name="csY1" fmla="*/ 276424 h 276424"/>
              <a:gd name="csX2" fmla="*/ 0 w 552849"/>
              <a:gd name="csY2" fmla="*/ 276424 h 276424"/>
            </a:gdLst>
            <a:ahLst/>
            <a:cxnLst>
              <a:cxn ang="0">
                <a:pos x="csX0" y="csY0"/>
              </a:cxn>
              <a:cxn ang="0">
                <a:pos x="csX1" y="csY1"/>
              </a:cxn>
              <a:cxn ang="0">
                <a:pos x="csX2" y="csY2"/>
              </a:cxn>
            </a:cxnLst>
            <a:rect l="l" t="t" r="r" b="b"/>
            <a:pathLst>
              <a:path w="552849" h="276424">
                <a:moveTo>
                  <a:pt x="276424" y="0"/>
                </a:moveTo>
                <a:lnTo>
                  <a:pt x="552849" y="276424"/>
                </a:lnTo>
                <a:lnTo>
                  <a:pt x="0" y="27642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8" name="Rettangolo 27">
            <a:extLst>
              <a:ext uri="{FF2B5EF4-FFF2-40B4-BE49-F238E27FC236}">
                <a16:creationId xmlns:a16="http://schemas.microsoft.com/office/drawing/2014/main" id="{AB2BA274-429F-591A-6252-04D8AD577998}"/>
              </a:ext>
            </a:extLst>
          </p:cNvPr>
          <p:cNvSpPr/>
          <p:nvPr/>
        </p:nvSpPr>
        <p:spPr>
          <a:xfrm rot="2700000">
            <a:off x="10282723" y="756077"/>
            <a:ext cx="576000" cy="576000"/>
          </a:xfrm>
          <a:prstGeom prst="rect">
            <a:avLst/>
          </a:pr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igura a mano libera: forma 14">
            <a:extLst>
              <a:ext uri="{FF2B5EF4-FFF2-40B4-BE49-F238E27FC236}">
                <a16:creationId xmlns:a16="http://schemas.microsoft.com/office/drawing/2014/main" id="{728C2EA1-1725-1D14-DF3D-7BDEE2608481}"/>
              </a:ext>
            </a:extLst>
          </p:cNvPr>
          <p:cNvSpPr/>
          <p:nvPr/>
        </p:nvSpPr>
        <p:spPr>
          <a:xfrm>
            <a:off x="1" y="1"/>
            <a:ext cx="1637673" cy="1584633"/>
          </a:xfrm>
          <a:custGeom>
            <a:avLst/>
            <a:gdLst>
              <a:gd name="csX0" fmla="*/ 0 w 1637673"/>
              <a:gd name="csY0" fmla="*/ 0 h 1584633"/>
              <a:gd name="csX1" fmla="*/ 1325832 w 1637673"/>
              <a:gd name="csY1" fmla="*/ 0 h 1584633"/>
              <a:gd name="csX2" fmla="*/ 1637673 w 1637673"/>
              <a:gd name="csY2" fmla="*/ 311841 h 1584633"/>
              <a:gd name="csX3" fmla="*/ 364881 w 1637673"/>
              <a:gd name="csY3" fmla="*/ 1584633 h 1584633"/>
              <a:gd name="csX4" fmla="*/ 0 w 1637673"/>
              <a:gd name="csY4" fmla="*/ 1219752 h 1584633"/>
            </a:gdLst>
            <a:ahLst/>
            <a:cxnLst>
              <a:cxn ang="0">
                <a:pos x="csX0" y="csY0"/>
              </a:cxn>
              <a:cxn ang="0">
                <a:pos x="csX1" y="csY1"/>
              </a:cxn>
              <a:cxn ang="0">
                <a:pos x="csX2" y="csY2"/>
              </a:cxn>
              <a:cxn ang="0">
                <a:pos x="csX3" y="csY3"/>
              </a:cxn>
              <a:cxn ang="0">
                <a:pos x="csX4" y="csY4"/>
              </a:cxn>
            </a:cxnLst>
            <a:rect l="l" t="t" r="r" b="b"/>
            <a:pathLst>
              <a:path w="1637673" h="1584633">
                <a:moveTo>
                  <a:pt x="0" y="0"/>
                </a:moveTo>
                <a:lnTo>
                  <a:pt x="1325832" y="0"/>
                </a:lnTo>
                <a:lnTo>
                  <a:pt x="1637673" y="311841"/>
                </a:lnTo>
                <a:lnTo>
                  <a:pt x="364881" y="1584633"/>
                </a:lnTo>
                <a:lnTo>
                  <a:pt x="0" y="1219752"/>
                </a:lnTo>
                <a:close/>
              </a:path>
            </a:pathLst>
          </a:cu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7" name="Rettangolo 26">
            <a:extLst>
              <a:ext uri="{FF2B5EF4-FFF2-40B4-BE49-F238E27FC236}">
                <a16:creationId xmlns:a16="http://schemas.microsoft.com/office/drawing/2014/main" id="{C488059D-CDE8-778F-6C9E-6BFD4DBCE57F}"/>
              </a:ext>
            </a:extLst>
          </p:cNvPr>
          <p:cNvSpPr/>
          <p:nvPr/>
        </p:nvSpPr>
        <p:spPr>
          <a:xfrm rot="2700000">
            <a:off x="942381" y="431135"/>
            <a:ext cx="576000" cy="576000"/>
          </a:xfrm>
          <a:prstGeom prst="rect">
            <a:avLst/>
          </a:pr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3259E84C-B9FE-7B09-4FAA-F3814A296E06}"/>
              </a:ext>
            </a:extLst>
          </p:cNvPr>
          <p:cNvSpPr>
            <a:spLocks noGrp="1"/>
          </p:cNvSpPr>
          <p:nvPr>
            <p:ph type="title"/>
          </p:nvPr>
        </p:nvSpPr>
        <p:spPr>
          <a:xfrm>
            <a:off x="838200" y="588147"/>
            <a:ext cx="10515600" cy="1325563"/>
          </a:xfrm>
        </p:spPr>
        <p:txBody>
          <a:bodyPr/>
          <a:lstStyle/>
          <a:p>
            <a:r>
              <a:rPr lang="it-IT" i="1" dirty="0" err="1"/>
              <a:t>Persistence</a:t>
            </a:r>
            <a:r>
              <a:rPr lang="it-IT" i="1" dirty="0"/>
              <a:t> Layer</a:t>
            </a:r>
          </a:p>
        </p:txBody>
      </p:sp>
      <p:sp>
        <p:nvSpPr>
          <p:cNvPr id="5" name="CasellaDiTesto 4">
            <a:extLst>
              <a:ext uri="{FF2B5EF4-FFF2-40B4-BE49-F238E27FC236}">
                <a16:creationId xmlns:a16="http://schemas.microsoft.com/office/drawing/2014/main" id="{47055FED-40A1-F474-2B94-B912A5AE2616}"/>
              </a:ext>
            </a:extLst>
          </p:cNvPr>
          <p:cNvSpPr txBox="1"/>
          <p:nvPr/>
        </p:nvSpPr>
        <p:spPr>
          <a:xfrm>
            <a:off x="838200" y="1676492"/>
            <a:ext cx="8975083" cy="369332"/>
          </a:xfrm>
          <a:prstGeom prst="rect">
            <a:avLst/>
          </a:prstGeom>
          <a:noFill/>
        </p:spPr>
        <p:txBody>
          <a:bodyPr wrap="square">
            <a:spAutoFit/>
          </a:bodyPr>
          <a:lstStyle/>
          <a:p>
            <a:r>
              <a:rPr lang="en-US" dirty="0"/>
              <a:t>It manages the saving, retrieval and organization of the system data</a:t>
            </a:r>
            <a:endParaRPr lang="it-IT" dirty="0"/>
          </a:p>
        </p:txBody>
      </p:sp>
      <p:sp>
        <p:nvSpPr>
          <p:cNvPr id="4" name="Rettangolo con angoli arrotondati 3">
            <a:extLst>
              <a:ext uri="{FF2B5EF4-FFF2-40B4-BE49-F238E27FC236}">
                <a16:creationId xmlns:a16="http://schemas.microsoft.com/office/drawing/2014/main" id="{CFBAF417-81F3-8EA5-3DD9-48ED062CE434}"/>
              </a:ext>
            </a:extLst>
          </p:cNvPr>
          <p:cNvSpPr/>
          <p:nvPr/>
        </p:nvSpPr>
        <p:spPr>
          <a:xfrm>
            <a:off x="1376397" y="2210108"/>
            <a:ext cx="4030302" cy="1963130"/>
          </a:xfrm>
          <a:prstGeom prst="round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it-IT" sz="1600" b="1" i="1" dirty="0">
                <a:solidFill>
                  <a:schemeClr val="bg1"/>
                </a:solidFill>
              </a:rPr>
              <a:t>ConfigDB.py</a:t>
            </a:r>
          </a:p>
          <a:p>
            <a:pPr algn="ctr"/>
            <a:r>
              <a:rPr lang="it-IT" sz="1600" u="sng" dirty="0">
                <a:solidFill>
                  <a:srgbClr val="215F9A"/>
                </a:solidFill>
              </a:rPr>
              <a:t>Database </a:t>
            </a:r>
            <a:r>
              <a:rPr lang="it-IT" sz="1600" u="sng" dirty="0" err="1">
                <a:solidFill>
                  <a:srgbClr val="215F9A"/>
                </a:solidFill>
              </a:rPr>
              <a:t>configuration</a:t>
            </a:r>
            <a:endParaRPr lang="it-IT" sz="1600" u="sng" dirty="0">
              <a:solidFill>
                <a:srgbClr val="215F9A"/>
              </a:solidFill>
            </a:endParaRPr>
          </a:p>
          <a:p>
            <a:pPr algn="ctr"/>
            <a:endParaRPr lang="it-IT" sz="1600" b="1" i="1" dirty="0">
              <a:solidFill>
                <a:srgbClr val="215F9A"/>
              </a:solidFill>
            </a:endParaRPr>
          </a:p>
          <a:p>
            <a:pPr algn="ctr"/>
            <a:endParaRPr lang="it-IT" sz="1600" b="1" i="1" dirty="0">
              <a:solidFill>
                <a:srgbClr val="215F9A"/>
              </a:solidFill>
            </a:endParaRPr>
          </a:p>
          <a:p>
            <a:pPr marL="285750" indent="-285750" algn="just">
              <a:buFont typeface="Arial" panose="020B0604020202020204" pitchFamily="34" charset="0"/>
              <a:buChar char="•"/>
            </a:pPr>
            <a:r>
              <a:rPr lang="it-IT" sz="1600" dirty="0" err="1">
                <a:solidFill>
                  <a:srgbClr val="215F9A"/>
                </a:solidFill>
              </a:rPr>
              <a:t>Establishes</a:t>
            </a:r>
            <a:r>
              <a:rPr lang="it-IT" sz="1600" dirty="0">
                <a:solidFill>
                  <a:srgbClr val="215F9A"/>
                </a:solidFill>
              </a:rPr>
              <a:t> the connection to </a:t>
            </a:r>
            <a:r>
              <a:rPr lang="it-IT" sz="1600" dirty="0" err="1">
                <a:solidFill>
                  <a:srgbClr val="215F9A"/>
                </a:solidFill>
              </a:rPr>
              <a:t>SQLite</a:t>
            </a:r>
            <a:endParaRPr lang="it-IT" sz="1600" dirty="0">
              <a:solidFill>
                <a:srgbClr val="215F9A"/>
              </a:solidFill>
            </a:endParaRPr>
          </a:p>
          <a:p>
            <a:pPr marL="285750" indent="-285750" algn="just">
              <a:buFont typeface="Arial" panose="020B0604020202020204" pitchFamily="34" charset="0"/>
              <a:buChar char="•"/>
            </a:pPr>
            <a:r>
              <a:rPr lang="it-IT" sz="1600" dirty="0" err="1">
                <a:solidFill>
                  <a:srgbClr val="215F9A"/>
                </a:solidFill>
              </a:rPr>
              <a:t>Provides</a:t>
            </a:r>
            <a:r>
              <a:rPr lang="it-IT" sz="1600" dirty="0">
                <a:solidFill>
                  <a:srgbClr val="215F9A"/>
                </a:solidFill>
              </a:rPr>
              <a:t> the sessions </a:t>
            </a:r>
            <a:r>
              <a:rPr lang="it-IT" sz="1600" dirty="0" err="1">
                <a:solidFill>
                  <a:srgbClr val="215F9A"/>
                </a:solidFill>
              </a:rPr>
              <a:t>used</a:t>
            </a:r>
            <a:r>
              <a:rPr lang="it-IT" sz="1600" dirty="0">
                <a:solidFill>
                  <a:srgbClr val="215F9A"/>
                </a:solidFill>
              </a:rPr>
              <a:t> by the </a:t>
            </a:r>
            <a:r>
              <a:rPr lang="it-IT" sz="1600" dirty="0" err="1">
                <a:solidFill>
                  <a:srgbClr val="215F9A"/>
                </a:solidFill>
              </a:rPr>
              <a:t>APIs</a:t>
            </a:r>
            <a:r>
              <a:rPr lang="it-IT" sz="1600" dirty="0">
                <a:solidFill>
                  <a:srgbClr val="215F9A"/>
                </a:solidFill>
              </a:rPr>
              <a:t> to access data</a:t>
            </a:r>
          </a:p>
          <a:p>
            <a:pPr marL="285750" indent="-285750" algn="just">
              <a:buFont typeface="Arial" panose="020B0604020202020204" pitchFamily="34" charset="0"/>
              <a:buChar char="•"/>
            </a:pPr>
            <a:endParaRPr lang="it-IT" sz="1600" b="1" i="1" dirty="0">
              <a:solidFill>
                <a:srgbClr val="215F9A"/>
              </a:solidFill>
            </a:endParaRPr>
          </a:p>
        </p:txBody>
      </p:sp>
      <p:cxnSp>
        <p:nvCxnSpPr>
          <p:cNvPr id="8" name="Connettore 2 7">
            <a:extLst>
              <a:ext uri="{FF2B5EF4-FFF2-40B4-BE49-F238E27FC236}">
                <a16:creationId xmlns:a16="http://schemas.microsoft.com/office/drawing/2014/main" id="{35387384-88B7-CE1A-F621-D999A4FEC4CA}"/>
              </a:ext>
            </a:extLst>
          </p:cNvPr>
          <p:cNvCxnSpPr>
            <a:cxnSpLocks/>
          </p:cNvCxnSpPr>
          <p:nvPr/>
        </p:nvCxnSpPr>
        <p:spPr>
          <a:xfrm>
            <a:off x="3331710" y="2911951"/>
            <a:ext cx="0" cy="401444"/>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1" name="Rettangolo con angoli arrotondati 10">
            <a:extLst>
              <a:ext uri="{FF2B5EF4-FFF2-40B4-BE49-F238E27FC236}">
                <a16:creationId xmlns:a16="http://schemas.microsoft.com/office/drawing/2014/main" id="{8FE5253A-A2CE-9586-1EFF-257D802EFCED}"/>
              </a:ext>
            </a:extLst>
          </p:cNvPr>
          <p:cNvSpPr/>
          <p:nvPr/>
        </p:nvSpPr>
        <p:spPr>
          <a:xfrm>
            <a:off x="1675774" y="4351750"/>
            <a:ext cx="3429626" cy="1963130"/>
          </a:xfrm>
          <a:prstGeom prst="round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it-IT" sz="1600" b="1" i="1" dirty="0"/>
              <a:t>EntitaSQL_db.py</a:t>
            </a:r>
            <a:endParaRPr lang="it-IT" sz="1600" b="1" i="1" dirty="0">
              <a:solidFill>
                <a:schemeClr val="bg1"/>
              </a:solidFill>
            </a:endParaRPr>
          </a:p>
          <a:p>
            <a:pPr algn="ctr"/>
            <a:r>
              <a:rPr lang="it-IT" sz="1600" u="sng" dirty="0">
                <a:solidFill>
                  <a:srgbClr val="215F9A"/>
                </a:solidFill>
              </a:rPr>
              <a:t>ORM  models</a:t>
            </a:r>
          </a:p>
          <a:p>
            <a:pPr algn="ctr"/>
            <a:endParaRPr lang="it-IT" sz="1600" b="1" i="1" dirty="0">
              <a:solidFill>
                <a:srgbClr val="215F9A"/>
              </a:solidFill>
            </a:endParaRPr>
          </a:p>
          <a:p>
            <a:pPr algn="ctr"/>
            <a:endParaRPr lang="it-IT" sz="1600" b="1" i="1" dirty="0">
              <a:solidFill>
                <a:srgbClr val="215F9A"/>
              </a:solidFill>
            </a:endParaRPr>
          </a:p>
          <a:p>
            <a:pPr marL="285750" indent="-285750">
              <a:buFont typeface="Arial" panose="020B0604020202020204" pitchFamily="34" charset="0"/>
              <a:buChar char="•"/>
            </a:pPr>
            <a:r>
              <a:rPr lang="it-IT" sz="1600" dirty="0">
                <a:solidFill>
                  <a:srgbClr val="215F9A"/>
                </a:solidFill>
              </a:rPr>
              <a:t>Database </a:t>
            </a:r>
            <a:r>
              <a:rPr lang="it-IT" sz="1600" dirty="0" err="1">
                <a:solidFill>
                  <a:srgbClr val="215F9A"/>
                </a:solidFill>
              </a:rPr>
              <a:t>tables</a:t>
            </a:r>
            <a:endParaRPr lang="it-IT" sz="1600" dirty="0">
              <a:solidFill>
                <a:srgbClr val="215F9A"/>
              </a:solidFill>
            </a:endParaRPr>
          </a:p>
          <a:p>
            <a:pPr marL="285750" indent="-285750">
              <a:buFont typeface="Arial" panose="020B0604020202020204" pitchFamily="34" charset="0"/>
              <a:buChar char="•"/>
            </a:pPr>
            <a:r>
              <a:rPr lang="it-IT" sz="1600" dirty="0" err="1">
                <a:solidFill>
                  <a:srgbClr val="215F9A"/>
                </a:solidFill>
              </a:rPr>
              <a:t>Relationships</a:t>
            </a:r>
            <a:r>
              <a:rPr lang="it-IT" sz="1600" dirty="0">
                <a:solidFill>
                  <a:srgbClr val="215F9A"/>
                </a:solidFill>
              </a:rPr>
              <a:t> </a:t>
            </a:r>
            <a:r>
              <a:rPr lang="it-IT" sz="1600" dirty="0" err="1">
                <a:solidFill>
                  <a:srgbClr val="215F9A"/>
                </a:solidFill>
              </a:rPr>
              <a:t>between</a:t>
            </a:r>
            <a:r>
              <a:rPr lang="it-IT" sz="1600" dirty="0">
                <a:solidFill>
                  <a:srgbClr val="215F9A"/>
                </a:solidFill>
              </a:rPr>
              <a:t> </a:t>
            </a:r>
            <a:r>
              <a:rPr lang="it-IT" sz="1600" dirty="0" err="1">
                <a:solidFill>
                  <a:srgbClr val="215F9A"/>
                </a:solidFill>
              </a:rPr>
              <a:t>entities</a:t>
            </a:r>
            <a:endParaRPr lang="it-IT" sz="1600" dirty="0">
              <a:solidFill>
                <a:srgbClr val="215F9A"/>
              </a:solidFill>
            </a:endParaRPr>
          </a:p>
          <a:p>
            <a:pPr marL="285750" indent="-285750">
              <a:buFont typeface="Arial" panose="020B0604020202020204" pitchFamily="34" charset="0"/>
              <a:buChar char="•"/>
            </a:pPr>
            <a:r>
              <a:rPr lang="it-IT" sz="1600" dirty="0" err="1">
                <a:solidFill>
                  <a:srgbClr val="215F9A"/>
                </a:solidFill>
              </a:rPr>
              <a:t>Costraints</a:t>
            </a:r>
            <a:endParaRPr lang="it-IT" sz="1600" dirty="0">
              <a:solidFill>
                <a:srgbClr val="215F9A"/>
              </a:solidFill>
            </a:endParaRPr>
          </a:p>
        </p:txBody>
      </p:sp>
      <p:cxnSp>
        <p:nvCxnSpPr>
          <p:cNvPr id="12" name="Connettore 2 11">
            <a:extLst>
              <a:ext uri="{FF2B5EF4-FFF2-40B4-BE49-F238E27FC236}">
                <a16:creationId xmlns:a16="http://schemas.microsoft.com/office/drawing/2014/main" id="{FCC095AA-AD5C-2931-294B-8D965141BC7C}"/>
              </a:ext>
            </a:extLst>
          </p:cNvPr>
          <p:cNvCxnSpPr>
            <a:cxnSpLocks/>
          </p:cNvCxnSpPr>
          <p:nvPr/>
        </p:nvCxnSpPr>
        <p:spPr>
          <a:xfrm>
            <a:off x="3369810" y="5025779"/>
            <a:ext cx="0" cy="401444"/>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13" name="Rettangolo con angoli arrotondati 12">
            <a:extLst>
              <a:ext uri="{FF2B5EF4-FFF2-40B4-BE49-F238E27FC236}">
                <a16:creationId xmlns:a16="http://schemas.microsoft.com/office/drawing/2014/main" id="{A0715778-7E22-F4FB-AD44-615C1E0D0CF9}"/>
              </a:ext>
            </a:extLst>
          </p:cNvPr>
          <p:cNvSpPr/>
          <p:nvPr/>
        </p:nvSpPr>
        <p:spPr>
          <a:xfrm>
            <a:off x="5766920" y="2628105"/>
            <a:ext cx="3310186" cy="3090266"/>
          </a:xfrm>
          <a:prstGeom prst="round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it-IT" sz="1600" u="sng" dirty="0" err="1">
                <a:solidFill>
                  <a:srgbClr val="215F9A"/>
                </a:solidFill>
              </a:rPr>
              <a:t>Operational</a:t>
            </a:r>
            <a:r>
              <a:rPr lang="it-IT" sz="1600" u="sng" dirty="0">
                <a:solidFill>
                  <a:srgbClr val="215F9A"/>
                </a:solidFill>
              </a:rPr>
              <a:t> </a:t>
            </a:r>
            <a:r>
              <a:rPr lang="it-IT" sz="1600" u="sng" dirty="0" err="1">
                <a:solidFill>
                  <a:srgbClr val="215F9A"/>
                </a:solidFill>
              </a:rPr>
              <a:t>modules</a:t>
            </a:r>
            <a:endParaRPr lang="it-IT" sz="1600" u="sng" dirty="0">
              <a:solidFill>
                <a:srgbClr val="215F9A"/>
              </a:solidFill>
            </a:endParaRPr>
          </a:p>
          <a:p>
            <a:pPr algn="ctr"/>
            <a:r>
              <a:rPr lang="it-IT" sz="1600" b="1" dirty="0"/>
              <a:t>OpDB_Context.py</a:t>
            </a:r>
          </a:p>
          <a:p>
            <a:pPr algn="ctr"/>
            <a:r>
              <a:rPr lang="it-IT" sz="1600" b="1" dirty="0"/>
              <a:t>OpDB_ObjectType.py</a:t>
            </a:r>
          </a:p>
          <a:p>
            <a:pPr algn="ctr"/>
            <a:r>
              <a:rPr lang="it-IT" sz="1600" b="1" dirty="0"/>
              <a:t>OpDB_Algorithm.py</a:t>
            </a:r>
          </a:p>
          <a:p>
            <a:pPr algn="ctr"/>
            <a:r>
              <a:rPr lang="it-IT" sz="1600" b="1" dirty="0"/>
              <a:t>OpDB_Pipeline.py</a:t>
            </a:r>
            <a:endParaRPr lang="it-IT" sz="1600" b="1" i="1" dirty="0">
              <a:solidFill>
                <a:schemeClr val="bg1"/>
              </a:solidFill>
            </a:endParaRPr>
          </a:p>
          <a:p>
            <a:pPr algn="ctr"/>
            <a:endParaRPr lang="it-IT" sz="1600" b="1" i="1" dirty="0">
              <a:solidFill>
                <a:srgbClr val="215F9A"/>
              </a:solidFill>
            </a:endParaRPr>
          </a:p>
          <a:p>
            <a:pPr algn="ctr"/>
            <a:endParaRPr lang="it-IT" sz="1600" b="1" i="1" dirty="0">
              <a:solidFill>
                <a:srgbClr val="215F9A"/>
              </a:solidFill>
            </a:endParaRPr>
          </a:p>
          <a:p>
            <a:pPr marL="285750" indent="-285750">
              <a:buFont typeface="Arial" panose="020B0604020202020204" pitchFamily="34" charset="0"/>
              <a:buChar char="•"/>
            </a:pPr>
            <a:r>
              <a:rPr lang="it-IT" sz="1600" dirty="0" err="1">
                <a:solidFill>
                  <a:srgbClr val="215F9A"/>
                </a:solidFill>
              </a:rPr>
              <a:t>Creation</a:t>
            </a:r>
            <a:r>
              <a:rPr lang="it-IT" sz="1600" dirty="0">
                <a:solidFill>
                  <a:srgbClr val="215F9A"/>
                </a:solidFill>
              </a:rPr>
              <a:t>, reading, and </a:t>
            </a:r>
            <a:r>
              <a:rPr lang="it-IT" sz="1600" dirty="0" err="1">
                <a:solidFill>
                  <a:srgbClr val="215F9A"/>
                </a:solidFill>
              </a:rPr>
              <a:t>deletion</a:t>
            </a:r>
            <a:r>
              <a:rPr lang="it-IT" sz="1600" dirty="0">
                <a:solidFill>
                  <a:srgbClr val="215F9A"/>
                </a:solidFill>
              </a:rPr>
              <a:t> of </a:t>
            </a:r>
            <a:r>
              <a:rPr lang="it-IT" sz="1600" dirty="0" err="1">
                <a:solidFill>
                  <a:srgbClr val="215F9A"/>
                </a:solidFill>
              </a:rPr>
              <a:t>elements</a:t>
            </a:r>
            <a:endParaRPr lang="it-IT" sz="1600" dirty="0">
              <a:solidFill>
                <a:srgbClr val="215F9A"/>
              </a:solidFill>
            </a:endParaRPr>
          </a:p>
          <a:p>
            <a:pPr marL="285750" indent="-285750">
              <a:buFont typeface="Arial" panose="020B0604020202020204" pitchFamily="34" charset="0"/>
              <a:buChar char="•"/>
            </a:pPr>
            <a:r>
              <a:rPr lang="it-IT" sz="1600" dirty="0" err="1">
                <a:solidFill>
                  <a:srgbClr val="215F9A"/>
                </a:solidFill>
              </a:rPr>
              <a:t>Context</a:t>
            </a:r>
            <a:r>
              <a:rPr lang="it-IT" sz="1600" dirty="0">
                <a:solidFill>
                  <a:srgbClr val="215F9A"/>
                </a:solidFill>
              </a:rPr>
              <a:t> </a:t>
            </a:r>
            <a:r>
              <a:rPr lang="it-IT" sz="1600" dirty="0" err="1">
                <a:solidFill>
                  <a:srgbClr val="215F9A"/>
                </a:solidFill>
              </a:rPr>
              <a:t>retrieval</a:t>
            </a:r>
            <a:endParaRPr lang="it-IT" sz="1600" dirty="0">
              <a:solidFill>
                <a:srgbClr val="215F9A"/>
              </a:solidFill>
            </a:endParaRPr>
          </a:p>
          <a:p>
            <a:pPr marL="285750" indent="-285750">
              <a:buFont typeface="Arial" panose="020B0604020202020204" pitchFamily="34" charset="0"/>
              <a:buChar char="•"/>
            </a:pPr>
            <a:r>
              <a:rPr lang="it-IT" sz="1600" dirty="0">
                <a:solidFill>
                  <a:srgbClr val="215F9A"/>
                </a:solidFill>
              </a:rPr>
              <a:t>Pipeline </a:t>
            </a:r>
            <a:r>
              <a:rPr lang="it-IT" sz="1600" dirty="0" err="1">
                <a:solidFill>
                  <a:srgbClr val="215F9A"/>
                </a:solidFill>
              </a:rPr>
              <a:t>reconstruction</a:t>
            </a:r>
            <a:endParaRPr lang="it-IT" sz="1600" dirty="0">
              <a:solidFill>
                <a:srgbClr val="215F9A"/>
              </a:solidFill>
            </a:endParaRPr>
          </a:p>
          <a:p>
            <a:pPr marL="285750" indent="-285750" algn="just">
              <a:buFont typeface="Arial" panose="020B0604020202020204" pitchFamily="34" charset="0"/>
              <a:buChar char="•"/>
            </a:pPr>
            <a:endParaRPr lang="it-IT" sz="1600" b="1" i="1" dirty="0">
              <a:solidFill>
                <a:srgbClr val="215F9A"/>
              </a:solidFill>
            </a:endParaRPr>
          </a:p>
        </p:txBody>
      </p:sp>
      <p:cxnSp>
        <p:nvCxnSpPr>
          <p:cNvPr id="3" name="Connettore 2 2">
            <a:extLst>
              <a:ext uri="{FF2B5EF4-FFF2-40B4-BE49-F238E27FC236}">
                <a16:creationId xmlns:a16="http://schemas.microsoft.com/office/drawing/2014/main" id="{747D6C6A-36D7-8A9D-6105-7D5002688C4F}"/>
              </a:ext>
            </a:extLst>
          </p:cNvPr>
          <p:cNvCxnSpPr>
            <a:cxnSpLocks/>
          </p:cNvCxnSpPr>
          <p:nvPr/>
        </p:nvCxnSpPr>
        <p:spPr>
          <a:xfrm>
            <a:off x="9331374" y="3855650"/>
            <a:ext cx="0" cy="401444"/>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6" name="Connettore 2 5">
            <a:extLst>
              <a:ext uri="{FF2B5EF4-FFF2-40B4-BE49-F238E27FC236}">
                <a16:creationId xmlns:a16="http://schemas.microsoft.com/office/drawing/2014/main" id="{C23E70F2-4302-23A9-5A38-C359A558F275}"/>
              </a:ext>
            </a:extLst>
          </p:cNvPr>
          <p:cNvCxnSpPr>
            <a:cxnSpLocks/>
          </p:cNvCxnSpPr>
          <p:nvPr/>
        </p:nvCxnSpPr>
        <p:spPr>
          <a:xfrm>
            <a:off x="7449620" y="4124042"/>
            <a:ext cx="0" cy="401444"/>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16533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AF997-4219-948A-0FF1-62E23369E88B}"/>
            </a:ext>
          </a:extLst>
        </p:cNvPr>
        <p:cNvGrpSpPr/>
        <p:nvPr/>
      </p:nvGrpSpPr>
      <p:grpSpPr>
        <a:xfrm>
          <a:off x="0" y="0"/>
          <a:ext cx="0" cy="0"/>
          <a:chOff x="0" y="0"/>
          <a:chExt cx="0" cy="0"/>
        </a:xfrm>
      </p:grpSpPr>
      <p:pic>
        <p:nvPicPr>
          <p:cNvPr id="7" name="Immagine 6">
            <a:extLst>
              <a:ext uri="{FF2B5EF4-FFF2-40B4-BE49-F238E27FC236}">
                <a16:creationId xmlns:a16="http://schemas.microsoft.com/office/drawing/2014/main" id="{FFD4713A-6093-59B8-D1E6-3DA009605C04}"/>
              </a:ext>
            </a:extLst>
          </p:cNvPr>
          <p:cNvPicPr>
            <a:picLocks noChangeAspect="1"/>
          </p:cNvPicPr>
          <p:nvPr/>
        </p:nvPicPr>
        <p:blipFill>
          <a:blip r:embed="rId3">
            <a:alphaModFix amt="80000"/>
          </a:blip>
          <a:srcRect l="4925" t="9494" r="4014" b="8347"/>
          <a:stretch>
            <a:fillRect/>
          </a:stretch>
        </p:blipFill>
        <p:spPr>
          <a:xfrm>
            <a:off x="529138" y="554182"/>
            <a:ext cx="11302640" cy="5726545"/>
          </a:xfrm>
          <a:prstGeom prst="rect">
            <a:avLst/>
          </a:prstGeom>
        </p:spPr>
      </p:pic>
      <p:sp>
        <p:nvSpPr>
          <p:cNvPr id="20" name="Figura a mano libera: forma 19">
            <a:extLst>
              <a:ext uri="{FF2B5EF4-FFF2-40B4-BE49-F238E27FC236}">
                <a16:creationId xmlns:a16="http://schemas.microsoft.com/office/drawing/2014/main" id="{F7D8E9BA-3CE6-626F-685F-24C6A3FBF7FA}"/>
              </a:ext>
            </a:extLst>
          </p:cNvPr>
          <p:cNvSpPr/>
          <p:nvPr/>
        </p:nvSpPr>
        <p:spPr>
          <a:xfrm>
            <a:off x="9516976" y="-20529"/>
            <a:ext cx="2675023" cy="1479328"/>
          </a:xfrm>
          <a:custGeom>
            <a:avLst/>
            <a:gdLst>
              <a:gd name="csX0" fmla="*/ 0 w 2675023"/>
              <a:gd name="csY0" fmla="*/ 0 h 1479328"/>
              <a:gd name="csX1" fmla="*/ 2675023 w 2675023"/>
              <a:gd name="csY1" fmla="*/ 0 h 1479328"/>
              <a:gd name="csX2" fmla="*/ 2675023 w 2675023"/>
              <a:gd name="csY2" fmla="*/ 283633 h 1479328"/>
              <a:gd name="csX3" fmla="*/ 1479328 w 2675023"/>
              <a:gd name="csY3" fmla="*/ 1479328 h 1479328"/>
            </a:gdLst>
            <a:ahLst/>
            <a:cxnLst>
              <a:cxn ang="0">
                <a:pos x="csX0" y="csY0"/>
              </a:cxn>
              <a:cxn ang="0">
                <a:pos x="csX1" y="csY1"/>
              </a:cxn>
              <a:cxn ang="0">
                <a:pos x="csX2" y="csY2"/>
              </a:cxn>
              <a:cxn ang="0">
                <a:pos x="csX3" y="csY3"/>
              </a:cxn>
            </a:cxnLst>
            <a:rect l="l" t="t" r="r" b="b"/>
            <a:pathLst>
              <a:path w="2675023" h="1479328">
                <a:moveTo>
                  <a:pt x="0" y="0"/>
                </a:moveTo>
                <a:lnTo>
                  <a:pt x="2675023" y="0"/>
                </a:lnTo>
                <a:lnTo>
                  <a:pt x="2675023" y="283633"/>
                </a:lnTo>
                <a:lnTo>
                  <a:pt x="1479328" y="1479328"/>
                </a:lnTo>
                <a:close/>
              </a:path>
            </a:pathLst>
          </a:cu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3" name="Figura a mano libera: forma 22">
            <a:extLst>
              <a:ext uri="{FF2B5EF4-FFF2-40B4-BE49-F238E27FC236}">
                <a16:creationId xmlns:a16="http://schemas.microsoft.com/office/drawing/2014/main" id="{86DD642B-A4B7-CDEF-8174-8A4FB0418B86}"/>
              </a:ext>
            </a:extLst>
          </p:cNvPr>
          <p:cNvSpPr/>
          <p:nvPr/>
        </p:nvSpPr>
        <p:spPr>
          <a:xfrm>
            <a:off x="6989459" y="5941826"/>
            <a:ext cx="1832348" cy="916174"/>
          </a:xfrm>
          <a:custGeom>
            <a:avLst/>
            <a:gdLst>
              <a:gd name="csX0" fmla="*/ 916174 w 1832348"/>
              <a:gd name="csY0" fmla="*/ 0 h 916174"/>
              <a:gd name="csX1" fmla="*/ 1832348 w 1832348"/>
              <a:gd name="csY1" fmla="*/ 916174 h 916174"/>
              <a:gd name="csX2" fmla="*/ 0 w 1832348"/>
              <a:gd name="csY2" fmla="*/ 916174 h 916174"/>
            </a:gdLst>
            <a:ahLst/>
            <a:cxnLst>
              <a:cxn ang="0">
                <a:pos x="csX0" y="csY0"/>
              </a:cxn>
              <a:cxn ang="0">
                <a:pos x="csX1" y="csY1"/>
              </a:cxn>
              <a:cxn ang="0">
                <a:pos x="csX2" y="csY2"/>
              </a:cxn>
            </a:cxnLst>
            <a:rect l="l" t="t" r="r" b="b"/>
            <a:pathLst>
              <a:path w="1832348" h="916174">
                <a:moveTo>
                  <a:pt x="916174" y="0"/>
                </a:moveTo>
                <a:lnTo>
                  <a:pt x="1832348" y="916174"/>
                </a:lnTo>
                <a:lnTo>
                  <a:pt x="0" y="91617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6" name="Figura a mano libera: forma 25">
            <a:extLst>
              <a:ext uri="{FF2B5EF4-FFF2-40B4-BE49-F238E27FC236}">
                <a16:creationId xmlns:a16="http://schemas.microsoft.com/office/drawing/2014/main" id="{031349B9-C72E-9798-5BCD-24254FDF533A}"/>
              </a:ext>
            </a:extLst>
          </p:cNvPr>
          <p:cNvSpPr/>
          <p:nvPr/>
        </p:nvSpPr>
        <p:spPr>
          <a:xfrm>
            <a:off x="6713034" y="6581576"/>
            <a:ext cx="552849" cy="276424"/>
          </a:xfrm>
          <a:custGeom>
            <a:avLst/>
            <a:gdLst>
              <a:gd name="csX0" fmla="*/ 276424 w 552849"/>
              <a:gd name="csY0" fmla="*/ 0 h 276424"/>
              <a:gd name="csX1" fmla="*/ 552849 w 552849"/>
              <a:gd name="csY1" fmla="*/ 276424 h 276424"/>
              <a:gd name="csX2" fmla="*/ 0 w 552849"/>
              <a:gd name="csY2" fmla="*/ 276424 h 276424"/>
            </a:gdLst>
            <a:ahLst/>
            <a:cxnLst>
              <a:cxn ang="0">
                <a:pos x="csX0" y="csY0"/>
              </a:cxn>
              <a:cxn ang="0">
                <a:pos x="csX1" y="csY1"/>
              </a:cxn>
              <a:cxn ang="0">
                <a:pos x="csX2" y="csY2"/>
              </a:cxn>
            </a:cxnLst>
            <a:rect l="l" t="t" r="r" b="b"/>
            <a:pathLst>
              <a:path w="552849" h="276424">
                <a:moveTo>
                  <a:pt x="276424" y="0"/>
                </a:moveTo>
                <a:lnTo>
                  <a:pt x="552849" y="276424"/>
                </a:lnTo>
                <a:lnTo>
                  <a:pt x="0" y="27642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8" name="Rettangolo 27">
            <a:extLst>
              <a:ext uri="{FF2B5EF4-FFF2-40B4-BE49-F238E27FC236}">
                <a16:creationId xmlns:a16="http://schemas.microsoft.com/office/drawing/2014/main" id="{1E06490D-0874-AB4A-E4C8-0AB06764B493}"/>
              </a:ext>
            </a:extLst>
          </p:cNvPr>
          <p:cNvSpPr/>
          <p:nvPr/>
        </p:nvSpPr>
        <p:spPr>
          <a:xfrm rot="2700000">
            <a:off x="10282723" y="756077"/>
            <a:ext cx="576000" cy="576000"/>
          </a:xfrm>
          <a:prstGeom prst="rect">
            <a:avLst/>
          </a:pr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igura a mano libera: forma 14">
            <a:extLst>
              <a:ext uri="{FF2B5EF4-FFF2-40B4-BE49-F238E27FC236}">
                <a16:creationId xmlns:a16="http://schemas.microsoft.com/office/drawing/2014/main" id="{3A23FC3C-5510-FFD7-EE59-BA9127D90F3B}"/>
              </a:ext>
            </a:extLst>
          </p:cNvPr>
          <p:cNvSpPr/>
          <p:nvPr/>
        </p:nvSpPr>
        <p:spPr>
          <a:xfrm>
            <a:off x="1" y="1"/>
            <a:ext cx="1637673" cy="1584633"/>
          </a:xfrm>
          <a:custGeom>
            <a:avLst/>
            <a:gdLst>
              <a:gd name="csX0" fmla="*/ 0 w 1637673"/>
              <a:gd name="csY0" fmla="*/ 0 h 1584633"/>
              <a:gd name="csX1" fmla="*/ 1325832 w 1637673"/>
              <a:gd name="csY1" fmla="*/ 0 h 1584633"/>
              <a:gd name="csX2" fmla="*/ 1637673 w 1637673"/>
              <a:gd name="csY2" fmla="*/ 311841 h 1584633"/>
              <a:gd name="csX3" fmla="*/ 364881 w 1637673"/>
              <a:gd name="csY3" fmla="*/ 1584633 h 1584633"/>
              <a:gd name="csX4" fmla="*/ 0 w 1637673"/>
              <a:gd name="csY4" fmla="*/ 1219752 h 1584633"/>
            </a:gdLst>
            <a:ahLst/>
            <a:cxnLst>
              <a:cxn ang="0">
                <a:pos x="csX0" y="csY0"/>
              </a:cxn>
              <a:cxn ang="0">
                <a:pos x="csX1" y="csY1"/>
              </a:cxn>
              <a:cxn ang="0">
                <a:pos x="csX2" y="csY2"/>
              </a:cxn>
              <a:cxn ang="0">
                <a:pos x="csX3" y="csY3"/>
              </a:cxn>
              <a:cxn ang="0">
                <a:pos x="csX4" y="csY4"/>
              </a:cxn>
            </a:cxnLst>
            <a:rect l="l" t="t" r="r" b="b"/>
            <a:pathLst>
              <a:path w="1637673" h="1584633">
                <a:moveTo>
                  <a:pt x="0" y="0"/>
                </a:moveTo>
                <a:lnTo>
                  <a:pt x="1325832" y="0"/>
                </a:lnTo>
                <a:lnTo>
                  <a:pt x="1637673" y="311841"/>
                </a:lnTo>
                <a:lnTo>
                  <a:pt x="364881" y="1584633"/>
                </a:lnTo>
                <a:lnTo>
                  <a:pt x="0" y="1219752"/>
                </a:lnTo>
                <a:close/>
              </a:path>
            </a:pathLst>
          </a:cu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7" name="Rettangolo 26">
            <a:extLst>
              <a:ext uri="{FF2B5EF4-FFF2-40B4-BE49-F238E27FC236}">
                <a16:creationId xmlns:a16="http://schemas.microsoft.com/office/drawing/2014/main" id="{9240B054-D163-314F-88FA-45BA763778A2}"/>
              </a:ext>
            </a:extLst>
          </p:cNvPr>
          <p:cNvSpPr/>
          <p:nvPr/>
        </p:nvSpPr>
        <p:spPr>
          <a:xfrm rot="2700000">
            <a:off x="942381" y="431135"/>
            <a:ext cx="576000" cy="576000"/>
          </a:xfrm>
          <a:prstGeom prst="rect">
            <a:avLst/>
          </a:pr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A001AF57-1207-F69B-8315-17033E622A65}"/>
              </a:ext>
            </a:extLst>
          </p:cNvPr>
          <p:cNvSpPr>
            <a:spLocks noGrp="1"/>
          </p:cNvSpPr>
          <p:nvPr>
            <p:ph type="title"/>
          </p:nvPr>
        </p:nvSpPr>
        <p:spPr>
          <a:xfrm>
            <a:off x="838200" y="599299"/>
            <a:ext cx="10515600" cy="1325563"/>
          </a:xfrm>
        </p:spPr>
        <p:txBody>
          <a:bodyPr/>
          <a:lstStyle/>
          <a:p>
            <a:r>
              <a:rPr lang="it-IT" i="1" dirty="0"/>
              <a:t>Models</a:t>
            </a:r>
          </a:p>
        </p:txBody>
      </p:sp>
      <p:sp>
        <p:nvSpPr>
          <p:cNvPr id="5" name="CasellaDiTesto 4">
            <a:extLst>
              <a:ext uri="{FF2B5EF4-FFF2-40B4-BE49-F238E27FC236}">
                <a16:creationId xmlns:a16="http://schemas.microsoft.com/office/drawing/2014/main" id="{94396E2C-E85B-7259-9349-AAAABF58ADF1}"/>
              </a:ext>
            </a:extLst>
          </p:cNvPr>
          <p:cNvSpPr txBox="1"/>
          <p:nvPr/>
        </p:nvSpPr>
        <p:spPr>
          <a:xfrm>
            <a:off x="838200" y="1751901"/>
            <a:ext cx="10154930" cy="369332"/>
          </a:xfrm>
          <a:prstGeom prst="rect">
            <a:avLst/>
          </a:prstGeom>
          <a:noFill/>
        </p:spPr>
        <p:txBody>
          <a:bodyPr wrap="square">
            <a:spAutoFit/>
          </a:bodyPr>
          <a:lstStyle/>
          <a:p>
            <a:r>
              <a:rPr lang="en-US" dirty="0"/>
              <a:t>Classes used by the application logic during pipeline construction</a:t>
            </a:r>
            <a:endParaRPr lang="it-IT" dirty="0"/>
          </a:p>
        </p:txBody>
      </p:sp>
      <p:sp>
        <p:nvSpPr>
          <p:cNvPr id="4" name="Rettangolo con angoli arrotondati 3">
            <a:extLst>
              <a:ext uri="{FF2B5EF4-FFF2-40B4-BE49-F238E27FC236}">
                <a16:creationId xmlns:a16="http://schemas.microsoft.com/office/drawing/2014/main" id="{54BD6C42-AD30-591E-58C2-16447A5C6AC6}"/>
              </a:ext>
            </a:extLst>
          </p:cNvPr>
          <p:cNvSpPr/>
          <p:nvPr/>
        </p:nvSpPr>
        <p:spPr>
          <a:xfrm>
            <a:off x="838200" y="2465384"/>
            <a:ext cx="2182161" cy="2261765"/>
          </a:xfrm>
          <a:prstGeom prst="round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it-IT" sz="1600" b="1" i="1" dirty="0">
                <a:solidFill>
                  <a:schemeClr val="bg1"/>
                </a:solidFill>
              </a:rPr>
              <a:t>ObjectType.py</a:t>
            </a:r>
          </a:p>
          <a:p>
            <a:pPr algn="ctr"/>
            <a:r>
              <a:rPr lang="it-IT" sz="1600" u="sng" dirty="0">
                <a:solidFill>
                  <a:srgbClr val="13501B"/>
                </a:solidFill>
              </a:rPr>
              <a:t>Data </a:t>
            </a:r>
            <a:r>
              <a:rPr lang="it-IT" sz="1600" u="sng" dirty="0" err="1">
                <a:solidFill>
                  <a:srgbClr val="13501B"/>
                </a:solidFill>
              </a:rPr>
              <a:t>type</a:t>
            </a:r>
            <a:endParaRPr lang="it-IT" sz="1600" u="sng" dirty="0">
              <a:solidFill>
                <a:srgbClr val="13501B"/>
              </a:solidFill>
            </a:endParaRPr>
          </a:p>
          <a:p>
            <a:pPr algn="ctr"/>
            <a:endParaRPr lang="it-IT" sz="1600" b="1" i="1" dirty="0">
              <a:solidFill>
                <a:srgbClr val="215F9A"/>
              </a:solidFill>
            </a:endParaRPr>
          </a:p>
          <a:p>
            <a:pPr algn="ctr"/>
            <a:endParaRPr lang="it-IT" sz="1600" b="1" dirty="0">
              <a:solidFill>
                <a:srgbClr val="13501B"/>
              </a:solidFill>
            </a:endParaRPr>
          </a:p>
          <a:p>
            <a:pPr algn="ctr"/>
            <a:r>
              <a:rPr lang="it-IT" sz="1600" b="1" dirty="0">
                <a:solidFill>
                  <a:srgbClr val="13501B"/>
                </a:solidFill>
              </a:rPr>
              <a:t>Pipeline </a:t>
            </a:r>
            <a:r>
              <a:rPr lang="it-IT" sz="1600" b="1" dirty="0" err="1">
                <a:solidFill>
                  <a:srgbClr val="13501B"/>
                </a:solidFill>
              </a:rPr>
              <a:t>Node</a:t>
            </a:r>
            <a:endParaRPr lang="it-IT" sz="1600" dirty="0">
              <a:solidFill>
                <a:srgbClr val="13501B"/>
              </a:solidFill>
            </a:endParaRPr>
          </a:p>
          <a:p>
            <a:pPr algn="ctr"/>
            <a:endParaRPr lang="it-IT" sz="1600" dirty="0">
              <a:solidFill>
                <a:srgbClr val="13501B"/>
              </a:solidFill>
            </a:endParaRPr>
          </a:p>
          <a:p>
            <a:pPr algn="ctr"/>
            <a:r>
              <a:rPr lang="it-IT" sz="1600" dirty="0" err="1">
                <a:solidFill>
                  <a:srgbClr val="13501B"/>
                </a:solidFill>
              </a:rPr>
              <a:t>Possible</a:t>
            </a:r>
            <a:r>
              <a:rPr lang="it-IT" sz="1600" dirty="0">
                <a:solidFill>
                  <a:srgbClr val="13501B"/>
                </a:solidFill>
              </a:rPr>
              <a:t> data format or state</a:t>
            </a:r>
          </a:p>
        </p:txBody>
      </p:sp>
      <p:sp>
        <p:nvSpPr>
          <p:cNvPr id="9" name="Rettangolo con angoli arrotondati 8">
            <a:extLst>
              <a:ext uri="{FF2B5EF4-FFF2-40B4-BE49-F238E27FC236}">
                <a16:creationId xmlns:a16="http://schemas.microsoft.com/office/drawing/2014/main" id="{85195712-F278-85BB-6EB7-E9558CDE8FA9}"/>
              </a:ext>
            </a:extLst>
          </p:cNvPr>
          <p:cNvSpPr/>
          <p:nvPr/>
        </p:nvSpPr>
        <p:spPr>
          <a:xfrm>
            <a:off x="3549498" y="2465384"/>
            <a:ext cx="2888445" cy="2471483"/>
          </a:xfrm>
          <a:prstGeom prst="round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it-IT" sz="1600" b="1" dirty="0"/>
              <a:t>Algorithm.py</a:t>
            </a:r>
            <a:endParaRPr lang="it-IT" sz="1600" dirty="0"/>
          </a:p>
          <a:p>
            <a:pPr algn="ctr"/>
            <a:r>
              <a:rPr lang="it-IT" sz="1600" u="sng" dirty="0" err="1">
                <a:solidFill>
                  <a:srgbClr val="13501B"/>
                </a:solidFill>
              </a:rPr>
              <a:t>Algorithm</a:t>
            </a:r>
            <a:endParaRPr lang="it-IT" sz="1600" u="sng" dirty="0">
              <a:solidFill>
                <a:srgbClr val="13501B"/>
              </a:solidFill>
            </a:endParaRPr>
          </a:p>
          <a:p>
            <a:pPr algn="ctr"/>
            <a:endParaRPr lang="it-IT" sz="1600" dirty="0">
              <a:solidFill>
                <a:srgbClr val="13501B"/>
              </a:solidFill>
            </a:endParaRPr>
          </a:p>
          <a:p>
            <a:pPr algn="ctr"/>
            <a:endParaRPr lang="it-IT" sz="1600" dirty="0">
              <a:solidFill>
                <a:srgbClr val="13501B"/>
              </a:solidFill>
            </a:endParaRPr>
          </a:p>
          <a:p>
            <a:pPr algn="ctr"/>
            <a:r>
              <a:rPr lang="it-IT" sz="1600" b="1" dirty="0">
                <a:solidFill>
                  <a:srgbClr val="13501B"/>
                </a:solidFill>
              </a:rPr>
              <a:t>Pipeline </a:t>
            </a:r>
            <a:r>
              <a:rPr lang="it-IT" sz="1600" b="1" dirty="0" err="1">
                <a:solidFill>
                  <a:srgbClr val="13501B"/>
                </a:solidFill>
              </a:rPr>
              <a:t>edge</a:t>
            </a:r>
            <a:r>
              <a:rPr lang="it-IT" sz="1600" dirty="0">
                <a:solidFill>
                  <a:srgbClr val="13501B"/>
                </a:solidFill>
              </a:rPr>
              <a:t> </a:t>
            </a:r>
            <a:r>
              <a:rPr lang="it-IT" sz="1600" dirty="0" err="1">
                <a:solidFill>
                  <a:srgbClr val="13501B"/>
                </a:solidFill>
              </a:rPr>
              <a:t>connecting</a:t>
            </a:r>
            <a:r>
              <a:rPr lang="it-IT" sz="1600" dirty="0">
                <a:solidFill>
                  <a:srgbClr val="13501B"/>
                </a:solidFill>
              </a:rPr>
              <a:t> </a:t>
            </a:r>
            <a:r>
              <a:rPr lang="it-IT" sz="1600" dirty="0" err="1">
                <a:solidFill>
                  <a:srgbClr val="13501B"/>
                </a:solidFill>
              </a:rPr>
              <a:t>two</a:t>
            </a:r>
            <a:r>
              <a:rPr lang="it-IT" sz="1600" dirty="0">
                <a:solidFill>
                  <a:srgbClr val="13501B"/>
                </a:solidFill>
              </a:rPr>
              <a:t> </a:t>
            </a:r>
            <a:r>
              <a:rPr lang="it-IT" sz="1600" dirty="0" err="1">
                <a:solidFill>
                  <a:srgbClr val="13501B"/>
                </a:solidFill>
              </a:rPr>
              <a:t>nodes</a:t>
            </a:r>
            <a:endParaRPr lang="it-IT" sz="1600" dirty="0">
              <a:solidFill>
                <a:srgbClr val="13501B"/>
              </a:solidFill>
            </a:endParaRPr>
          </a:p>
          <a:p>
            <a:pPr algn="ctr"/>
            <a:endParaRPr lang="it-IT" sz="1600" dirty="0">
              <a:solidFill>
                <a:srgbClr val="13501B"/>
              </a:solidFill>
            </a:endParaRPr>
          </a:p>
          <a:p>
            <a:pPr algn="ctr"/>
            <a:r>
              <a:rPr lang="it-IT" sz="1600" dirty="0" err="1">
                <a:solidFill>
                  <a:srgbClr val="13501B"/>
                </a:solidFill>
              </a:rPr>
              <a:t>Transformation</a:t>
            </a:r>
            <a:r>
              <a:rPr lang="it-IT" sz="1600" dirty="0">
                <a:solidFill>
                  <a:srgbClr val="13501B"/>
                </a:solidFill>
              </a:rPr>
              <a:t> </a:t>
            </a:r>
            <a:r>
              <a:rPr lang="it-IT" sz="1600" dirty="0" err="1">
                <a:solidFill>
                  <a:srgbClr val="13501B"/>
                </a:solidFill>
              </a:rPr>
              <a:t>between</a:t>
            </a:r>
            <a:r>
              <a:rPr lang="it-IT" sz="1600" dirty="0">
                <a:solidFill>
                  <a:srgbClr val="13501B"/>
                </a:solidFill>
              </a:rPr>
              <a:t> </a:t>
            </a:r>
            <a:r>
              <a:rPr lang="it-IT" sz="1600" dirty="0" err="1">
                <a:solidFill>
                  <a:srgbClr val="13501B"/>
                </a:solidFill>
              </a:rPr>
              <a:t>two</a:t>
            </a:r>
            <a:r>
              <a:rPr lang="it-IT" sz="1600" dirty="0">
                <a:solidFill>
                  <a:srgbClr val="13501B"/>
                </a:solidFill>
              </a:rPr>
              <a:t> data </a:t>
            </a:r>
            <a:r>
              <a:rPr lang="it-IT" sz="1600" dirty="0" err="1">
                <a:solidFill>
                  <a:srgbClr val="13501B"/>
                </a:solidFill>
              </a:rPr>
              <a:t>type</a:t>
            </a:r>
            <a:endParaRPr lang="it-IT" sz="1600" dirty="0">
              <a:solidFill>
                <a:srgbClr val="13501B"/>
              </a:solidFill>
            </a:endParaRPr>
          </a:p>
        </p:txBody>
      </p:sp>
      <p:sp>
        <p:nvSpPr>
          <p:cNvPr id="10" name="Rettangolo con angoli arrotondati 9">
            <a:extLst>
              <a:ext uri="{FF2B5EF4-FFF2-40B4-BE49-F238E27FC236}">
                <a16:creationId xmlns:a16="http://schemas.microsoft.com/office/drawing/2014/main" id="{3E9B7987-A894-C0EC-C960-8CF043B1D922}"/>
              </a:ext>
            </a:extLst>
          </p:cNvPr>
          <p:cNvSpPr/>
          <p:nvPr/>
        </p:nvSpPr>
        <p:spPr>
          <a:xfrm>
            <a:off x="6967080" y="2465384"/>
            <a:ext cx="4010937" cy="3257303"/>
          </a:xfrm>
          <a:prstGeom prst="round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it-IT" sz="1600" b="1" dirty="0"/>
              <a:t>Pipeline.py</a:t>
            </a:r>
          </a:p>
          <a:p>
            <a:pPr algn="ctr"/>
            <a:r>
              <a:rPr lang="it-IT" sz="1600" u="sng" dirty="0">
                <a:solidFill>
                  <a:srgbClr val="13501B"/>
                </a:solidFill>
              </a:rPr>
              <a:t>Pipeline</a:t>
            </a:r>
            <a:r>
              <a:rPr lang="it-IT" sz="1600" dirty="0">
                <a:solidFill>
                  <a:srgbClr val="13501B"/>
                </a:solidFill>
              </a:rPr>
              <a:t> </a:t>
            </a:r>
          </a:p>
          <a:p>
            <a:pPr algn="ctr"/>
            <a:endParaRPr lang="it-IT" sz="1600" dirty="0">
              <a:solidFill>
                <a:srgbClr val="13501B"/>
              </a:solidFill>
            </a:endParaRPr>
          </a:p>
          <a:p>
            <a:pPr algn="ctr"/>
            <a:endParaRPr lang="it-IT" sz="1600" b="1" dirty="0">
              <a:solidFill>
                <a:srgbClr val="13501B"/>
              </a:solidFill>
            </a:endParaRPr>
          </a:p>
          <a:p>
            <a:pPr algn="ctr"/>
            <a:r>
              <a:rPr lang="it-IT" sz="1600" b="1" dirty="0" err="1">
                <a:solidFill>
                  <a:srgbClr val="13501B"/>
                </a:solidFill>
              </a:rPr>
              <a:t>Ordered</a:t>
            </a:r>
            <a:r>
              <a:rPr lang="it-IT" sz="1600" b="1" dirty="0">
                <a:solidFill>
                  <a:srgbClr val="13501B"/>
                </a:solidFill>
              </a:rPr>
              <a:t> </a:t>
            </a:r>
            <a:r>
              <a:rPr lang="it-IT" sz="1600" b="1" dirty="0" err="1">
                <a:solidFill>
                  <a:srgbClr val="13501B"/>
                </a:solidFill>
              </a:rPr>
              <a:t>sequence</a:t>
            </a:r>
            <a:r>
              <a:rPr lang="it-IT" sz="1600" b="1" dirty="0">
                <a:solidFill>
                  <a:srgbClr val="13501B"/>
                </a:solidFill>
              </a:rPr>
              <a:t> </a:t>
            </a:r>
          </a:p>
          <a:p>
            <a:pPr algn="ctr"/>
            <a:r>
              <a:rPr lang="it-IT" sz="1600" dirty="0">
                <a:solidFill>
                  <a:srgbClr val="13501B"/>
                </a:solidFill>
              </a:rPr>
              <a:t>of </a:t>
            </a:r>
            <a:r>
              <a:rPr lang="it-IT" sz="1600" dirty="0" err="1">
                <a:solidFill>
                  <a:srgbClr val="13501B"/>
                </a:solidFill>
              </a:rPr>
              <a:t>transformations</a:t>
            </a:r>
            <a:endParaRPr lang="it-IT" sz="1600" dirty="0">
              <a:solidFill>
                <a:srgbClr val="13501B"/>
              </a:solidFill>
            </a:endParaRPr>
          </a:p>
          <a:p>
            <a:pPr algn="ctr"/>
            <a:endParaRPr lang="it-IT" sz="1600" dirty="0">
              <a:solidFill>
                <a:srgbClr val="13501B"/>
              </a:solidFill>
            </a:endParaRPr>
          </a:p>
          <a:p>
            <a:pPr marL="285750" indent="-285750">
              <a:buFont typeface="Arial" panose="020B0604020202020204" pitchFamily="34" charset="0"/>
              <a:buChar char="•"/>
            </a:pPr>
            <a:r>
              <a:rPr lang="it-IT" sz="1600" dirty="0" err="1">
                <a:solidFill>
                  <a:srgbClr val="13501B"/>
                </a:solidFill>
              </a:rPr>
              <a:t>Adds</a:t>
            </a:r>
            <a:r>
              <a:rPr lang="it-IT" sz="1600" dirty="0">
                <a:solidFill>
                  <a:srgbClr val="13501B"/>
                </a:solidFill>
              </a:rPr>
              <a:t> new steps</a:t>
            </a:r>
          </a:p>
          <a:p>
            <a:pPr marL="285750" indent="-285750">
              <a:buFont typeface="Arial" panose="020B0604020202020204" pitchFamily="34" charset="0"/>
              <a:buChar char="•"/>
            </a:pPr>
            <a:r>
              <a:rPr lang="it-IT" sz="1600" dirty="0">
                <a:solidFill>
                  <a:srgbClr val="13501B"/>
                </a:solidFill>
              </a:rPr>
              <a:t>Checks </a:t>
            </a:r>
            <a:r>
              <a:rPr lang="it-IT" sz="1600" dirty="0" err="1">
                <a:solidFill>
                  <a:srgbClr val="13501B"/>
                </a:solidFill>
              </a:rPr>
              <a:t>compatibility</a:t>
            </a:r>
            <a:r>
              <a:rPr lang="it-IT" sz="1600" dirty="0">
                <a:solidFill>
                  <a:srgbClr val="13501B"/>
                </a:solidFill>
              </a:rPr>
              <a:t> </a:t>
            </a:r>
            <a:r>
              <a:rPr lang="it-IT" sz="1600" dirty="0" err="1">
                <a:solidFill>
                  <a:srgbClr val="13501B"/>
                </a:solidFill>
              </a:rPr>
              <a:t>between</a:t>
            </a:r>
            <a:r>
              <a:rPr lang="it-IT" sz="1600" dirty="0">
                <a:solidFill>
                  <a:srgbClr val="13501B"/>
                </a:solidFill>
              </a:rPr>
              <a:t> </a:t>
            </a:r>
            <a:r>
              <a:rPr lang="it-IT" sz="1600" dirty="0" err="1">
                <a:solidFill>
                  <a:srgbClr val="13501B"/>
                </a:solidFill>
              </a:rPr>
              <a:t>elements</a:t>
            </a:r>
            <a:endParaRPr lang="it-IT" sz="1600" dirty="0">
              <a:solidFill>
                <a:srgbClr val="13501B"/>
              </a:solidFill>
            </a:endParaRPr>
          </a:p>
          <a:p>
            <a:pPr marL="285750" indent="-285750">
              <a:buFont typeface="Arial" panose="020B0604020202020204" pitchFamily="34" charset="0"/>
              <a:buChar char="•"/>
            </a:pPr>
            <a:r>
              <a:rPr lang="it-IT" sz="1600" dirty="0" err="1">
                <a:solidFill>
                  <a:srgbClr val="13501B"/>
                </a:solidFill>
              </a:rPr>
              <a:t>Calculates</a:t>
            </a:r>
            <a:r>
              <a:rPr lang="it-IT" sz="1600" dirty="0">
                <a:solidFill>
                  <a:srgbClr val="13501B"/>
                </a:solidFill>
              </a:rPr>
              <a:t> </a:t>
            </a:r>
            <a:r>
              <a:rPr lang="it-IT" sz="1600" dirty="0" err="1">
                <a:solidFill>
                  <a:srgbClr val="13501B"/>
                </a:solidFill>
              </a:rPr>
              <a:t>useful</a:t>
            </a:r>
            <a:r>
              <a:rPr lang="it-IT" sz="1600" dirty="0">
                <a:solidFill>
                  <a:srgbClr val="13501B"/>
                </a:solidFill>
              </a:rPr>
              <a:t> information, </a:t>
            </a:r>
            <a:r>
              <a:rPr lang="it-IT" sz="1600" dirty="0" err="1">
                <a:solidFill>
                  <a:srgbClr val="13501B"/>
                </a:solidFill>
              </a:rPr>
              <a:t>such</a:t>
            </a:r>
            <a:r>
              <a:rPr lang="it-IT" sz="1600" dirty="0">
                <a:solidFill>
                  <a:srgbClr val="13501B"/>
                </a:solidFill>
              </a:rPr>
              <a:t> </a:t>
            </a:r>
            <a:r>
              <a:rPr lang="it-IT" sz="1600" dirty="0" err="1">
                <a:solidFill>
                  <a:srgbClr val="13501B"/>
                </a:solidFill>
              </a:rPr>
              <a:t>as</a:t>
            </a:r>
            <a:r>
              <a:rPr lang="it-IT" sz="1600" dirty="0">
                <a:solidFill>
                  <a:srgbClr val="13501B"/>
                </a:solidFill>
              </a:rPr>
              <a:t> the </a:t>
            </a:r>
            <a:r>
              <a:rPr lang="it-IT" sz="1600" dirty="0" err="1">
                <a:solidFill>
                  <a:srgbClr val="13501B"/>
                </a:solidFill>
              </a:rPr>
              <a:t>current</a:t>
            </a:r>
            <a:r>
              <a:rPr lang="it-IT" sz="1600" dirty="0">
                <a:solidFill>
                  <a:srgbClr val="13501B"/>
                </a:solidFill>
              </a:rPr>
              <a:t> </a:t>
            </a:r>
            <a:r>
              <a:rPr lang="it-IT" sz="1600" dirty="0" err="1">
                <a:solidFill>
                  <a:srgbClr val="13501B"/>
                </a:solidFill>
              </a:rPr>
              <a:t>type</a:t>
            </a:r>
            <a:r>
              <a:rPr lang="it-IT" sz="1600" dirty="0">
                <a:solidFill>
                  <a:srgbClr val="13501B"/>
                </a:solidFill>
              </a:rPr>
              <a:t> and the </a:t>
            </a:r>
            <a:r>
              <a:rPr lang="it-IT" sz="1600" dirty="0" err="1">
                <a:solidFill>
                  <a:srgbClr val="13501B"/>
                </a:solidFill>
              </a:rPr>
              <a:t>total</a:t>
            </a:r>
            <a:r>
              <a:rPr lang="it-IT" sz="1600" dirty="0">
                <a:solidFill>
                  <a:srgbClr val="13501B"/>
                </a:solidFill>
              </a:rPr>
              <a:t> cost</a:t>
            </a:r>
          </a:p>
        </p:txBody>
      </p:sp>
      <p:cxnSp>
        <p:nvCxnSpPr>
          <p:cNvPr id="11" name="Connettore 2 10">
            <a:extLst>
              <a:ext uri="{FF2B5EF4-FFF2-40B4-BE49-F238E27FC236}">
                <a16:creationId xmlns:a16="http://schemas.microsoft.com/office/drawing/2014/main" id="{8E0DFF0C-389D-9839-2B41-E4D66C986FA4}"/>
              </a:ext>
            </a:extLst>
          </p:cNvPr>
          <p:cNvCxnSpPr>
            <a:cxnSpLocks/>
          </p:cNvCxnSpPr>
          <p:nvPr/>
        </p:nvCxnSpPr>
        <p:spPr>
          <a:xfrm>
            <a:off x="1891585" y="3166325"/>
            <a:ext cx="0" cy="401444"/>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ttore 2 11">
            <a:extLst>
              <a:ext uri="{FF2B5EF4-FFF2-40B4-BE49-F238E27FC236}">
                <a16:creationId xmlns:a16="http://schemas.microsoft.com/office/drawing/2014/main" id="{32F98F4B-313A-D214-FDBD-3485BF6B2284}"/>
              </a:ext>
            </a:extLst>
          </p:cNvPr>
          <p:cNvCxnSpPr>
            <a:cxnSpLocks/>
          </p:cNvCxnSpPr>
          <p:nvPr/>
        </p:nvCxnSpPr>
        <p:spPr>
          <a:xfrm>
            <a:off x="8982465" y="3216851"/>
            <a:ext cx="0" cy="401444"/>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ttore 2 12">
            <a:extLst>
              <a:ext uri="{FF2B5EF4-FFF2-40B4-BE49-F238E27FC236}">
                <a16:creationId xmlns:a16="http://schemas.microsoft.com/office/drawing/2014/main" id="{CD94F8E2-0DAC-99F7-9264-94F921B83383}"/>
              </a:ext>
            </a:extLst>
          </p:cNvPr>
          <p:cNvCxnSpPr>
            <a:cxnSpLocks/>
          </p:cNvCxnSpPr>
          <p:nvPr/>
        </p:nvCxnSpPr>
        <p:spPr>
          <a:xfrm>
            <a:off x="5009318" y="3177821"/>
            <a:ext cx="0" cy="401444"/>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590330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70763-5108-CFE1-E466-43CC223C3C0E}"/>
            </a:ext>
          </a:extLst>
        </p:cNvPr>
        <p:cNvGrpSpPr/>
        <p:nvPr/>
      </p:nvGrpSpPr>
      <p:grpSpPr>
        <a:xfrm>
          <a:off x="0" y="0"/>
          <a:ext cx="0" cy="0"/>
          <a:chOff x="0" y="0"/>
          <a:chExt cx="0" cy="0"/>
        </a:xfrm>
      </p:grpSpPr>
      <p:pic>
        <p:nvPicPr>
          <p:cNvPr id="7" name="Immagine 6">
            <a:extLst>
              <a:ext uri="{FF2B5EF4-FFF2-40B4-BE49-F238E27FC236}">
                <a16:creationId xmlns:a16="http://schemas.microsoft.com/office/drawing/2014/main" id="{9782ECD5-FFB4-0593-A91C-BADFC9D15EB3}"/>
              </a:ext>
            </a:extLst>
          </p:cNvPr>
          <p:cNvPicPr>
            <a:picLocks noChangeAspect="1"/>
          </p:cNvPicPr>
          <p:nvPr/>
        </p:nvPicPr>
        <p:blipFill>
          <a:blip r:embed="rId3">
            <a:alphaModFix amt="80000"/>
          </a:blip>
          <a:srcRect l="4925" t="9494" r="4014" b="8347"/>
          <a:stretch>
            <a:fillRect/>
          </a:stretch>
        </p:blipFill>
        <p:spPr>
          <a:xfrm>
            <a:off x="529138" y="554182"/>
            <a:ext cx="11302640" cy="5726545"/>
          </a:xfrm>
          <a:prstGeom prst="rect">
            <a:avLst/>
          </a:prstGeom>
        </p:spPr>
      </p:pic>
      <p:sp>
        <p:nvSpPr>
          <p:cNvPr id="20" name="Figura a mano libera: forma 19">
            <a:extLst>
              <a:ext uri="{FF2B5EF4-FFF2-40B4-BE49-F238E27FC236}">
                <a16:creationId xmlns:a16="http://schemas.microsoft.com/office/drawing/2014/main" id="{21411326-EFE0-F16B-B630-472D67B89A27}"/>
              </a:ext>
            </a:extLst>
          </p:cNvPr>
          <p:cNvSpPr/>
          <p:nvPr/>
        </p:nvSpPr>
        <p:spPr>
          <a:xfrm>
            <a:off x="9516976" y="-20529"/>
            <a:ext cx="2675023" cy="1479328"/>
          </a:xfrm>
          <a:custGeom>
            <a:avLst/>
            <a:gdLst>
              <a:gd name="csX0" fmla="*/ 0 w 2675023"/>
              <a:gd name="csY0" fmla="*/ 0 h 1479328"/>
              <a:gd name="csX1" fmla="*/ 2675023 w 2675023"/>
              <a:gd name="csY1" fmla="*/ 0 h 1479328"/>
              <a:gd name="csX2" fmla="*/ 2675023 w 2675023"/>
              <a:gd name="csY2" fmla="*/ 283633 h 1479328"/>
              <a:gd name="csX3" fmla="*/ 1479328 w 2675023"/>
              <a:gd name="csY3" fmla="*/ 1479328 h 1479328"/>
            </a:gdLst>
            <a:ahLst/>
            <a:cxnLst>
              <a:cxn ang="0">
                <a:pos x="csX0" y="csY0"/>
              </a:cxn>
              <a:cxn ang="0">
                <a:pos x="csX1" y="csY1"/>
              </a:cxn>
              <a:cxn ang="0">
                <a:pos x="csX2" y="csY2"/>
              </a:cxn>
              <a:cxn ang="0">
                <a:pos x="csX3" y="csY3"/>
              </a:cxn>
            </a:cxnLst>
            <a:rect l="l" t="t" r="r" b="b"/>
            <a:pathLst>
              <a:path w="2675023" h="1479328">
                <a:moveTo>
                  <a:pt x="0" y="0"/>
                </a:moveTo>
                <a:lnTo>
                  <a:pt x="2675023" y="0"/>
                </a:lnTo>
                <a:lnTo>
                  <a:pt x="2675023" y="283633"/>
                </a:lnTo>
                <a:lnTo>
                  <a:pt x="1479328" y="1479328"/>
                </a:lnTo>
                <a:close/>
              </a:path>
            </a:pathLst>
          </a:cu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3" name="Figura a mano libera: forma 22">
            <a:extLst>
              <a:ext uri="{FF2B5EF4-FFF2-40B4-BE49-F238E27FC236}">
                <a16:creationId xmlns:a16="http://schemas.microsoft.com/office/drawing/2014/main" id="{20E836C0-14CE-BA58-16EB-4E8D20321427}"/>
              </a:ext>
            </a:extLst>
          </p:cNvPr>
          <p:cNvSpPr/>
          <p:nvPr/>
        </p:nvSpPr>
        <p:spPr>
          <a:xfrm>
            <a:off x="6989459" y="5941826"/>
            <a:ext cx="1832348" cy="916174"/>
          </a:xfrm>
          <a:custGeom>
            <a:avLst/>
            <a:gdLst>
              <a:gd name="csX0" fmla="*/ 916174 w 1832348"/>
              <a:gd name="csY0" fmla="*/ 0 h 916174"/>
              <a:gd name="csX1" fmla="*/ 1832348 w 1832348"/>
              <a:gd name="csY1" fmla="*/ 916174 h 916174"/>
              <a:gd name="csX2" fmla="*/ 0 w 1832348"/>
              <a:gd name="csY2" fmla="*/ 916174 h 916174"/>
            </a:gdLst>
            <a:ahLst/>
            <a:cxnLst>
              <a:cxn ang="0">
                <a:pos x="csX0" y="csY0"/>
              </a:cxn>
              <a:cxn ang="0">
                <a:pos x="csX1" y="csY1"/>
              </a:cxn>
              <a:cxn ang="0">
                <a:pos x="csX2" y="csY2"/>
              </a:cxn>
            </a:cxnLst>
            <a:rect l="l" t="t" r="r" b="b"/>
            <a:pathLst>
              <a:path w="1832348" h="916174">
                <a:moveTo>
                  <a:pt x="916174" y="0"/>
                </a:moveTo>
                <a:lnTo>
                  <a:pt x="1832348" y="916174"/>
                </a:lnTo>
                <a:lnTo>
                  <a:pt x="0" y="91617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6" name="Figura a mano libera: forma 25">
            <a:extLst>
              <a:ext uri="{FF2B5EF4-FFF2-40B4-BE49-F238E27FC236}">
                <a16:creationId xmlns:a16="http://schemas.microsoft.com/office/drawing/2014/main" id="{7D8A8C52-3A06-EEE6-4E01-3678E335D416}"/>
              </a:ext>
            </a:extLst>
          </p:cNvPr>
          <p:cNvSpPr/>
          <p:nvPr/>
        </p:nvSpPr>
        <p:spPr>
          <a:xfrm>
            <a:off x="6713034" y="6581576"/>
            <a:ext cx="552849" cy="276424"/>
          </a:xfrm>
          <a:custGeom>
            <a:avLst/>
            <a:gdLst>
              <a:gd name="csX0" fmla="*/ 276424 w 552849"/>
              <a:gd name="csY0" fmla="*/ 0 h 276424"/>
              <a:gd name="csX1" fmla="*/ 552849 w 552849"/>
              <a:gd name="csY1" fmla="*/ 276424 h 276424"/>
              <a:gd name="csX2" fmla="*/ 0 w 552849"/>
              <a:gd name="csY2" fmla="*/ 276424 h 276424"/>
            </a:gdLst>
            <a:ahLst/>
            <a:cxnLst>
              <a:cxn ang="0">
                <a:pos x="csX0" y="csY0"/>
              </a:cxn>
              <a:cxn ang="0">
                <a:pos x="csX1" y="csY1"/>
              </a:cxn>
              <a:cxn ang="0">
                <a:pos x="csX2" y="csY2"/>
              </a:cxn>
            </a:cxnLst>
            <a:rect l="l" t="t" r="r" b="b"/>
            <a:pathLst>
              <a:path w="552849" h="276424">
                <a:moveTo>
                  <a:pt x="276424" y="0"/>
                </a:moveTo>
                <a:lnTo>
                  <a:pt x="552849" y="276424"/>
                </a:lnTo>
                <a:lnTo>
                  <a:pt x="0" y="27642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8" name="Rettangolo 27">
            <a:extLst>
              <a:ext uri="{FF2B5EF4-FFF2-40B4-BE49-F238E27FC236}">
                <a16:creationId xmlns:a16="http://schemas.microsoft.com/office/drawing/2014/main" id="{3BECF4EF-A196-F8BA-9FC6-C52104343595}"/>
              </a:ext>
            </a:extLst>
          </p:cNvPr>
          <p:cNvSpPr/>
          <p:nvPr/>
        </p:nvSpPr>
        <p:spPr>
          <a:xfrm rot="2700000">
            <a:off x="10282723" y="756077"/>
            <a:ext cx="576000" cy="576000"/>
          </a:xfrm>
          <a:prstGeom prst="rect">
            <a:avLst/>
          </a:pr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igura a mano libera: forma 14">
            <a:extLst>
              <a:ext uri="{FF2B5EF4-FFF2-40B4-BE49-F238E27FC236}">
                <a16:creationId xmlns:a16="http://schemas.microsoft.com/office/drawing/2014/main" id="{36FE7591-ECB4-3979-6BAF-B7602FCED93D}"/>
              </a:ext>
            </a:extLst>
          </p:cNvPr>
          <p:cNvSpPr/>
          <p:nvPr/>
        </p:nvSpPr>
        <p:spPr>
          <a:xfrm>
            <a:off x="1" y="1"/>
            <a:ext cx="1637673" cy="1584633"/>
          </a:xfrm>
          <a:custGeom>
            <a:avLst/>
            <a:gdLst>
              <a:gd name="csX0" fmla="*/ 0 w 1637673"/>
              <a:gd name="csY0" fmla="*/ 0 h 1584633"/>
              <a:gd name="csX1" fmla="*/ 1325832 w 1637673"/>
              <a:gd name="csY1" fmla="*/ 0 h 1584633"/>
              <a:gd name="csX2" fmla="*/ 1637673 w 1637673"/>
              <a:gd name="csY2" fmla="*/ 311841 h 1584633"/>
              <a:gd name="csX3" fmla="*/ 364881 w 1637673"/>
              <a:gd name="csY3" fmla="*/ 1584633 h 1584633"/>
              <a:gd name="csX4" fmla="*/ 0 w 1637673"/>
              <a:gd name="csY4" fmla="*/ 1219752 h 1584633"/>
            </a:gdLst>
            <a:ahLst/>
            <a:cxnLst>
              <a:cxn ang="0">
                <a:pos x="csX0" y="csY0"/>
              </a:cxn>
              <a:cxn ang="0">
                <a:pos x="csX1" y="csY1"/>
              </a:cxn>
              <a:cxn ang="0">
                <a:pos x="csX2" y="csY2"/>
              </a:cxn>
              <a:cxn ang="0">
                <a:pos x="csX3" y="csY3"/>
              </a:cxn>
              <a:cxn ang="0">
                <a:pos x="csX4" y="csY4"/>
              </a:cxn>
            </a:cxnLst>
            <a:rect l="l" t="t" r="r" b="b"/>
            <a:pathLst>
              <a:path w="1637673" h="1584633">
                <a:moveTo>
                  <a:pt x="0" y="0"/>
                </a:moveTo>
                <a:lnTo>
                  <a:pt x="1325832" y="0"/>
                </a:lnTo>
                <a:lnTo>
                  <a:pt x="1637673" y="311841"/>
                </a:lnTo>
                <a:lnTo>
                  <a:pt x="364881" y="1584633"/>
                </a:lnTo>
                <a:lnTo>
                  <a:pt x="0" y="1219752"/>
                </a:lnTo>
                <a:close/>
              </a:path>
            </a:pathLst>
          </a:cu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7" name="Rettangolo 26">
            <a:extLst>
              <a:ext uri="{FF2B5EF4-FFF2-40B4-BE49-F238E27FC236}">
                <a16:creationId xmlns:a16="http://schemas.microsoft.com/office/drawing/2014/main" id="{D86B7AE3-80C5-76CA-B2EA-16A081032D3D}"/>
              </a:ext>
            </a:extLst>
          </p:cNvPr>
          <p:cNvSpPr/>
          <p:nvPr/>
        </p:nvSpPr>
        <p:spPr>
          <a:xfrm rot="2700000">
            <a:off x="942381" y="431135"/>
            <a:ext cx="576000" cy="576000"/>
          </a:xfrm>
          <a:prstGeom prst="rect">
            <a:avLst/>
          </a:pr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F6B57C35-C85E-6AC7-8CA1-5DC6B185D172}"/>
              </a:ext>
            </a:extLst>
          </p:cNvPr>
          <p:cNvSpPr>
            <a:spLocks noGrp="1"/>
          </p:cNvSpPr>
          <p:nvPr>
            <p:ph type="title"/>
          </p:nvPr>
        </p:nvSpPr>
        <p:spPr>
          <a:xfrm>
            <a:off x="838200" y="554693"/>
            <a:ext cx="10515600" cy="1325563"/>
          </a:xfrm>
        </p:spPr>
        <p:txBody>
          <a:bodyPr/>
          <a:lstStyle/>
          <a:p>
            <a:r>
              <a:rPr lang="it-IT" i="1" dirty="0" err="1"/>
              <a:t>Schemas</a:t>
            </a:r>
            <a:endParaRPr lang="it-IT" i="1" dirty="0"/>
          </a:p>
        </p:txBody>
      </p:sp>
      <p:sp>
        <p:nvSpPr>
          <p:cNvPr id="5" name="CasellaDiTesto 4">
            <a:extLst>
              <a:ext uri="{FF2B5EF4-FFF2-40B4-BE49-F238E27FC236}">
                <a16:creationId xmlns:a16="http://schemas.microsoft.com/office/drawing/2014/main" id="{38F8078C-21E0-6763-1128-1C7AFF4167E6}"/>
              </a:ext>
            </a:extLst>
          </p:cNvPr>
          <p:cNvSpPr txBox="1"/>
          <p:nvPr/>
        </p:nvSpPr>
        <p:spPr>
          <a:xfrm>
            <a:off x="838199" y="1817519"/>
            <a:ext cx="8678777" cy="369332"/>
          </a:xfrm>
          <a:prstGeom prst="rect">
            <a:avLst/>
          </a:prstGeom>
          <a:noFill/>
        </p:spPr>
        <p:txBody>
          <a:bodyPr wrap="square">
            <a:spAutoFit/>
          </a:bodyPr>
          <a:lstStyle/>
          <a:p>
            <a:r>
              <a:rPr lang="en-US" dirty="0"/>
              <a:t>Structures used to validate the data exchanged between the user interface and the API</a:t>
            </a:r>
            <a:endParaRPr lang="it-IT" dirty="0"/>
          </a:p>
        </p:txBody>
      </p:sp>
      <p:sp>
        <p:nvSpPr>
          <p:cNvPr id="6" name="Rettangolo con angoli arrotondati 5">
            <a:extLst>
              <a:ext uri="{FF2B5EF4-FFF2-40B4-BE49-F238E27FC236}">
                <a16:creationId xmlns:a16="http://schemas.microsoft.com/office/drawing/2014/main" id="{AC310909-EA01-B7D4-D2D9-E4F304C36CDD}"/>
              </a:ext>
            </a:extLst>
          </p:cNvPr>
          <p:cNvSpPr/>
          <p:nvPr/>
        </p:nvSpPr>
        <p:spPr>
          <a:xfrm>
            <a:off x="888387" y="2686175"/>
            <a:ext cx="2731113" cy="1743814"/>
          </a:xfrm>
          <a:prstGeom prst="round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w="28575">
            <a:solidFill>
              <a:srgbClr val="13501B"/>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it-IT" sz="1600" b="1" dirty="0"/>
              <a:t>ObjectType_schema.py</a:t>
            </a:r>
            <a:endParaRPr lang="it-IT" sz="1600" b="1" i="1" dirty="0">
              <a:solidFill>
                <a:srgbClr val="C00000"/>
              </a:solidFill>
            </a:endParaRPr>
          </a:p>
          <a:p>
            <a:pPr algn="ctr"/>
            <a:endParaRPr lang="it-IT" sz="1600" b="1" dirty="0">
              <a:solidFill>
                <a:srgbClr val="C00000"/>
              </a:solidFill>
            </a:endParaRPr>
          </a:p>
          <a:p>
            <a:pPr algn="ctr"/>
            <a:endParaRPr lang="it-IT" sz="1600" b="1" dirty="0">
              <a:solidFill>
                <a:srgbClr val="C00000"/>
              </a:solidFill>
            </a:endParaRPr>
          </a:p>
          <a:p>
            <a:pPr algn="ctr"/>
            <a:r>
              <a:rPr lang="en-US" sz="1600" dirty="0">
                <a:solidFill>
                  <a:srgbClr val="C00000"/>
                </a:solidFill>
              </a:rPr>
              <a:t>They define the data required to create and return a data type</a:t>
            </a:r>
            <a:endParaRPr lang="it-IT" sz="1600" dirty="0">
              <a:solidFill>
                <a:srgbClr val="C00000"/>
              </a:solidFill>
            </a:endParaRPr>
          </a:p>
        </p:txBody>
      </p:sp>
      <p:sp>
        <p:nvSpPr>
          <p:cNvPr id="8" name="Rettangolo con angoli arrotondati 7">
            <a:extLst>
              <a:ext uri="{FF2B5EF4-FFF2-40B4-BE49-F238E27FC236}">
                <a16:creationId xmlns:a16="http://schemas.microsoft.com/office/drawing/2014/main" id="{9A13A338-D5F7-DD7A-6B53-0D06004E524B}"/>
              </a:ext>
            </a:extLst>
          </p:cNvPr>
          <p:cNvSpPr/>
          <p:nvPr/>
        </p:nvSpPr>
        <p:spPr>
          <a:xfrm>
            <a:off x="3978749" y="2686175"/>
            <a:ext cx="3131811" cy="1743814"/>
          </a:xfrm>
          <a:prstGeom prst="round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w="28575">
            <a:solidFill>
              <a:srgbClr val="13501B"/>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it-IT" sz="1600" b="1" dirty="0"/>
              <a:t>Algorithm_schema.py</a:t>
            </a:r>
            <a:endParaRPr lang="it-IT" sz="1600" b="1" i="1" dirty="0">
              <a:solidFill>
                <a:srgbClr val="C00000"/>
              </a:solidFill>
            </a:endParaRPr>
          </a:p>
          <a:p>
            <a:pPr algn="ctr"/>
            <a:endParaRPr lang="it-IT" sz="1600" b="1" dirty="0">
              <a:solidFill>
                <a:srgbClr val="C00000"/>
              </a:solidFill>
            </a:endParaRPr>
          </a:p>
          <a:p>
            <a:pPr algn="ctr"/>
            <a:endParaRPr lang="it-IT" sz="1600" b="1" dirty="0">
              <a:solidFill>
                <a:srgbClr val="C00000"/>
              </a:solidFill>
            </a:endParaRPr>
          </a:p>
          <a:p>
            <a:pPr algn="ctr"/>
            <a:r>
              <a:rPr lang="en-US" sz="1600" dirty="0">
                <a:solidFill>
                  <a:srgbClr val="C00000"/>
                </a:solidFill>
              </a:rPr>
              <a:t>They validate algorithm-related information, such as name, input, output, and cost</a:t>
            </a:r>
            <a:endParaRPr lang="it-IT" sz="1600" dirty="0">
              <a:solidFill>
                <a:srgbClr val="C00000"/>
              </a:solidFill>
            </a:endParaRPr>
          </a:p>
        </p:txBody>
      </p:sp>
      <p:sp>
        <p:nvSpPr>
          <p:cNvPr id="9" name="Rettangolo con angoli arrotondati 8">
            <a:extLst>
              <a:ext uri="{FF2B5EF4-FFF2-40B4-BE49-F238E27FC236}">
                <a16:creationId xmlns:a16="http://schemas.microsoft.com/office/drawing/2014/main" id="{06F19068-C6D0-B336-08F7-0461703A8E1D}"/>
              </a:ext>
            </a:extLst>
          </p:cNvPr>
          <p:cNvSpPr/>
          <p:nvPr/>
        </p:nvSpPr>
        <p:spPr>
          <a:xfrm>
            <a:off x="7469808" y="2686175"/>
            <a:ext cx="4074491" cy="1743814"/>
          </a:xfrm>
          <a:prstGeom prst="roundRect">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5400000" scaled="1"/>
            <a:tileRect/>
          </a:gradFill>
          <a:ln w="28575">
            <a:solidFill>
              <a:srgbClr val="13501B"/>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it-IT" sz="1600" b="1" dirty="0"/>
              <a:t>Pipeline_schema.py</a:t>
            </a:r>
            <a:endParaRPr lang="it-IT" sz="1600" b="1" dirty="0">
              <a:solidFill>
                <a:srgbClr val="C00000"/>
              </a:solidFill>
            </a:endParaRPr>
          </a:p>
          <a:p>
            <a:pPr algn="ctr"/>
            <a:endParaRPr lang="it-IT" sz="1600" b="1" dirty="0">
              <a:solidFill>
                <a:srgbClr val="C00000"/>
              </a:solidFill>
            </a:endParaRPr>
          </a:p>
          <a:p>
            <a:pPr algn="ctr"/>
            <a:endParaRPr lang="it-IT" sz="1600" b="1" dirty="0">
              <a:solidFill>
                <a:srgbClr val="C00000"/>
              </a:solidFill>
            </a:endParaRPr>
          </a:p>
          <a:p>
            <a:pPr algn="ctr"/>
            <a:r>
              <a:rPr lang="en-US" sz="1600" dirty="0">
                <a:solidFill>
                  <a:srgbClr val="C00000"/>
                </a:solidFill>
              </a:rPr>
              <a:t>They describe the requests and responses related to pipeline construction, step selection, saving, and retrieval</a:t>
            </a:r>
            <a:endParaRPr lang="it-IT" sz="1600" dirty="0">
              <a:solidFill>
                <a:srgbClr val="C00000"/>
              </a:solidFill>
            </a:endParaRPr>
          </a:p>
        </p:txBody>
      </p:sp>
      <p:cxnSp>
        <p:nvCxnSpPr>
          <p:cNvPr id="10" name="Connettore 2 9">
            <a:extLst>
              <a:ext uri="{FF2B5EF4-FFF2-40B4-BE49-F238E27FC236}">
                <a16:creationId xmlns:a16="http://schemas.microsoft.com/office/drawing/2014/main" id="{283FB839-0F56-584B-3D78-292F99D539BB}"/>
              </a:ext>
            </a:extLst>
          </p:cNvPr>
          <p:cNvCxnSpPr>
            <a:cxnSpLocks/>
          </p:cNvCxnSpPr>
          <p:nvPr/>
        </p:nvCxnSpPr>
        <p:spPr>
          <a:xfrm>
            <a:off x="2376714" y="3114490"/>
            <a:ext cx="0" cy="401444"/>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ttore 2 10">
            <a:extLst>
              <a:ext uri="{FF2B5EF4-FFF2-40B4-BE49-F238E27FC236}">
                <a16:creationId xmlns:a16="http://schemas.microsoft.com/office/drawing/2014/main" id="{3FDE73BF-46C1-C9DF-800D-261EE5782D74}"/>
              </a:ext>
            </a:extLst>
          </p:cNvPr>
          <p:cNvCxnSpPr>
            <a:cxnSpLocks/>
          </p:cNvCxnSpPr>
          <p:nvPr/>
        </p:nvCxnSpPr>
        <p:spPr>
          <a:xfrm>
            <a:off x="5540222" y="3114490"/>
            <a:ext cx="0" cy="401444"/>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ttore 2 11">
            <a:extLst>
              <a:ext uri="{FF2B5EF4-FFF2-40B4-BE49-F238E27FC236}">
                <a16:creationId xmlns:a16="http://schemas.microsoft.com/office/drawing/2014/main" id="{9EBC8CC3-7CF6-20AD-FED5-7A630B188F09}"/>
              </a:ext>
            </a:extLst>
          </p:cNvPr>
          <p:cNvCxnSpPr>
            <a:cxnSpLocks/>
          </p:cNvCxnSpPr>
          <p:nvPr/>
        </p:nvCxnSpPr>
        <p:spPr>
          <a:xfrm>
            <a:off x="9441679" y="3114490"/>
            <a:ext cx="0" cy="401444"/>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966250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9C1A5-39C6-10A7-6D85-9AB350866AB5}"/>
            </a:ext>
          </a:extLst>
        </p:cNvPr>
        <p:cNvGrpSpPr/>
        <p:nvPr/>
      </p:nvGrpSpPr>
      <p:grpSpPr>
        <a:xfrm>
          <a:off x="0" y="0"/>
          <a:ext cx="0" cy="0"/>
          <a:chOff x="0" y="0"/>
          <a:chExt cx="0" cy="0"/>
        </a:xfrm>
      </p:grpSpPr>
      <p:pic>
        <p:nvPicPr>
          <p:cNvPr id="7" name="Immagine 6">
            <a:extLst>
              <a:ext uri="{FF2B5EF4-FFF2-40B4-BE49-F238E27FC236}">
                <a16:creationId xmlns:a16="http://schemas.microsoft.com/office/drawing/2014/main" id="{FB652555-D864-839C-2B58-3561ADC4EAC8}"/>
              </a:ext>
            </a:extLst>
          </p:cNvPr>
          <p:cNvPicPr>
            <a:picLocks noChangeAspect="1"/>
          </p:cNvPicPr>
          <p:nvPr/>
        </p:nvPicPr>
        <p:blipFill>
          <a:blip r:embed="rId3">
            <a:alphaModFix amt="80000"/>
          </a:blip>
          <a:srcRect l="4925" t="9494" r="4014" b="8347"/>
          <a:stretch>
            <a:fillRect/>
          </a:stretch>
        </p:blipFill>
        <p:spPr>
          <a:xfrm>
            <a:off x="529138" y="554182"/>
            <a:ext cx="11302640" cy="5726545"/>
          </a:xfrm>
          <a:prstGeom prst="rect">
            <a:avLst/>
          </a:prstGeom>
        </p:spPr>
      </p:pic>
      <p:sp>
        <p:nvSpPr>
          <p:cNvPr id="20" name="Figura a mano libera: forma 19">
            <a:extLst>
              <a:ext uri="{FF2B5EF4-FFF2-40B4-BE49-F238E27FC236}">
                <a16:creationId xmlns:a16="http://schemas.microsoft.com/office/drawing/2014/main" id="{06C18079-C0DA-EE6B-6CE6-410FA7A1BE45}"/>
              </a:ext>
            </a:extLst>
          </p:cNvPr>
          <p:cNvSpPr/>
          <p:nvPr/>
        </p:nvSpPr>
        <p:spPr>
          <a:xfrm>
            <a:off x="9516976" y="-20529"/>
            <a:ext cx="2675023" cy="1479328"/>
          </a:xfrm>
          <a:custGeom>
            <a:avLst/>
            <a:gdLst>
              <a:gd name="csX0" fmla="*/ 0 w 2675023"/>
              <a:gd name="csY0" fmla="*/ 0 h 1479328"/>
              <a:gd name="csX1" fmla="*/ 2675023 w 2675023"/>
              <a:gd name="csY1" fmla="*/ 0 h 1479328"/>
              <a:gd name="csX2" fmla="*/ 2675023 w 2675023"/>
              <a:gd name="csY2" fmla="*/ 283633 h 1479328"/>
              <a:gd name="csX3" fmla="*/ 1479328 w 2675023"/>
              <a:gd name="csY3" fmla="*/ 1479328 h 1479328"/>
            </a:gdLst>
            <a:ahLst/>
            <a:cxnLst>
              <a:cxn ang="0">
                <a:pos x="csX0" y="csY0"/>
              </a:cxn>
              <a:cxn ang="0">
                <a:pos x="csX1" y="csY1"/>
              </a:cxn>
              <a:cxn ang="0">
                <a:pos x="csX2" y="csY2"/>
              </a:cxn>
              <a:cxn ang="0">
                <a:pos x="csX3" y="csY3"/>
              </a:cxn>
            </a:cxnLst>
            <a:rect l="l" t="t" r="r" b="b"/>
            <a:pathLst>
              <a:path w="2675023" h="1479328">
                <a:moveTo>
                  <a:pt x="0" y="0"/>
                </a:moveTo>
                <a:lnTo>
                  <a:pt x="2675023" y="0"/>
                </a:lnTo>
                <a:lnTo>
                  <a:pt x="2675023" y="283633"/>
                </a:lnTo>
                <a:lnTo>
                  <a:pt x="1479328" y="1479328"/>
                </a:lnTo>
                <a:close/>
              </a:path>
            </a:pathLst>
          </a:cu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3" name="Figura a mano libera: forma 22">
            <a:extLst>
              <a:ext uri="{FF2B5EF4-FFF2-40B4-BE49-F238E27FC236}">
                <a16:creationId xmlns:a16="http://schemas.microsoft.com/office/drawing/2014/main" id="{60F8A19E-8530-EF8C-BB40-07A2550B003E}"/>
              </a:ext>
            </a:extLst>
          </p:cNvPr>
          <p:cNvSpPr/>
          <p:nvPr/>
        </p:nvSpPr>
        <p:spPr>
          <a:xfrm>
            <a:off x="6989459" y="5941826"/>
            <a:ext cx="1832348" cy="916174"/>
          </a:xfrm>
          <a:custGeom>
            <a:avLst/>
            <a:gdLst>
              <a:gd name="csX0" fmla="*/ 916174 w 1832348"/>
              <a:gd name="csY0" fmla="*/ 0 h 916174"/>
              <a:gd name="csX1" fmla="*/ 1832348 w 1832348"/>
              <a:gd name="csY1" fmla="*/ 916174 h 916174"/>
              <a:gd name="csX2" fmla="*/ 0 w 1832348"/>
              <a:gd name="csY2" fmla="*/ 916174 h 916174"/>
            </a:gdLst>
            <a:ahLst/>
            <a:cxnLst>
              <a:cxn ang="0">
                <a:pos x="csX0" y="csY0"/>
              </a:cxn>
              <a:cxn ang="0">
                <a:pos x="csX1" y="csY1"/>
              </a:cxn>
              <a:cxn ang="0">
                <a:pos x="csX2" y="csY2"/>
              </a:cxn>
            </a:cxnLst>
            <a:rect l="l" t="t" r="r" b="b"/>
            <a:pathLst>
              <a:path w="1832348" h="916174">
                <a:moveTo>
                  <a:pt x="916174" y="0"/>
                </a:moveTo>
                <a:lnTo>
                  <a:pt x="1832348" y="916174"/>
                </a:lnTo>
                <a:lnTo>
                  <a:pt x="0" y="91617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6" name="Figura a mano libera: forma 25">
            <a:extLst>
              <a:ext uri="{FF2B5EF4-FFF2-40B4-BE49-F238E27FC236}">
                <a16:creationId xmlns:a16="http://schemas.microsoft.com/office/drawing/2014/main" id="{7483476E-5521-C34A-5E59-B4B8F8F7377B}"/>
              </a:ext>
            </a:extLst>
          </p:cNvPr>
          <p:cNvSpPr/>
          <p:nvPr/>
        </p:nvSpPr>
        <p:spPr>
          <a:xfrm>
            <a:off x="6713034" y="6581576"/>
            <a:ext cx="552849" cy="276424"/>
          </a:xfrm>
          <a:custGeom>
            <a:avLst/>
            <a:gdLst>
              <a:gd name="csX0" fmla="*/ 276424 w 552849"/>
              <a:gd name="csY0" fmla="*/ 0 h 276424"/>
              <a:gd name="csX1" fmla="*/ 552849 w 552849"/>
              <a:gd name="csY1" fmla="*/ 276424 h 276424"/>
              <a:gd name="csX2" fmla="*/ 0 w 552849"/>
              <a:gd name="csY2" fmla="*/ 276424 h 276424"/>
            </a:gdLst>
            <a:ahLst/>
            <a:cxnLst>
              <a:cxn ang="0">
                <a:pos x="csX0" y="csY0"/>
              </a:cxn>
              <a:cxn ang="0">
                <a:pos x="csX1" y="csY1"/>
              </a:cxn>
              <a:cxn ang="0">
                <a:pos x="csX2" y="csY2"/>
              </a:cxn>
            </a:cxnLst>
            <a:rect l="l" t="t" r="r" b="b"/>
            <a:pathLst>
              <a:path w="552849" h="276424">
                <a:moveTo>
                  <a:pt x="276424" y="0"/>
                </a:moveTo>
                <a:lnTo>
                  <a:pt x="552849" y="276424"/>
                </a:lnTo>
                <a:lnTo>
                  <a:pt x="0" y="27642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8" name="Rettangolo 27">
            <a:extLst>
              <a:ext uri="{FF2B5EF4-FFF2-40B4-BE49-F238E27FC236}">
                <a16:creationId xmlns:a16="http://schemas.microsoft.com/office/drawing/2014/main" id="{E5759E70-A8D6-F606-DFF1-E483E537F499}"/>
              </a:ext>
            </a:extLst>
          </p:cNvPr>
          <p:cNvSpPr/>
          <p:nvPr/>
        </p:nvSpPr>
        <p:spPr>
          <a:xfrm rot="2700000">
            <a:off x="10282723" y="756077"/>
            <a:ext cx="576000" cy="576000"/>
          </a:xfrm>
          <a:prstGeom prst="rect">
            <a:avLst/>
          </a:pr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igura a mano libera: forma 14">
            <a:extLst>
              <a:ext uri="{FF2B5EF4-FFF2-40B4-BE49-F238E27FC236}">
                <a16:creationId xmlns:a16="http://schemas.microsoft.com/office/drawing/2014/main" id="{C3A7B0B5-21CB-0E66-24F7-E33AF6BCB422}"/>
              </a:ext>
            </a:extLst>
          </p:cNvPr>
          <p:cNvSpPr/>
          <p:nvPr/>
        </p:nvSpPr>
        <p:spPr>
          <a:xfrm>
            <a:off x="1" y="1"/>
            <a:ext cx="1637673" cy="1584633"/>
          </a:xfrm>
          <a:custGeom>
            <a:avLst/>
            <a:gdLst>
              <a:gd name="csX0" fmla="*/ 0 w 1637673"/>
              <a:gd name="csY0" fmla="*/ 0 h 1584633"/>
              <a:gd name="csX1" fmla="*/ 1325832 w 1637673"/>
              <a:gd name="csY1" fmla="*/ 0 h 1584633"/>
              <a:gd name="csX2" fmla="*/ 1637673 w 1637673"/>
              <a:gd name="csY2" fmla="*/ 311841 h 1584633"/>
              <a:gd name="csX3" fmla="*/ 364881 w 1637673"/>
              <a:gd name="csY3" fmla="*/ 1584633 h 1584633"/>
              <a:gd name="csX4" fmla="*/ 0 w 1637673"/>
              <a:gd name="csY4" fmla="*/ 1219752 h 1584633"/>
            </a:gdLst>
            <a:ahLst/>
            <a:cxnLst>
              <a:cxn ang="0">
                <a:pos x="csX0" y="csY0"/>
              </a:cxn>
              <a:cxn ang="0">
                <a:pos x="csX1" y="csY1"/>
              </a:cxn>
              <a:cxn ang="0">
                <a:pos x="csX2" y="csY2"/>
              </a:cxn>
              <a:cxn ang="0">
                <a:pos x="csX3" y="csY3"/>
              </a:cxn>
              <a:cxn ang="0">
                <a:pos x="csX4" y="csY4"/>
              </a:cxn>
            </a:cxnLst>
            <a:rect l="l" t="t" r="r" b="b"/>
            <a:pathLst>
              <a:path w="1637673" h="1584633">
                <a:moveTo>
                  <a:pt x="0" y="0"/>
                </a:moveTo>
                <a:lnTo>
                  <a:pt x="1325832" y="0"/>
                </a:lnTo>
                <a:lnTo>
                  <a:pt x="1637673" y="311841"/>
                </a:lnTo>
                <a:lnTo>
                  <a:pt x="364881" y="1584633"/>
                </a:lnTo>
                <a:lnTo>
                  <a:pt x="0" y="1219752"/>
                </a:lnTo>
                <a:close/>
              </a:path>
            </a:pathLst>
          </a:cu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7" name="Rettangolo 26">
            <a:extLst>
              <a:ext uri="{FF2B5EF4-FFF2-40B4-BE49-F238E27FC236}">
                <a16:creationId xmlns:a16="http://schemas.microsoft.com/office/drawing/2014/main" id="{67BD9059-F6C0-9879-1690-35769A4FCFC5}"/>
              </a:ext>
            </a:extLst>
          </p:cNvPr>
          <p:cNvSpPr/>
          <p:nvPr/>
        </p:nvSpPr>
        <p:spPr>
          <a:xfrm rot="2700000">
            <a:off x="942381" y="431135"/>
            <a:ext cx="576000" cy="576000"/>
          </a:xfrm>
          <a:prstGeom prst="rect">
            <a:avLst/>
          </a:pr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B2761623-6FB9-F972-EFD7-6F0655BBF52D}"/>
              </a:ext>
            </a:extLst>
          </p:cNvPr>
          <p:cNvSpPr>
            <a:spLocks noGrp="1"/>
          </p:cNvSpPr>
          <p:nvPr>
            <p:ph type="title"/>
          </p:nvPr>
        </p:nvSpPr>
        <p:spPr>
          <a:xfrm>
            <a:off x="838200" y="599298"/>
            <a:ext cx="3599985" cy="1325563"/>
          </a:xfrm>
        </p:spPr>
        <p:txBody>
          <a:bodyPr/>
          <a:lstStyle/>
          <a:p>
            <a:r>
              <a:rPr lang="it-IT" i="1" dirty="0"/>
              <a:t>User Interface</a:t>
            </a:r>
          </a:p>
        </p:txBody>
      </p:sp>
      <p:sp>
        <p:nvSpPr>
          <p:cNvPr id="4" name="CasellaDiTesto 3">
            <a:extLst>
              <a:ext uri="{FF2B5EF4-FFF2-40B4-BE49-F238E27FC236}">
                <a16:creationId xmlns:a16="http://schemas.microsoft.com/office/drawing/2014/main" id="{31CC1FAB-CAB2-823F-2463-792D2A9E0685}"/>
              </a:ext>
            </a:extLst>
          </p:cNvPr>
          <p:cNvSpPr txBox="1"/>
          <p:nvPr/>
        </p:nvSpPr>
        <p:spPr>
          <a:xfrm>
            <a:off x="818837" y="2090576"/>
            <a:ext cx="3976187" cy="2800767"/>
          </a:xfrm>
          <a:prstGeom prst="rect">
            <a:avLst/>
          </a:prstGeom>
          <a:solidFill>
            <a:srgbClr val="4FB5E3">
              <a:alpha val="30196"/>
            </a:srgbClr>
          </a:solidFill>
          <a:ln w="28575">
            <a:solidFill>
              <a:srgbClr val="215F9A"/>
            </a:solidFill>
            <a:prstDash val="lgDash"/>
          </a:ln>
        </p:spPr>
        <p:txBody>
          <a:bodyPr wrap="square">
            <a:spAutoFit/>
          </a:bodyPr>
          <a:lstStyle/>
          <a:p>
            <a:pPr marL="285750" indent="-285750">
              <a:buFont typeface="Arial" panose="020B0604020202020204" pitchFamily="34" charset="0"/>
              <a:buChar char="•"/>
            </a:pPr>
            <a:r>
              <a:rPr lang="en-US" sz="1600" dirty="0"/>
              <a:t>It manages the user session state.</a:t>
            </a:r>
            <a:endParaRPr lang="it-IT" sz="1600" dirty="0"/>
          </a:p>
          <a:p>
            <a:endParaRPr lang="it-IT" sz="1600" dirty="0"/>
          </a:p>
          <a:p>
            <a:pPr marL="285750" indent="-285750">
              <a:buFont typeface="Arial" panose="020B0604020202020204" pitchFamily="34" charset="0"/>
              <a:buChar char="•"/>
            </a:pPr>
            <a:r>
              <a:rPr lang="en-US" sz="1600" dirty="0"/>
              <a:t>Through the UI, the user can manage contexts, data types, algorithms, and saved pipelines, but operations are always validated and executed by the backend.</a:t>
            </a:r>
          </a:p>
          <a:p>
            <a:endParaRPr lang="it-IT" sz="1600" dirty="0"/>
          </a:p>
          <a:p>
            <a:pPr marL="285750" indent="-285750">
              <a:buFont typeface="Arial" panose="020B0604020202020204" pitchFamily="34" charset="0"/>
              <a:buChar char="•"/>
            </a:pPr>
            <a:r>
              <a:rPr lang="en-US" sz="1600" dirty="0"/>
              <a:t>Pipeline construction: the interface guides the user through the step-by-step process.</a:t>
            </a:r>
            <a:endParaRPr lang="it-IT" sz="1600" dirty="0"/>
          </a:p>
        </p:txBody>
      </p:sp>
      <p:sp>
        <p:nvSpPr>
          <p:cNvPr id="3" name="CasellaDiTesto 2">
            <a:extLst>
              <a:ext uri="{FF2B5EF4-FFF2-40B4-BE49-F238E27FC236}">
                <a16:creationId xmlns:a16="http://schemas.microsoft.com/office/drawing/2014/main" id="{C47F9482-5AC0-25B8-F1CC-1B0454B0755B}"/>
              </a:ext>
            </a:extLst>
          </p:cNvPr>
          <p:cNvSpPr txBox="1"/>
          <p:nvPr/>
        </p:nvSpPr>
        <p:spPr>
          <a:xfrm>
            <a:off x="5843004" y="2086433"/>
            <a:ext cx="3976187" cy="2308324"/>
          </a:xfrm>
          <a:prstGeom prst="rect">
            <a:avLst/>
          </a:prstGeom>
          <a:solidFill>
            <a:srgbClr val="FFFFFF"/>
          </a:solidFill>
          <a:ln w="28575">
            <a:solidFill>
              <a:srgbClr val="215F9A"/>
            </a:solidFill>
            <a:prstDash val="lgDash"/>
          </a:ln>
        </p:spPr>
        <p:txBody>
          <a:bodyPr wrap="square">
            <a:spAutoFit/>
          </a:bodyPr>
          <a:lstStyle>
            <a:defPPr>
              <a:defRPr lang="it-IT"/>
            </a:defPPr>
            <a:lvl1pPr marL="285750" indent="-285750">
              <a:buFont typeface="Arial" panose="020B0604020202020204" pitchFamily="34" charset="0"/>
              <a:buChar char="•"/>
              <a:defRPr sz="1600"/>
            </a:lvl1pPr>
          </a:lstStyle>
          <a:p>
            <a:pPr marL="0" indent="0">
              <a:buNone/>
            </a:pPr>
            <a:r>
              <a:rPr lang="en-US" dirty="0"/>
              <a:t>It is the system entry point.</a:t>
            </a:r>
            <a:endParaRPr lang="it-IT" dirty="0"/>
          </a:p>
          <a:p>
            <a:pPr marL="0" indent="0">
              <a:buNone/>
            </a:pPr>
            <a:br>
              <a:rPr lang="it-IT" dirty="0"/>
            </a:br>
            <a:r>
              <a:rPr lang="it-IT" dirty="0"/>
              <a:t>In </a:t>
            </a:r>
            <a:r>
              <a:rPr lang="it-IT" dirty="0" err="1"/>
              <a:t>this</a:t>
            </a:r>
            <a:r>
              <a:rPr lang="it-IT" dirty="0"/>
              <a:t> part:</a:t>
            </a:r>
          </a:p>
          <a:p>
            <a:r>
              <a:rPr lang="en-US" dirty="0"/>
              <a:t>The </a:t>
            </a:r>
            <a:r>
              <a:rPr lang="en-US" dirty="0" err="1"/>
              <a:t>FastAPI</a:t>
            </a:r>
            <a:r>
              <a:rPr lang="en-US" dirty="0"/>
              <a:t> application is created</a:t>
            </a:r>
            <a:endParaRPr lang="it-IT" dirty="0"/>
          </a:p>
          <a:p>
            <a:pPr marL="0" indent="0">
              <a:buNone/>
            </a:pPr>
            <a:endParaRPr lang="it-IT" dirty="0"/>
          </a:p>
          <a:p>
            <a:r>
              <a:rPr lang="en-US" dirty="0"/>
              <a:t>The database tables are initialized</a:t>
            </a:r>
            <a:endParaRPr lang="it-IT" dirty="0"/>
          </a:p>
          <a:p>
            <a:pPr marL="0" indent="0">
              <a:buNone/>
            </a:pPr>
            <a:endParaRPr lang="it-IT" dirty="0"/>
          </a:p>
          <a:p>
            <a:r>
              <a:rPr lang="en-US" dirty="0"/>
              <a:t>The main router, which collects all system endpoints, is connected.</a:t>
            </a:r>
            <a:endParaRPr lang="it-IT" dirty="0"/>
          </a:p>
        </p:txBody>
      </p:sp>
      <p:sp>
        <p:nvSpPr>
          <p:cNvPr id="5" name="Titolo 1">
            <a:extLst>
              <a:ext uri="{FF2B5EF4-FFF2-40B4-BE49-F238E27FC236}">
                <a16:creationId xmlns:a16="http://schemas.microsoft.com/office/drawing/2014/main" id="{F553744F-0770-ECC7-CDBB-5B94BB2B59AB}"/>
              </a:ext>
            </a:extLst>
          </p:cNvPr>
          <p:cNvSpPr txBox="1">
            <a:spLocks/>
          </p:cNvSpPr>
          <p:nvPr/>
        </p:nvSpPr>
        <p:spPr>
          <a:xfrm>
            <a:off x="5843004" y="599298"/>
            <a:ext cx="149774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it-IT" i="1" dirty="0" err="1"/>
              <a:t>Main</a:t>
            </a:r>
            <a:endParaRPr lang="it-IT" i="1" dirty="0"/>
          </a:p>
        </p:txBody>
      </p:sp>
    </p:spTree>
    <p:extLst>
      <p:ext uri="{BB962C8B-B14F-4D97-AF65-F5344CB8AC3E}">
        <p14:creationId xmlns:p14="http://schemas.microsoft.com/office/powerpoint/2010/main" val="34027651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BA464-6AF6-42BD-EADF-5EF42DE6B939}"/>
            </a:ext>
          </a:extLst>
        </p:cNvPr>
        <p:cNvGrpSpPr/>
        <p:nvPr/>
      </p:nvGrpSpPr>
      <p:grpSpPr>
        <a:xfrm>
          <a:off x="0" y="0"/>
          <a:ext cx="0" cy="0"/>
          <a:chOff x="0" y="0"/>
          <a:chExt cx="0" cy="0"/>
        </a:xfrm>
      </p:grpSpPr>
      <p:pic>
        <p:nvPicPr>
          <p:cNvPr id="7" name="Immagine 6">
            <a:extLst>
              <a:ext uri="{FF2B5EF4-FFF2-40B4-BE49-F238E27FC236}">
                <a16:creationId xmlns:a16="http://schemas.microsoft.com/office/drawing/2014/main" id="{4F215B85-ADC0-D631-E958-538D0343C096}"/>
              </a:ext>
            </a:extLst>
          </p:cNvPr>
          <p:cNvPicPr>
            <a:picLocks noChangeAspect="1"/>
          </p:cNvPicPr>
          <p:nvPr/>
        </p:nvPicPr>
        <p:blipFill>
          <a:blip r:embed="rId2">
            <a:alphaModFix amt="80000"/>
          </a:blip>
          <a:srcRect l="4925" t="9494" r="4014" b="8347"/>
          <a:stretch>
            <a:fillRect/>
          </a:stretch>
        </p:blipFill>
        <p:spPr>
          <a:xfrm>
            <a:off x="529138" y="554182"/>
            <a:ext cx="11302640" cy="5726545"/>
          </a:xfrm>
          <a:prstGeom prst="rect">
            <a:avLst/>
          </a:prstGeom>
        </p:spPr>
      </p:pic>
      <p:sp>
        <p:nvSpPr>
          <p:cNvPr id="20" name="Figura a mano libera: forma 19">
            <a:extLst>
              <a:ext uri="{FF2B5EF4-FFF2-40B4-BE49-F238E27FC236}">
                <a16:creationId xmlns:a16="http://schemas.microsoft.com/office/drawing/2014/main" id="{E169BEFD-0809-C5C4-48A6-B487FEACF6C1}"/>
              </a:ext>
            </a:extLst>
          </p:cNvPr>
          <p:cNvSpPr/>
          <p:nvPr/>
        </p:nvSpPr>
        <p:spPr>
          <a:xfrm>
            <a:off x="9516976" y="-20529"/>
            <a:ext cx="2675023" cy="1479328"/>
          </a:xfrm>
          <a:custGeom>
            <a:avLst/>
            <a:gdLst>
              <a:gd name="csX0" fmla="*/ 0 w 2675023"/>
              <a:gd name="csY0" fmla="*/ 0 h 1479328"/>
              <a:gd name="csX1" fmla="*/ 2675023 w 2675023"/>
              <a:gd name="csY1" fmla="*/ 0 h 1479328"/>
              <a:gd name="csX2" fmla="*/ 2675023 w 2675023"/>
              <a:gd name="csY2" fmla="*/ 283633 h 1479328"/>
              <a:gd name="csX3" fmla="*/ 1479328 w 2675023"/>
              <a:gd name="csY3" fmla="*/ 1479328 h 1479328"/>
            </a:gdLst>
            <a:ahLst/>
            <a:cxnLst>
              <a:cxn ang="0">
                <a:pos x="csX0" y="csY0"/>
              </a:cxn>
              <a:cxn ang="0">
                <a:pos x="csX1" y="csY1"/>
              </a:cxn>
              <a:cxn ang="0">
                <a:pos x="csX2" y="csY2"/>
              </a:cxn>
              <a:cxn ang="0">
                <a:pos x="csX3" y="csY3"/>
              </a:cxn>
            </a:cxnLst>
            <a:rect l="l" t="t" r="r" b="b"/>
            <a:pathLst>
              <a:path w="2675023" h="1479328">
                <a:moveTo>
                  <a:pt x="0" y="0"/>
                </a:moveTo>
                <a:lnTo>
                  <a:pt x="2675023" y="0"/>
                </a:lnTo>
                <a:lnTo>
                  <a:pt x="2675023" y="283633"/>
                </a:lnTo>
                <a:lnTo>
                  <a:pt x="1479328" y="1479328"/>
                </a:lnTo>
                <a:close/>
              </a:path>
            </a:pathLst>
          </a:cu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3" name="Figura a mano libera: forma 22">
            <a:extLst>
              <a:ext uri="{FF2B5EF4-FFF2-40B4-BE49-F238E27FC236}">
                <a16:creationId xmlns:a16="http://schemas.microsoft.com/office/drawing/2014/main" id="{AE40A319-27DF-707D-DFD3-9047093EAC57}"/>
              </a:ext>
            </a:extLst>
          </p:cNvPr>
          <p:cNvSpPr/>
          <p:nvPr/>
        </p:nvSpPr>
        <p:spPr>
          <a:xfrm>
            <a:off x="6989459" y="5941826"/>
            <a:ext cx="1832348" cy="916174"/>
          </a:xfrm>
          <a:custGeom>
            <a:avLst/>
            <a:gdLst>
              <a:gd name="csX0" fmla="*/ 916174 w 1832348"/>
              <a:gd name="csY0" fmla="*/ 0 h 916174"/>
              <a:gd name="csX1" fmla="*/ 1832348 w 1832348"/>
              <a:gd name="csY1" fmla="*/ 916174 h 916174"/>
              <a:gd name="csX2" fmla="*/ 0 w 1832348"/>
              <a:gd name="csY2" fmla="*/ 916174 h 916174"/>
            </a:gdLst>
            <a:ahLst/>
            <a:cxnLst>
              <a:cxn ang="0">
                <a:pos x="csX0" y="csY0"/>
              </a:cxn>
              <a:cxn ang="0">
                <a:pos x="csX1" y="csY1"/>
              </a:cxn>
              <a:cxn ang="0">
                <a:pos x="csX2" y="csY2"/>
              </a:cxn>
            </a:cxnLst>
            <a:rect l="l" t="t" r="r" b="b"/>
            <a:pathLst>
              <a:path w="1832348" h="916174">
                <a:moveTo>
                  <a:pt x="916174" y="0"/>
                </a:moveTo>
                <a:lnTo>
                  <a:pt x="1832348" y="916174"/>
                </a:lnTo>
                <a:lnTo>
                  <a:pt x="0" y="91617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6" name="Figura a mano libera: forma 25">
            <a:extLst>
              <a:ext uri="{FF2B5EF4-FFF2-40B4-BE49-F238E27FC236}">
                <a16:creationId xmlns:a16="http://schemas.microsoft.com/office/drawing/2014/main" id="{1AD4F763-A36C-A5E0-2AFC-1820270BF4C6}"/>
              </a:ext>
            </a:extLst>
          </p:cNvPr>
          <p:cNvSpPr/>
          <p:nvPr/>
        </p:nvSpPr>
        <p:spPr>
          <a:xfrm>
            <a:off x="6713034" y="6581576"/>
            <a:ext cx="552849" cy="276424"/>
          </a:xfrm>
          <a:custGeom>
            <a:avLst/>
            <a:gdLst>
              <a:gd name="csX0" fmla="*/ 276424 w 552849"/>
              <a:gd name="csY0" fmla="*/ 0 h 276424"/>
              <a:gd name="csX1" fmla="*/ 552849 w 552849"/>
              <a:gd name="csY1" fmla="*/ 276424 h 276424"/>
              <a:gd name="csX2" fmla="*/ 0 w 552849"/>
              <a:gd name="csY2" fmla="*/ 276424 h 276424"/>
            </a:gdLst>
            <a:ahLst/>
            <a:cxnLst>
              <a:cxn ang="0">
                <a:pos x="csX0" y="csY0"/>
              </a:cxn>
              <a:cxn ang="0">
                <a:pos x="csX1" y="csY1"/>
              </a:cxn>
              <a:cxn ang="0">
                <a:pos x="csX2" y="csY2"/>
              </a:cxn>
            </a:cxnLst>
            <a:rect l="l" t="t" r="r" b="b"/>
            <a:pathLst>
              <a:path w="552849" h="276424">
                <a:moveTo>
                  <a:pt x="276424" y="0"/>
                </a:moveTo>
                <a:lnTo>
                  <a:pt x="552849" y="276424"/>
                </a:lnTo>
                <a:lnTo>
                  <a:pt x="0" y="276424"/>
                </a:lnTo>
                <a:close/>
              </a:path>
            </a:pathLst>
          </a:cu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8" name="Rettangolo 27">
            <a:extLst>
              <a:ext uri="{FF2B5EF4-FFF2-40B4-BE49-F238E27FC236}">
                <a16:creationId xmlns:a16="http://schemas.microsoft.com/office/drawing/2014/main" id="{A26445B4-4769-D95D-F916-D05E325B7DFA}"/>
              </a:ext>
            </a:extLst>
          </p:cNvPr>
          <p:cNvSpPr/>
          <p:nvPr/>
        </p:nvSpPr>
        <p:spPr>
          <a:xfrm rot="2700000">
            <a:off x="10282723" y="756077"/>
            <a:ext cx="576000" cy="576000"/>
          </a:xfrm>
          <a:prstGeom prst="rect">
            <a:avLst/>
          </a:prstGeom>
          <a:solidFill>
            <a:srgbClr val="13501B">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igura a mano libera: forma 14">
            <a:extLst>
              <a:ext uri="{FF2B5EF4-FFF2-40B4-BE49-F238E27FC236}">
                <a16:creationId xmlns:a16="http://schemas.microsoft.com/office/drawing/2014/main" id="{D8DFB192-7E6A-924F-59CA-D660090E5B8E}"/>
              </a:ext>
            </a:extLst>
          </p:cNvPr>
          <p:cNvSpPr/>
          <p:nvPr/>
        </p:nvSpPr>
        <p:spPr>
          <a:xfrm>
            <a:off x="1" y="1"/>
            <a:ext cx="1637673" cy="1584633"/>
          </a:xfrm>
          <a:custGeom>
            <a:avLst/>
            <a:gdLst>
              <a:gd name="csX0" fmla="*/ 0 w 1637673"/>
              <a:gd name="csY0" fmla="*/ 0 h 1584633"/>
              <a:gd name="csX1" fmla="*/ 1325832 w 1637673"/>
              <a:gd name="csY1" fmla="*/ 0 h 1584633"/>
              <a:gd name="csX2" fmla="*/ 1637673 w 1637673"/>
              <a:gd name="csY2" fmla="*/ 311841 h 1584633"/>
              <a:gd name="csX3" fmla="*/ 364881 w 1637673"/>
              <a:gd name="csY3" fmla="*/ 1584633 h 1584633"/>
              <a:gd name="csX4" fmla="*/ 0 w 1637673"/>
              <a:gd name="csY4" fmla="*/ 1219752 h 1584633"/>
            </a:gdLst>
            <a:ahLst/>
            <a:cxnLst>
              <a:cxn ang="0">
                <a:pos x="csX0" y="csY0"/>
              </a:cxn>
              <a:cxn ang="0">
                <a:pos x="csX1" y="csY1"/>
              </a:cxn>
              <a:cxn ang="0">
                <a:pos x="csX2" y="csY2"/>
              </a:cxn>
              <a:cxn ang="0">
                <a:pos x="csX3" y="csY3"/>
              </a:cxn>
              <a:cxn ang="0">
                <a:pos x="csX4" y="csY4"/>
              </a:cxn>
            </a:cxnLst>
            <a:rect l="l" t="t" r="r" b="b"/>
            <a:pathLst>
              <a:path w="1637673" h="1584633">
                <a:moveTo>
                  <a:pt x="0" y="0"/>
                </a:moveTo>
                <a:lnTo>
                  <a:pt x="1325832" y="0"/>
                </a:lnTo>
                <a:lnTo>
                  <a:pt x="1637673" y="311841"/>
                </a:lnTo>
                <a:lnTo>
                  <a:pt x="364881" y="1584633"/>
                </a:lnTo>
                <a:lnTo>
                  <a:pt x="0" y="1219752"/>
                </a:lnTo>
                <a:close/>
              </a:path>
            </a:pathLst>
          </a:cu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27" name="Rettangolo 26">
            <a:extLst>
              <a:ext uri="{FF2B5EF4-FFF2-40B4-BE49-F238E27FC236}">
                <a16:creationId xmlns:a16="http://schemas.microsoft.com/office/drawing/2014/main" id="{FA2F7531-D869-47B4-05C0-E2ED8DF1A75D}"/>
              </a:ext>
            </a:extLst>
          </p:cNvPr>
          <p:cNvSpPr/>
          <p:nvPr/>
        </p:nvSpPr>
        <p:spPr>
          <a:xfrm rot="2700000">
            <a:off x="942381" y="431135"/>
            <a:ext cx="576000" cy="576000"/>
          </a:xfrm>
          <a:prstGeom prst="rect">
            <a:avLst/>
          </a:prstGeom>
          <a:solidFill>
            <a:srgbClr val="215F9A">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 name="Titolo 8">
            <a:extLst>
              <a:ext uri="{FF2B5EF4-FFF2-40B4-BE49-F238E27FC236}">
                <a16:creationId xmlns:a16="http://schemas.microsoft.com/office/drawing/2014/main" id="{1D1E0DA7-1A80-B5F2-BF04-63F3D21B1545}"/>
              </a:ext>
            </a:extLst>
          </p:cNvPr>
          <p:cNvSpPr>
            <a:spLocks noGrp="1"/>
          </p:cNvSpPr>
          <p:nvPr>
            <p:ph type="ctrTitle"/>
          </p:nvPr>
        </p:nvSpPr>
        <p:spPr>
          <a:xfrm>
            <a:off x="1422400" y="1545080"/>
            <a:ext cx="9347200" cy="2387600"/>
          </a:xfrm>
        </p:spPr>
        <p:txBody>
          <a:bodyPr/>
          <a:lstStyle/>
          <a:p>
            <a:r>
              <a:rPr lang="it-IT" b="1" i="1" dirty="0"/>
              <a:t>Thank </a:t>
            </a:r>
            <a:r>
              <a:rPr lang="it-IT" b="1" i="1" dirty="0" err="1"/>
              <a:t>you</a:t>
            </a:r>
            <a:r>
              <a:rPr lang="it-IT" b="1" i="1" dirty="0"/>
              <a:t> for </a:t>
            </a:r>
            <a:r>
              <a:rPr lang="it-IT" b="1" i="1" dirty="0" err="1"/>
              <a:t>your</a:t>
            </a:r>
            <a:r>
              <a:rPr lang="it-IT" b="1" i="1" dirty="0"/>
              <a:t> </a:t>
            </a:r>
            <a:r>
              <a:rPr lang="it-IT" b="1" i="1" dirty="0" err="1"/>
              <a:t>attention</a:t>
            </a:r>
            <a:endParaRPr lang="it-IT" b="1" i="1" dirty="0"/>
          </a:p>
        </p:txBody>
      </p:sp>
    </p:spTree>
    <p:extLst>
      <p:ext uri="{BB962C8B-B14F-4D97-AF65-F5344CB8AC3E}">
        <p14:creationId xmlns:p14="http://schemas.microsoft.com/office/powerpoint/2010/main" val="13425741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1862</Words>
  <Application>Microsoft Office PowerPoint</Application>
  <PresentationFormat>Widescreen</PresentationFormat>
  <Paragraphs>219</Paragraphs>
  <Slides>13</Slides>
  <Notes>11</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13</vt:i4>
      </vt:variant>
    </vt:vector>
  </HeadingPairs>
  <TitlesOfParts>
    <vt:vector size="18" baseType="lpstr">
      <vt:lpstr>Aptos</vt:lpstr>
      <vt:lpstr>Aptos Display</vt:lpstr>
      <vt:lpstr>Arial</vt:lpstr>
      <vt:lpstr>Wingdings</vt:lpstr>
      <vt:lpstr>Tema di Office</vt:lpstr>
      <vt:lpstr>Pipeline Builder</vt:lpstr>
      <vt:lpstr>Introduction</vt:lpstr>
      <vt:lpstr>The Model - Entities</vt:lpstr>
      <vt:lpstr>The Model - Entities</vt:lpstr>
      <vt:lpstr>The Model</vt:lpstr>
      <vt:lpstr>Technologies</vt:lpstr>
      <vt:lpstr>Software Architecture - Functional Areas</vt:lpstr>
      <vt:lpstr>API</vt:lpstr>
      <vt:lpstr>Persistence Layer</vt:lpstr>
      <vt:lpstr>Models</vt:lpstr>
      <vt:lpstr>Schemas</vt:lpstr>
      <vt:lpstr>User Interface</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Samuele Mazziotti</dc:creator>
  <cp:lastModifiedBy>Samuele Mazziotti</cp:lastModifiedBy>
  <cp:revision>13</cp:revision>
  <dcterms:created xsi:type="dcterms:W3CDTF">2026-05-12T13:45:33Z</dcterms:created>
  <dcterms:modified xsi:type="dcterms:W3CDTF">2026-06-03T08:50:24Z</dcterms:modified>
</cp:coreProperties>
</file>